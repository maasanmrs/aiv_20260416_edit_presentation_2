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00" autoAdjust="0"/>
    <p:restoredTop sz="94660"/>
  </p:normalViewPr>
  <p:slideViewPr>
    <p:cSldViewPr snapToGrid="0" snapToObjects="1">
      <p:cViewPr>
        <p:scale>
          <a:sx n="66" d="100"/>
          <a:sy n="66" d="100"/>
        </p:scale>
        <p:origin x="716" y="2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sz="4800" b="1">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sz="1800" b="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sz="1300" b="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8CA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pic>
        <p:nvPicPr>
          <p:cNvPr id="9" name="Picture 8" descr="tges_logo.png"/>
          <p:cNvPicPr>
            <a:picLocks noChangeAspect="1"/>
          </p:cNvPicPr>
          <p:nvPr/>
        </p:nvPicPr>
        <p:blipFill>
          <a:blip r:embed="rId4"/>
          <a:stretch>
            <a:fillRect/>
          </a:stretch>
        </p:blipFill>
        <p:spPr>
          <a:xfrm>
            <a:off x="10268712" y="274320"/>
            <a:ext cx="1645920" cy="3600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sz="1200" b="0">
                <a:solidFill>
                  <a:srgbClr val="8CA9CD"/>
                </a:solidFill>
                <a:latin typeface="Noto Sans"/>
              </a:rPr>
              <a:t>01  EXECUTIVE SUMMARY</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sz="2600" b="1">
                <a:solidFill>
                  <a:srgbClr val="FFFFFF"/>
                </a:solidFill>
                <a:latin typeface="Noto Sans JP"/>
              </a:rPr>
              <a:t>エグゼクティブサマリー</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10405872" y="365760"/>
            <a:ext cx="895140" cy="502920"/>
          </a:xfrm>
          <a:prstGeom prst="rect">
            <a:avLst/>
          </a:prstGeom>
        </p:spPr>
      </p:pic>
      <p:sp>
        <p:nvSpPr>
          <p:cNvPr id="7" name="Rectangle 6"/>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389888"/>
            <a:ext cx="10981944" cy="896112"/>
          </a:xfrm>
          <a:prstGeom prst="rect">
            <a:avLst/>
          </a:prstGeom>
          <a:noFill/>
        </p:spPr>
        <p:txBody>
          <a:bodyPr wrap="square" anchor="ctr">
            <a:spAutoFit/>
          </a:bodyPr>
          <a:lstStyle/>
          <a:p>
            <a:r>
              <a:rPr sz="1550" dirty="0">
                <a:solidFill>
                  <a:srgbClr val="1A1A1A"/>
                </a:solidFill>
                <a:latin typeface="Noto Sans JP"/>
              </a:rPr>
              <a:t>【市場規模】国の「第一次国土強靭化実施中期計画」により全国1,400水道事業者のDX化が令和9年までに100%義務化——</a:t>
            </a:r>
            <a:r>
              <a:rPr sz="1550" dirty="0" err="1">
                <a:solidFill>
                  <a:srgbClr val="1A1A1A"/>
                </a:solidFill>
                <a:latin typeface="Noto Sans JP"/>
              </a:rPr>
              <a:t>年間数千億円規模のインフラDX市場が確定</a:t>
            </a:r>
            <a:endParaRPr sz="1550" dirty="0">
              <a:solidFill>
                <a:srgbClr val="1A1A1A"/>
              </a:solidFill>
              <a:latin typeface="Noto Sans JP"/>
            </a:endParaRPr>
          </a:p>
        </p:txBody>
      </p:sp>
      <p:sp>
        <p:nvSpPr>
          <p:cNvPr id="9" name="Rectangle 8"/>
          <p:cNvSpPr/>
          <p:nvPr/>
        </p:nvSpPr>
        <p:spPr>
          <a:xfrm>
            <a:off x="457200" y="22722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2286000"/>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31683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3182112"/>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40645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4078224"/>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9606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4974336"/>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pic>
        <p:nvPicPr>
          <p:cNvPr id="21" name="Picture 2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
            <a:ext cx="6245352" cy="420624"/>
          </a:xfrm>
          <a:prstGeom prst="rect">
            <a:avLst/>
          </a:prstGeom>
          <a:noFill/>
        </p:spPr>
        <p:txBody>
          <a:bodyPr wrap="square" anchor="ctr">
            <a:spAutoFit/>
          </a:bodyPr>
          <a:lstStyle/>
          <a:p>
            <a:pPr algn="l"/>
            <a:r>
              <a:rPr sz="1200" b="0">
                <a:solidFill>
                  <a:srgbClr val="8CA9CD"/>
                </a:solidFill>
                <a:latin typeface="Noto Sans"/>
              </a:rPr>
              <a:t>02  MARKET OPPORTUNITY</a:t>
            </a:r>
          </a:p>
        </p:txBody>
      </p:sp>
      <p:sp>
        <p:nvSpPr>
          <p:cNvPr id="6" name="TextBox 5"/>
          <p:cNvSpPr txBox="1"/>
          <p:nvPr/>
        </p:nvSpPr>
        <p:spPr>
          <a:xfrm>
            <a:off x="457200" y="502920"/>
            <a:ext cx="6245352" cy="658368"/>
          </a:xfrm>
          <a:prstGeom prst="rect">
            <a:avLst/>
          </a:prstGeom>
          <a:noFill/>
        </p:spPr>
        <p:txBody>
          <a:bodyPr wrap="square" anchor="ctr">
            <a:spAutoFit/>
          </a:bodyPr>
          <a:lstStyle/>
          <a:p>
            <a:pPr algn="l"/>
            <a:r>
              <a:rPr sz="2600" b="1">
                <a:solidFill>
                  <a:srgbClr val="FFFFFF"/>
                </a:solidFill>
                <a:latin typeface="Noto Sans JP"/>
              </a:rPr>
              <a:t>水道DX市場——確定した巨大市場</a:t>
            </a:r>
          </a:p>
        </p:txBody>
      </p:sp>
      <p:sp>
        <p:nvSpPr>
          <p:cNvPr id="7" name="Rectangle 6"/>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10405872" y="365760"/>
            <a:ext cx="895140" cy="502920"/>
          </a:xfrm>
          <a:prstGeom prst="rect">
            <a:avLst/>
          </a:prstGeom>
        </p:spPr>
      </p:pic>
      <p:sp>
        <p:nvSpPr>
          <p:cNvPr id="9" name="Rectangle 8"/>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89888"/>
            <a:ext cx="7781544" cy="896112"/>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1" name="Rectangle 10"/>
          <p:cNvSpPr/>
          <p:nvPr/>
        </p:nvSpPr>
        <p:spPr>
          <a:xfrm>
            <a:off x="457200" y="227228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286000"/>
            <a:ext cx="7781544" cy="896112"/>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4" name="Rectangle 13"/>
          <p:cNvSpPr/>
          <p:nvPr/>
        </p:nvSpPr>
        <p:spPr>
          <a:xfrm>
            <a:off x="457200" y="316839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182112"/>
            <a:ext cx="7781544" cy="896112"/>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7" name="Rectangle 16"/>
          <p:cNvSpPr/>
          <p:nvPr/>
        </p:nvSpPr>
        <p:spPr>
          <a:xfrm>
            <a:off x="457200" y="406450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078224"/>
            <a:ext cx="7781544" cy="896112"/>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0" name="Rectangle 19"/>
          <p:cNvSpPr/>
          <p:nvPr/>
        </p:nvSpPr>
        <p:spPr>
          <a:xfrm>
            <a:off x="457200" y="496062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974336"/>
            <a:ext cx="7781544" cy="896112"/>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pic>
        <p:nvPicPr>
          <p:cNvPr id="23" name="Picture 22"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sz="1200" b="0">
                <a:solidFill>
                  <a:srgbClr val="8CA9CD"/>
                </a:solidFill>
                <a:latin typeface="Noto Sans"/>
              </a:rPr>
              <a:t>03  SOLUTION</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sz="2600" b="1">
                <a:solidFill>
                  <a:srgbClr val="FFFFFF"/>
                </a:solidFill>
                <a:latin typeface="Noto Sans JP"/>
              </a:rPr>
              <a:t>GIS×AIの融合——INFRAIの4ステップ価値提供モデル</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10405872" y="365760"/>
            <a:ext cx="895140" cy="502920"/>
          </a:xfrm>
          <a:prstGeom prst="rect">
            <a:avLst/>
          </a:prstGeom>
        </p:spPr>
      </p:pic>
      <p:sp>
        <p:nvSpPr>
          <p:cNvPr id="7" name="Rectangle 6"/>
          <p:cNvSpPr/>
          <p:nvPr/>
        </p:nvSpPr>
        <p:spPr>
          <a:xfrm>
            <a:off x="457200" y="1389888"/>
            <a:ext cx="1014709"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8" y="1389888"/>
            <a:ext cx="923269" cy="621792"/>
          </a:xfrm>
          <a:prstGeom prst="rect">
            <a:avLst/>
          </a:prstGeom>
          <a:noFill/>
        </p:spPr>
        <p:txBody>
          <a:bodyPr wrap="square" anchor="ctr">
            <a:spAutoFit/>
          </a:bodyPr>
          <a:lstStyle/>
          <a:p>
            <a:pPr algn="l"/>
            <a:r>
              <a:rPr sz="1200" b="1">
                <a:solidFill>
                  <a:srgbClr val="FFFFFF"/>
                </a:solidFill>
                <a:latin typeface="Noto Sans JP"/>
              </a:rPr>
              <a:t>ステップ</a:t>
            </a:r>
          </a:p>
        </p:txBody>
      </p:sp>
      <p:sp>
        <p:nvSpPr>
          <p:cNvPr id="9" name="Rectangle 8"/>
          <p:cNvSpPr/>
          <p:nvPr/>
        </p:nvSpPr>
        <p:spPr>
          <a:xfrm>
            <a:off x="1471909" y="1389888"/>
            <a:ext cx="3156874"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35917" y="1389888"/>
            <a:ext cx="3065434" cy="621792"/>
          </a:xfrm>
          <a:prstGeom prst="rect">
            <a:avLst/>
          </a:prstGeom>
          <a:noFill/>
        </p:spPr>
        <p:txBody>
          <a:bodyPr wrap="square" anchor="ctr">
            <a:spAutoFit/>
          </a:bodyPr>
          <a:lstStyle/>
          <a:p>
            <a:pPr algn="l"/>
            <a:r>
              <a:rPr sz="1200" b="1">
                <a:solidFill>
                  <a:srgbClr val="FFFFFF"/>
                </a:solidFill>
                <a:latin typeface="Noto Sans JP"/>
              </a:rPr>
              <a:t>プロセス</a:t>
            </a:r>
          </a:p>
        </p:txBody>
      </p:sp>
      <p:sp>
        <p:nvSpPr>
          <p:cNvPr id="11" name="Rectangle 10"/>
          <p:cNvSpPr/>
          <p:nvPr/>
        </p:nvSpPr>
        <p:spPr>
          <a:xfrm>
            <a:off x="4628784" y="1389888"/>
            <a:ext cx="3720602"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92792" y="1389888"/>
            <a:ext cx="3629162" cy="621792"/>
          </a:xfrm>
          <a:prstGeom prst="rect">
            <a:avLst/>
          </a:prstGeom>
          <a:noFill/>
        </p:spPr>
        <p:txBody>
          <a:bodyPr wrap="square" anchor="ctr">
            <a:spAutoFit/>
          </a:bodyPr>
          <a:lstStyle/>
          <a:p>
            <a:pPr algn="l"/>
            <a:r>
              <a:rPr sz="1200" b="1">
                <a:solidFill>
                  <a:srgbClr val="FFFFFF"/>
                </a:solidFill>
                <a:latin typeface="Noto Sans JP"/>
              </a:rPr>
              <a:t>AIVALIXの提供価値</a:t>
            </a:r>
          </a:p>
        </p:txBody>
      </p:sp>
      <p:sp>
        <p:nvSpPr>
          <p:cNvPr id="13" name="Rectangle 12"/>
          <p:cNvSpPr/>
          <p:nvPr/>
        </p:nvSpPr>
        <p:spPr>
          <a:xfrm>
            <a:off x="8349386" y="1389888"/>
            <a:ext cx="3382365"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3394" y="1389888"/>
            <a:ext cx="3290925" cy="621792"/>
          </a:xfrm>
          <a:prstGeom prst="rect">
            <a:avLst/>
          </a:prstGeom>
          <a:noFill/>
        </p:spPr>
        <p:txBody>
          <a:bodyPr wrap="square" anchor="ctr">
            <a:spAutoFit/>
          </a:bodyPr>
          <a:lstStyle/>
          <a:p>
            <a:pPr algn="l"/>
            <a:r>
              <a:rPr sz="1200" b="1">
                <a:solidFill>
                  <a:srgbClr val="FFFFFF"/>
                </a:solidFill>
                <a:latin typeface="Noto Sans JP"/>
              </a:rPr>
              <a:t>東京ガスの貢献</a:t>
            </a:r>
          </a:p>
        </p:txBody>
      </p:sp>
      <p:sp>
        <p:nvSpPr>
          <p:cNvPr id="15" name="Rectangle 14"/>
          <p:cNvSpPr/>
          <p:nvPr/>
        </p:nvSpPr>
        <p:spPr>
          <a:xfrm>
            <a:off x="457200" y="2011680"/>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 y="2084832"/>
            <a:ext cx="886693" cy="813816"/>
          </a:xfrm>
          <a:prstGeom prst="rect">
            <a:avLst/>
          </a:prstGeom>
          <a:noFill/>
        </p:spPr>
        <p:txBody>
          <a:bodyPr wrap="square" anchor="t">
            <a:spAutoFit/>
          </a:bodyPr>
          <a:lstStyle/>
          <a:p>
            <a:pPr algn="l"/>
            <a:r>
              <a:rPr sz="1200" b="1">
                <a:solidFill>
                  <a:srgbClr val="004090"/>
                </a:solidFill>
                <a:latin typeface="Noto Sans JP"/>
              </a:rPr>
              <a:t>A データ整備</a:t>
            </a:r>
          </a:p>
        </p:txBody>
      </p:sp>
      <p:sp>
        <p:nvSpPr>
          <p:cNvPr id="17" name="Rectangle 16"/>
          <p:cNvSpPr/>
          <p:nvPr/>
        </p:nvSpPr>
        <p:spPr>
          <a:xfrm>
            <a:off x="1471909" y="2011680"/>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35917" y="2084832"/>
            <a:ext cx="3028858" cy="813816"/>
          </a:xfrm>
          <a:prstGeom prst="rect">
            <a:avLst/>
          </a:prstGeom>
          <a:noFill/>
        </p:spPr>
        <p:txBody>
          <a:bodyPr wrap="square" anchor="t">
            <a:spAutoFit/>
          </a:bodyPr>
          <a:lstStyle/>
          <a:p>
            <a:pPr algn="l"/>
            <a:r>
              <a:rPr sz="1200" b="0">
                <a:solidFill>
                  <a:srgbClr val="1A1A1A"/>
                </a:solidFill>
                <a:latin typeface="Noto Sans JP"/>
              </a:rPr>
              <a:t>管路台帳・GIS・事故履歴データのデジタル化と標準化</a:t>
            </a:r>
          </a:p>
        </p:txBody>
      </p:sp>
      <p:sp>
        <p:nvSpPr>
          <p:cNvPr id="19" name="Rectangle 18"/>
          <p:cNvSpPr/>
          <p:nvPr/>
        </p:nvSpPr>
        <p:spPr>
          <a:xfrm>
            <a:off x="4628784" y="2011680"/>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92792" y="2084832"/>
            <a:ext cx="3592586" cy="813816"/>
          </a:xfrm>
          <a:prstGeom prst="rect">
            <a:avLst/>
          </a:prstGeom>
          <a:noFill/>
        </p:spPr>
        <p:txBody>
          <a:bodyPr wrap="square" anchor="t">
            <a:spAutoFit/>
          </a:bodyPr>
          <a:lstStyle/>
          <a:p>
            <a:pPr algn="l"/>
            <a:r>
              <a:rPr sz="1200" b="0">
                <a:solidFill>
                  <a:srgbClr val="1A1A1A"/>
                </a:solidFill>
                <a:latin typeface="Noto Sans JP"/>
              </a:rPr>
              <a:t>学習データ設計・AI用フォーマット整備・データ品質評価</a:t>
            </a:r>
          </a:p>
        </p:txBody>
      </p:sp>
      <p:sp>
        <p:nvSpPr>
          <p:cNvPr id="21" name="Rectangle 20"/>
          <p:cNvSpPr/>
          <p:nvPr/>
        </p:nvSpPr>
        <p:spPr>
          <a:xfrm>
            <a:off x="8349386" y="2011680"/>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3394" y="2084832"/>
            <a:ext cx="3254349" cy="813816"/>
          </a:xfrm>
          <a:prstGeom prst="rect">
            <a:avLst/>
          </a:prstGeom>
          <a:noFill/>
        </p:spPr>
        <p:txBody>
          <a:bodyPr wrap="square" anchor="t">
            <a:spAutoFit/>
          </a:bodyPr>
          <a:lstStyle/>
          <a:p>
            <a:pPr algn="l"/>
            <a:r>
              <a:rPr sz="1200" b="0">
                <a:solidFill>
                  <a:srgbClr val="1A1A1A"/>
                </a:solidFill>
                <a:latin typeface="Noto Sans JP"/>
              </a:rPr>
              <a:t>TUMSYデータ連携・顧客既存GISデータの橋渡し</a:t>
            </a:r>
          </a:p>
        </p:txBody>
      </p:sp>
      <p:sp>
        <p:nvSpPr>
          <p:cNvPr id="23" name="Rectangle 22"/>
          <p:cNvSpPr/>
          <p:nvPr/>
        </p:nvSpPr>
        <p:spPr>
          <a:xfrm>
            <a:off x="457200" y="29580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2971800"/>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1208" y="3044952"/>
            <a:ext cx="886693" cy="813816"/>
          </a:xfrm>
          <a:prstGeom prst="rect">
            <a:avLst/>
          </a:prstGeom>
          <a:noFill/>
        </p:spPr>
        <p:txBody>
          <a:bodyPr wrap="square" anchor="t">
            <a:spAutoFit/>
          </a:bodyPr>
          <a:lstStyle/>
          <a:p>
            <a:pPr algn="l"/>
            <a:r>
              <a:rPr sz="1200" b="1">
                <a:solidFill>
                  <a:srgbClr val="004090"/>
                </a:solidFill>
                <a:latin typeface="Noto Sans JP"/>
              </a:rPr>
              <a:t>B AI分析</a:t>
            </a:r>
          </a:p>
        </p:txBody>
      </p:sp>
      <p:sp>
        <p:nvSpPr>
          <p:cNvPr id="26" name="Rectangle 25"/>
          <p:cNvSpPr/>
          <p:nvPr/>
        </p:nvSpPr>
        <p:spPr>
          <a:xfrm>
            <a:off x="1471909" y="2971800"/>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35917" y="3044952"/>
            <a:ext cx="3028858" cy="813816"/>
          </a:xfrm>
          <a:prstGeom prst="rect">
            <a:avLst/>
          </a:prstGeom>
          <a:noFill/>
        </p:spPr>
        <p:txBody>
          <a:bodyPr wrap="square" anchor="t">
            <a:spAutoFit/>
          </a:bodyPr>
          <a:lstStyle/>
          <a:p>
            <a:pPr algn="l"/>
            <a:r>
              <a:rPr sz="1200" b="0">
                <a:solidFill>
                  <a:srgbClr val="1A1A1A"/>
                </a:solidFill>
                <a:latin typeface="Noto Sans JP"/>
              </a:rPr>
              <a:t>管1本単位の故障確率×影響度によるリスクスコアリング</a:t>
            </a:r>
          </a:p>
        </p:txBody>
      </p:sp>
      <p:sp>
        <p:nvSpPr>
          <p:cNvPr id="28" name="Rectangle 27"/>
          <p:cNvSpPr/>
          <p:nvPr/>
        </p:nvSpPr>
        <p:spPr>
          <a:xfrm>
            <a:off x="4628784" y="2971800"/>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92792" y="3044952"/>
            <a:ext cx="3592586" cy="813816"/>
          </a:xfrm>
          <a:prstGeom prst="rect">
            <a:avLst/>
          </a:prstGeom>
          <a:noFill/>
        </p:spPr>
        <p:txBody>
          <a:bodyPr wrap="square" anchor="t">
            <a:spAutoFit/>
          </a:bodyPr>
          <a:lstStyle/>
          <a:p>
            <a:pPr algn="l"/>
            <a:r>
              <a:rPr sz="1200" b="0">
                <a:solidFill>
                  <a:srgbClr val="1A1A1A"/>
                </a:solidFill>
                <a:latin typeface="Noto Sans JP"/>
              </a:rPr>
              <a:t>INFRAI基盤モデルによる少データ高精度予測・衛星データ統合</a:t>
            </a:r>
          </a:p>
        </p:txBody>
      </p:sp>
      <p:sp>
        <p:nvSpPr>
          <p:cNvPr id="30" name="Rectangle 29"/>
          <p:cNvSpPr/>
          <p:nvPr/>
        </p:nvSpPr>
        <p:spPr>
          <a:xfrm>
            <a:off x="8349386" y="2971800"/>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3394" y="3044952"/>
            <a:ext cx="3254349" cy="813816"/>
          </a:xfrm>
          <a:prstGeom prst="rect">
            <a:avLst/>
          </a:prstGeom>
          <a:noFill/>
        </p:spPr>
        <p:txBody>
          <a:bodyPr wrap="square" anchor="t">
            <a:spAutoFit/>
          </a:bodyPr>
          <a:lstStyle/>
          <a:p>
            <a:pPr algn="l"/>
            <a:r>
              <a:rPr sz="1200" b="0">
                <a:solidFill>
                  <a:srgbClr val="1A1A1A"/>
                </a:solidFill>
                <a:latin typeface="Noto Sans JP"/>
              </a:rPr>
              <a:t>ガス管AI知見の水道管リスクモデルへの応用</a:t>
            </a:r>
          </a:p>
        </p:txBody>
      </p:sp>
      <p:sp>
        <p:nvSpPr>
          <p:cNvPr id="32" name="Rectangle 31"/>
          <p:cNvSpPr/>
          <p:nvPr/>
        </p:nvSpPr>
        <p:spPr>
          <a:xfrm>
            <a:off x="457200" y="39182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3931920"/>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21208" y="4005072"/>
            <a:ext cx="886693" cy="813816"/>
          </a:xfrm>
          <a:prstGeom prst="rect">
            <a:avLst/>
          </a:prstGeom>
          <a:noFill/>
        </p:spPr>
        <p:txBody>
          <a:bodyPr wrap="square" anchor="t">
            <a:spAutoFit/>
          </a:bodyPr>
          <a:lstStyle/>
          <a:p>
            <a:pPr algn="l"/>
            <a:r>
              <a:rPr sz="1200" b="1">
                <a:solidFill>
                  <a:srgbClr val="004090"/>
                </a:solidFill>
                <a:latin typeface="Noto Sans JP"/>
              </a:rPr>
              <a:t>C 可視化</a:t>
            </a:r>
          </a:p>
        </p:txBody>
      </p:sp>
      <p:sp>
        <p:nvSpPr>
          <p:cNvPr id="35" name="Rectangle 34"/>
          <p:cNvSpPr/>
          <p:nvPr/>
        </p:nvSpPr>
        <p:spPr>
          <a:xfrm>
            <a:off x="1471909" y="3931920"/>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535917" y="4005072"/>
            <a:ext cx="3028858" cy="813816"/>
          </a:xfrm>
          <a:prstGeom prst="rect">
            <a:avLst/>
          </a:prstGeom>
          <a:noFill/>
        </p:spPr>
        <p:txBody>
          <a:bodyPr wrap="square" anchor="t">
            <a:spAutoFit/>
          </a:bodyPr>
          <a:lstStyle/>
          <a:p>
            <a:pPr algn="l"/>
            <a:r>
              <a:rPr sz="1200" b="0">
                <a:solidFill>
                  <a:srgbClr val="1A1A1A"/>
                </a:solidFill>
                <a:latin typeface="Noto Sans JP"/>
              </a:rPr>
              <a:t>リスクマップ・優先順位表をGIS上にレイヤー表示</a:t>
            </a:r>
          </a:p>
        </p:txBody>
      </p:sp>
      <p:sp>
        <p:nvSpPr>
          <p:cNvPr id="37" name="Rectangle 36"/>
          <p:cNvSpPr/>
          <p:nvPr/>
        </p:nvSpPr>
        <p:spPr>
          <a:xfrm>
            <a:off x="4628784" y="3931920"/>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92792" y="4005072"/>
            <a:ext cx="3592586" cy="813816"/>
          </a:xfrm>
          <a:prstGeom prst="rect">
            <a:avLst/>
          </a:prstGeom>
          <a:noFill/>
        </p:spPr>
        <p:txBody>
          <a:bodyPr wrap="square" anchor="t">
            <a:spAutoFit/>
          </a:bodyPr>
          <a:lstStyle/>
          <a:p>
            <a:pPr algn="l"/>
            <a:r>
              <a:rPr sz="1200" b="0">
                <a:solidFill>
                  <a:srgbClr val="1A1A1A"/>
                </a:solidFill>
                <a:latin typeface="Noto Sans JP"/>
              </a:rPr>
              <a:t>AI予測結果のGISレイヤーへのシームレス統合出力</a:t>
            </a:r>
          </a:p>
        </p:txBody>
      </p:sp>
      <p:sp>
        <p:nvSpPr>
          <p:cNvPr id="39" name="Rectangle 38"/>
          <p:cNvSpPr/>
          <p:nvPr/>
        </p:nvSpPr>
        <p:spPr>
          <a:xfrm>
            <a:off x="8349386" y="3931920"/>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13394" y="4005072"/>
            <a:ext cx="3254349" cy="813816"/>
          </a:xfrm>
          <a:prstGeom prst="rect">
            <a:avLst/>
          </a:prstGeom>
          <a:noFill/>
        </p:spPr>
        <p:txBody>
          <a:bodyPr wrap="square" anchor="t">
            <a:spAutoFit/>
          </a:bodyPr>
          <a:lstStyle/>
          <a:p>
            <a:pPr algn="l"/>
            <a:r>
              <a:rPr sz="1200" b="0">
                <a:solidFill>
                  <a:srgbClr val="1A1A1A"/>
                </a:solidFill>
                <a:latin typeface="Noto Sans JP"/>
              </a:rPr>
              <a:t>TUMSYダッシュボード上でのリアルタイム表示・UI</a:t>
            </a:r>
          </a:p>
        </p:txBody>
      </p:sp>
      <p:sp>
        <p:nvSpPr>
          <p:cNvPr id="41" name="Rectangle 40"/>
          <p:cNvSpPr/>
          <p:nvPr/>
        </p:nvSpPr>
        <p:spPr>
          <a:xfrm>
            <a:off x="457200" y="48783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7200" y="4892040"/>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21208" y="4965192"/>
            <a:ext cx="886693" cy="813816"/>
          </a:xfrm>
          <a:prstGeom prst="rect">
            <a:avLst/>
          </a:prstGeom>
          <a:noFill/>
        </p:spPr>
        <p:txBody>
          <a:bodyPr wrap="square" anchor="t">
            <a:spAutoFit/>
          </a:bodyPr>
          <a:lstStyle/>
          <a:p>
            <a:pPr algn="l"/>
            <a:r>
              <a:rPr sz="1200" b="1">
                <a:solidFill>
                  <a:srgbClr val="004090"/>
                </a:solidFill>
                <a:latin typeface="Noto Sans JP"/>
              </a:rPr>
              <a:t>D 意思決定</a:t>
            </a:r>
          </a:p>
        </p:txBody>
      </p:sp>
      <p:sp>
        <p:nvSpPr>
          <p:cNvPr id="44" name="Rectangle 43"/>
          <p:cNvSpPr/>
          <p:nvPr/>
        </p:nvSpPr>
        <p:spPr>
          <a:xfrm>
            <a:off x="1471909" y="4892040"/>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535917" y="4965192"/>
            <a:ext cx="3028858" cy="813816"/>
          </a:xfrm>
          <a:prstGeom prst="rect">
            <a:avLst/>
          </a:prstGeom>
          <a:noFill/>
        </p:spPr>
        <p:txBody>
          <a:bodyPr wrap="square" anchor="t">
            <a:spAutoFit/>
          </a:bodyPr>
          <a:lstStyle/>
          <a:p>
            <a:pPr algn="l"/>
            <a:r>
              <a:rPr sz="1200" b="0">
                <a:solidFill>
                  <a:srgbClr val="1A1A1A"/>
                </a:solidFill>
                <a:latin typeface="Noto Sans JP"/>
              </a:rPr>
              <a:t>EBPM更新計画・交付金申請根拠・議会説明資料の自動生成</a:t>
            </a:r>
          </a:p>
        </p:txBody>
      </p:sp>
      <p:sp>
        <p:nvSpPr>
          <p:cNvPr id="46" name="Rectangle 45"/>
          <p:cNvSpPr/>
          <p:nvPr/>
        </p:nvSpPr>
        <p:spPr>
          <a:xfrm>
            <a:off x="4628784" y="4892040"/>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92792" y="4965192"/>
            <a:ext cx="3592586" cy="813816"/>
          </a:xfrm>
          <a:prstGeom prst="rect">
            <a:avLst/>
          </a:prstGeom>
          <a:noFill/>
        </p:spPr>
        <p:txBody>
          <a:bodyPr wrap="square" anchor="t">
            <a:spAutoFit/>
          </a:bodyPr>
          <a:lstStyle/>
          <a:p>
            <a:pPr algn="l"/>
            <a:r>
              <a:rPr sz="1200" b="0">
                <a:solidFill>
                  <a:srgbClr val="1A1A1A"/>
                </a:solidFill>
                <a:latin typeface="Noto Sans JP"/>
              </a:rPr>
              <a:t>定量エビデンスレポート自動生成・投資最適化提案</a:t>
            </a:r>
          </a:p>
        </p:txBody>
      </p:sp>
      <p:sp>
        <p:nvSpPr>
          <p:cNvPr id="48" name="Rectangle 47"/>
          <p:cNvSpPr/>
          <p:nvPr/>
        </p:nvSpPr>
        <p:spPr>
          <a:xfrm>
            <a:off x="8349386" y="4892040"/>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13394" y="4965192"/>
            <a:ext cx="3254349" cy="813816"/>
          </a:xfrm>
          <a:prstGeom prst="rect">
            <a:avLst/>
          </a:prstGeom>
          <a:noFill/>
        </p:spPr>
        <p:txBody>
          <a:bodyPr wrap="square" anchor="t">
            <a:spAutoFit/>
          </a:bodyPr>
          <a:lstStyle/>
          <a:p>
            <a:pPr algn="l"/>
            <a:r>
              <a:rPr sz="1200" b="0">
                <a:solidFill>
                  <a:srgbClr val="1A1A1A"/>
                </a:solidFill>
                <a:latin typeface="Noto Sans JP"/>
              </a:rPr>
              <a:t>水道局との信頼関係を活かした提案営業・契約推進</a:t>
            </a:r>
          </a:p>
        </p:txBody>
      </p:sp>
      <p:sp>
        <p:nvSpPr>
          <p:cNvPr id="50" name="Rectangle 49"/>
          <p:cNvSpPr/>
          <p:nvPr/>
        </p:nvSpPr>
        <p:spPr>
          <a:xfrm>
            <a:off x="457200" y="583844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sz="1200" b="0">
                <a:solidFill>
                  <a:srgbClr val="8CA9CD"/>
                </a:solidFill>
                <a:latin typeface="Noto Sans"/>
              </a:rPr>
              <a:t>04  TRACK RECORD</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sz="2600" b="1">
                <a:solidFill>
                  <a:srgbClr val="FFFFFF"/>
                </a:solidFill>
                <a:latin typeface="Noto Sans JP"/>
              </a:rPr>
              <a:t>PASCO協業での実績——信頼性の証明</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10405872" y="365760"/>
            <a:ext cx="895140" cy="502920"/>
          </a:xfrm>
          <a:prstGeom prst="rect">
            <a:avLst/>
          </a:prstGeom>
        </p:spPr>
      </p:pic>
      <p:sp>
        <p:nvSpPr>
          <p:cNvPr id="7" name="Rectangle 6"/>
          <p:cNvSpPr/>
          <p:nvPr/>
        </p:nvSpPr>
        <p:spPr>
          <a:xfrm>
            <a:off x="457200" y="1417320"/>
            <a:ext cx="5408676" cy="54864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17320"/>
            <a:ext cx="5225796" cy="548640"/>
          </a:xfrm>
          <a:prstGeom prst="rect">
            <a:avLst/>
          </a:prstGeom>
          <a:noFill/>
        </p:spPr>
        <p:txBody>
          <a:bodyPr wrap="square" anchor="ctr">
            <a:spAutoFit/>
          </a:bodyPr>
          <a:lstStyle/>
          <a:p>
            <a:pPr algn="ctr"/>
            <a:r>
              <a:rPr sz="1600" b="1">
                <a:solidFill>
                  <a:srgbClr val="FFFFFF"/>
                </a:solidFill>
                <a:latin typeface="Noto Sans JP"/>
              </a:rPr>
              <a:t>導入実績</a:t>
            </a:r>
          </a:p>
        </p:txBody>
      </p:sp>
      <p:sp>
        <p:nvSpPr>
          <p:cNvPr id="9" name="Rectangle 8"/>
          <p:cNvSpPr/>
          <p:nvPr/>
        </p:nvSpPr>
        <p:spPr>
          <a:xfrm>
            <a:off x="548640" y="23042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03120"/>
            <a:ext cx="5042916" cy="548640"/>
          </a:xfrm>
          <a:prstGeom prst="rect">
            <a:avLst/>
          </a:prstGeom>
          <a:noFill/>
        </p:spPr>
        <p:txBody>
          <a:bodyPr wrap="square" anchor="ctr">
            <a:spAutoFit/>
          </a:bodyPr>
          <a:lstStyle/>
          <a:p>
            <a:pPr algn="l"/>
            <a:r>
              <a:rPr sz="1300" b="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1" name="Rectangle 10"/>
          <p:cNvSpPr/>
          <p:nvPr/>
        </p:nvSpPr>
        <p:spPr>
          <a:xfrm>
            <a:off x="548640" y="289864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97480"/>
            <a:ext cx="5042916" cy="548640"/>
          </a:xfrm>
          <a:prstGeom prst="rect">
            <a:avLst/>
          </a:prstGeom>
          <a:noFill/>
        </p:spPr>
        <p:txBody>
          <a:bodyPr wrap="square" anchor="ctr">
            <a:spAutoFit/>
          </a:bodyPr>
          <a:lstStyle/>
          <a:p>
            <a:pPr algn="l"/>
            <a:r>
              <a:rPr sz="1300" b="0">
                <a:solidFill>
                  <a:srgbClr val="1A1A1A"/>
                </a:solidFill>
                <a:latin typeface="Noto Sans JP"/>
              </a:rPr>
              <a:t>【姫路市他】複数都市へ横展開中。基盤モデルにより短期導入を実現——データが少ない自治体でも高精度なリスク予測を提供</a:t>
            </a:r>
          </a:p>
        </p:txBody>
      </p:sp>
      <p:sp>
        <p:nvSpPr>
          <p:cNvPr id="13" name="Rectangle 12"/>
          <p:cNvSpPr/>
          <p:nvPr/>
        </p:nvSpPr>
        <p:spPr>
          <a:xfrm>
            <a:off x="548640" y="349300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91840"/>
            <a:ext cx="5042916" cy="548640"/>
          </a:xfrm>
          <a:prstGeom prst="rect">
            <a:avLst/>
          </a:prstGeom>
          <a:noFill/>
        </p:spPr>
        <p:txBody>
          <a:bodyPr wrap="square" anchor="ctr">
            <a:spAutoFit/>
          </a:bodyPr>
          <a:lstStyle/>
          <a:p>
            <a:pPr algn="l"/>
            <a:r>
              <a:rPr sz="1300" b="0">
                <a:solidFill>
                  <a:srgbClr val="1A1A1A"/>
                </a:solidFill>
                <a:latin typeface="Noto Sans JP"/>
              </a:rPr>
              <a:t>【福井県】上水道管理DXの全体アーキテクチャ構築。GIS×AI×公開型GISの将来像を提示し、県のDX計画に組み込まれた</a:t>
            </a:r>
          </a:p>
        </p:txBody>
      </p:sp>
      <p:sp>
        <p:nvSpPr>
          <p:cNvPr id="15" name="Rectangle 14"/>
          <p:cNvSpPr/>
          <p:nvPr/>
        </p:nvSpPr>
        <p:spPr>
          <a:xfrm>
            <a:off x="6323076" y="1417320"/>
            <a:ext cx="5408676" cy="54864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4516" y="1417320"/>
            <a:ext cx="5225796" cy="548640"/>
          </a:xfrm>
          <a:prstGeom prst="rect">
            <a:avLst/>
          </a:prstGeom>
          <a:noFill/>
        </p:spPr>
        <p:txBody>
          <a:bodyPr wrap="square" anchor="ctr">
            <a:spAutoFit/>
          </a:bodyPr>
          <a:lstStyle/>
          <a:p>
            <a:pPr algn="ctr"/>
            <a:r>
              <a:rPr sz="1600" b="1">
                <a:solidFill>
                  <a:srgbClr val="FFFFFF"/>
                </a:solidFill>
                <a:latin typeface="Noto Sans JP"/>
              </a:rPr>
              <a:t>PASCOからの評価</a:t>
            </a:r>
          </a:p>
        </p:txBody>
      </p:sp>
      <p:sp>
        <p:nvSpPr>
          <p:cNvPr id="17" name="Rectangle 16"/>
          <p:cNvSpPr/>
          <p:nvPr/>
        </p:nvSpPr>
        <p:spPr>
          <a:xfrm>
            <a:off x="6414516" y="23042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97396" y="2103120"/>
            <a:ext cx="5042916" cy="548640"/>
          </a:xfrm>
          <a:prstGeom prst="rect">
            <a:avLst/>
          </a:prstGeom>
          <a:noFill/>
        </p:spPr>
        <p:txBody>
          <a:bodyPr wrap="square" anchor="ctr">
            <a:spAutoFit/>
          </a:bodyPr>
          <a:lstStyle/>
          <a:p>
            <a:pPr algn="l"/>
            <a:r>
              <a:rPr sz="1300" b="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19" name="Rectangle 18"/>
          <p:cNvSpPr/>
          <p:nvPr/>
        </p:nvSpPr>
        <p:spPr>
          <a:xfrm>
            <a:off x="6414516" y="289864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7396" y="2697480"/>
            <a:ext cx="5042916" cy="548640"/>
          </a:xfrm>
          <a:prstGeom prst="rect">
            <a:avLst/>
          </a:prstGeom>
          <a:noFill/>
        </p:spPr>
        <p:txBody>
          <a:bodyPr wrap="square" anchor="ctr">
            <a:spAutoFit/>
          </a:bodyPr>
          <a:lstStyle/>
          <a:p>
            <a:pPr algn="l"/>
            <a:r>
              <a:rPr sz="1300" b="0">
                <a:solidFill>
                  <a:srgbClr val="1A1A1A"/>
                </a:solidFill>
                <a:latin typeface="Noto Sans JP"/>
              </a:rPr>
              <a:t>「管1本単位のミクロな故障予測が可能。経験・属人判断に依存しない合理的優先順位」——定量的な意思決定基盤として高評価</a:t>
            </a:r>
          </a:p>
        </p:txBody>
      </p:sp>
      <p:sp>
        <p:nvSpPr>
          <p:cNvPr id="21" name="Rectangle 20"/>
          <p:cNvSpPr/>
          <p:nvPr/>
        </p:nvSpPr>
        <p:spPr>
          <a:xfrm>
            <a:off x="6414516" y="349300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97396" y="3291840"/>
            <a:ext cx="5042916" cy="548640"/>
          </a:xfrm>
          <a:prstGeom prst="rect">
            <a:avLst/>
          </a:prstGeom>
          <a:noFill/>
        </p:spPr>
        <p:txBody>
          <a:bodyPr wrap="square" anchor="ctr">
            <a:spAutoFit/>
          </a:bodyPr>
          <a:lstStyle/>
          <a:p>
            <a:pPr algn="l"/>
            <a:r>
              <a:rPr sz="1300" b="0">
                <a:solidFill>
                  <a:srgbClr val="1A1A1A"/>
                </a:solidFill>
                <a:latin typeface="Noto Sans JP"/>
              </a:rPr>
              <a:t>「衛星・MMS等の先端データも統合可能。交付金申請・国施策との親和性が高い」——自治体の採択率向上に直結</a:t>
            </a:r>
          </a:p>
        </p:txBody>
      </p:sp>
      <p:sp>
        <p:nvSpPr>
          <p:cNvPr id="23" name="Rectangle 22"/>
          <p:cNvSpPr/>
          <p:nvPr/>
        </p:nvSpPr>
        <p:spPr>
          <a:xfrm>
            <a:off x="6048756" y="1417320"/>
            <a:ext cx="18288" cy="4754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
            <a:ext cx="6245352" cy="420624"/>
          </a:xfrm>
          <a:prstGeom prst="rect">
            <a:avLst/>
          </a:prstGeom>
          <a:noFill/>
        </p:spPr>
        <p:txBody>
          <a:bodyPr wrap="square" anchor="ctr">
            <a:spAutoFit/>
          </a:bodyPr>
          <a:lstStyle/>
          <a:p>
            <a:pPr algn="l"/>
            <a:r>
              <a:rPr sz="1200" b="0">
                <a:solidFill>
                  <a:srgbClr val="8CA9CD"/>
                </a:solidFill>
                <a:latin typeface="Noto Sans"/>
              </a:rPr>
              <a:t>05  PARTNER</a:t>
            </a:r>
          </a:p>
        </p:txBody>
      </p:sp>
      <p:sp>
        <p:nvSpPr>
          <p:cNvPr id="6" name="TextBox 5"/>
          <p:cNvSpPr txBox="1"/>
          <p:nvPr/>
        </p:nvSpPr>
        <p:spPr>
          <a:xfrm>
            <a:off x="457200" y="502920"/>
            <a:ext cx="6245352" cy="658368"/>
          </a:xfrm>
          <a:prstGeom prst="rect">
            <a:avLst/>
          </a:prstGeom>
          <a:noFill/>
        </p:spPr>
        <p:txBody>
          <a:bodyPr wrap="square" anchor="ctr">
            <a:spAutoFit/>
          </a:bodyPr>
          <a:lstStyle/>
          <a:p>
            <a:pPr algn="l"/>
            <a:r>
              <a:rPr sz="2600" b="1">
                <a:solidFill>
                  <a:srgbClr val="FFFFFF"/>
                </a:solidFill>
                <a:latin typeface="Noto Sans JP"/>
              </a:rPr>
              <a:t>東京ガスGIS事業（TUMSY）の概要</a:t>
            </a:r>
          </a:p>
        </p:txBody>
      </p:sp>
      <p:sp>
        <p:nvSpPr>
          <p:cNvPr id="7" name="Rectangle 6"/>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10405872" y="365760"/>
            <a:ext cx="895140" cy="502920"/>
          </a:xfrm>
          <a:prstGeom prst="rect">
            <a:avLst/>
          </a:prstGeom>
        </p:spPr>
      </p:pic>
      <p:sp>
        <p:nvSpPr>
          <p:cNvPr id="9" name="Rectangle 8"/>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89888"/>
            <a:ext cx="7781544" cy="896112"/>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1" name="Rectangle 10"/>
          <p:cNvSpPr/>
          <p:nvPr/>
        </p:nvSpPr>
        <p:spPr>
          <a:xfrm>
            <a:off x="457200" y="227228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286000"/>
            <a:ext cx="7781544" cy="896112"/>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4" name="Rectangle 13"/>
          <p:cNvSpPr/>
          <p:nvPr/>
        </p:nvSpPr>
        <p:spPr>
          <a:xfrm>
            <a:off x="457200" y="316839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182112"/>
            <a:ext cx="7781544" cy="896112"/>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7" name="Rectangle 16"/>
          <p:cNvSpPr/>
          <p:nvPr/>
        </p:nvSpPr>
        <p:spPr>
          <a:xfrm>
            <a:off x="457200" y="406450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078224"/>
            <a:ext cx="7781544" cy="896112"/>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0" name="Rectangle 19"/>
          <p:cNvSpPr/>
          <p:nvPr/>
        </p:nvSpPr>
        <p:spPr>
          <a:xfrm>
            <a:off x="457200" y="496062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974336"/>
            <a:ext cx="7781544" cy="896112"/>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pic>
        <p:nvPicPr>
          <p:cNvPr id="23" name="Picture 22"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sz="1200" b="0">
                <a:solidFill>
                  <a:srgbClr val="8CA9CD"/>
                </a:solidFill>
                <a:latin typeface="Noto Sans"/>
              </a:rPr>
              <a:t>06  JOINT PACKAGE</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sz="2600" b="1">
                <a:solidFill>
                  <a:srgbClr val="FFFFFF"/>
                </a:solidFill>
                <a:latin typeface="Noto Sans JP"/>
              </a:rPr>
              <a:t>共同パッケージ——TUMSY × INFRAI統合ソリューション</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10405872" y="365760"/>
            <a:ext cx="895140" cy="502920"/>
          </a:xfrm>
          <a:prstGeom prst="rect">
            <a:avLst/>
          </a:prstGeom>
        </p:spPr>
      </p:pic>
      <p:sp>
        <p:nvSpPr>
          <p:cNvPr id="7" name="Rectangle 6"/>
          <p:cNvSpPr/>
          <p:nvPr/>
        </p:nvSpPr>
        <p:spPr>
          <a:xfrm>
            <a:off x="457200" y="1417320"/>
            <a:ext cx="5408676" cy="54864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17320"/>
            <a:ext cx="5225796" cy="548640"/>
          </a:xfrm>
          <a:prstGeom prst="rect">
            <a:avLst/>
          </a:prstGeom>
          <a:noFill/>
        </p:spPr>
        <p:txBody>
          <a:bodyPr wrap="square" anchor="ctr">
            <a:spAutoFit/>
          </a:bodyPr>
          <a:lstStyle/>
          <a:p>
            <a:pPr algn="ctr"/>
            <a:r>
              <a:rPr sz="1600" b="1">
                <a:solidFill>
                  <a:srgbClr val="FFFFFF"/>
                </a:solidFill>
                <a:latin typeface="Noto Sans JP"/>
              </a:rPr>
              <a:t>TUMSY（東京ガス提供）</a:t>
            </a:r>
          </a:p>
        </p:txBody>
      </p:sp>
      <p:sp>
        <p:nvSpPr>
          <p:cNvPr id="9" name="Rectangle 8"/>
          <p:cNvSpPr/>
          <p:nvPr/>
        </p:nvSpPr>
        <p:spPr>
          <a:xfrm>
            <a:off x="548640" y="23042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03120"/>
            <a:ext cx="5042916" cy="548640"/>
          </a:xfrm>
          <a:prstGeom prst="rect">
            <a:avLst/>
          </a:prstGeom>
          <a:noFill/>
        </p:spPr>
        <p:txBody>
          <a:bodyPr wrap="square" anchor="ctr">
            <a:spAutoFit/>
          </a:bodyPr>
          <a:lstStyle/>
          <a:p>
            <a:pPr algn="l"/>
            <a:r>
              <a:rPr sz="1300" b="0">
                <a:solidFill>
                  <a:srgbClr val="1A1A1A"/>
                </a:solidFill>
                <a:latin typeface="Noto Sans JP"/>
              </a:rPr>
              <a:t>管路台帳GIS基盤——水道・ガス・下水道対応のマルチインフラ管理</a:t>
            </a:r>
          </a:p>
        </p:txBody>
      </p:sp>
      <p:sp>
        <p:nvSpPr>
          <p:cNvPr id="11" name="Rectangle 10"/>
          <p:cNvSpPr/>
          <p:nvPr/>
        </p:nvSpPr>
        <p:spPr>
          <a:xfrm>
            <a:off x="548640" y="289864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97480"/>
            <a:ext cx="5042916" cy="548640"/>
          </a:xfrm>
          <a:prstGeom prst="rect">
            <a:avLst/>
          </a:prstGeom>
          <a:noFill/>
        </p:spPr>
        <p:txBody>
          <a:bodyPr wrap="square" anchor="ctr">
            <a:spAutoFit/>
          </a:bodyPr>
          <a:lstStyle/>
          <a:p>
            <a:pPr algn="l"/>
            <a:r>
              <a:rPr sz="1300" b="0">
                <a:solidFill>
                  <a:srgbClr val="1A1A1A"/>
                </a:solidFill>
                <a:latin typeface="Noto Sans JP"/>
              </a:rPr>
              <a:t>施設情報・維持管理データの一元管理と更新追跡機能</a:t>
            </a:r>
          </a:p>
        </p:txBody>
      </p:sp>
      <p:sp>
        <p:nvSpPr>
          <p:cNvPr id="13" name="Rectangle 12"/>
          <p:cNvSpPr/>
          <p:nvPr/>
        </p:nvSpPr>
        <p:spPr>
          <a:xfrm>
            <a:off x="548640" y="349300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91840"/>
            <a:ext cx="5042916" cy="548640"/>
          </a:xfrm>
          <a:prstGeom prst="rect">
            <a:avLst/>
          </a:prstGeom>
          <a:noFill/>
        </p:spPr>
        <p:txBody>
          <a:bodyPr wrap="square" anchor="ctr">
            <a:spAutoFit/>
          </a:bodyPr>
          <a:lstStyle/>
          <a:p>
            <a:pPr algn="l"/>
            <a:r>
              <a:rPr sz="1300" b="0">
                <a:solidFill>
                  <a:srgbClr val="1A1A1A"/>
                </a:solidFill>
                <a:latin typeface="Noto Sans JP"/>
              </a:rPr>
              <a:t>モバイルGISによる現場情報管理・窓口対応支援</a:t>
            </a:r>
          </a:p>
        </p:txBody>
      </p:sp>
      <p:sp>
        <p:nvSpPr>
          <p:cNvPr id="15" name="Rectangle 14"/>
          <p:cNvSpPr/>
          <p:nvPr/>
        </p:nvSpPr>
        <p:spPr>
          <a:xfrm>
            <a:off x="548640" y="408736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886200"/>
            <a:ext cx="5042916" cy="548640"/>
          </a:xfrm>
          <a:prstGeom prst="rect">
            <a:avLst/>
          </a:prstGeom>
          <a:noFill/>
        </p:spPr>
        <p:txBody>
          <a:bodyPr wrap="square" anchor="ctr">
            <a:spAutoFit/>
          </a:bodyPr>
          <a:lstStyle/>
          <a:p>
            <a:pPr algn="l"/>
            <a:r>
              <a:rPr sz="1300" b="0">
                <a:solidFill>
                  <a:srgbClr val="1A1A1A"/>
                </a:solidFill>
                <a:latin typeface="Noto Sans JP"/>
              </a:rPr>
              <a:t>公開型GIS（住民向け情報公開・災害時断水情報等）</a:t>
            </a:r>
          </a:p>
        </p:txBody>
      </p:sp>
      <p:sp>
        <p:nvSpPr>
          <p:cNvPr id="17" name="Rectangle 16"/>
          <p:cNvSpPr/>
          <p:nvPr/>
        </p:nvSpPr>
        <p:spPr>
          <a:xfrm>
            <a:off x="548640" y="468172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480560"/>
            <a:ext cx="5042916" cy="548640"/>
          </a:xfrm>
          <a:prstGeom prst="rect">
            <a:avLst/>
          </a:prstGeom>
          <a:noFill/>
        </p:spPr>
        <p:txBody>
          <a:bodyPr wrap="square" anchor="ctr">
            <a:spAutoFit/>
          </a:bodyPr>
          <a:lstStyle/>
          <a:p>
            <a:pPr algn="l"/>
            <a:r>
              <a:rPr sz="1300" b="0">
                <a:solidFill>
                  <a:srgbClr val="1A1A1A"/>
                </a:solidFill>
                <a:latin typeface="Noto Sans JP"/>
              </a:rPr>
              <a:t>CADデータ出力・断水影響検索・縦断図作成等の専門機能</a:t>
            </a:r>
          </a:p>
        </p:txBody>
      </p:sp>
      <p:sp>
        <p:nvSpPr>
          <p:cNvPr id="19" name="Rectangle 18"/>
          <p:cNvSpPr/>
          <p:nvPr/>
        </p:nvSpPr>
        <p:spPr>
          <a:xfrm>
            <a:off x="548640" y="52760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074920"/>
            <a:ext cx="5042916" cy="548640"/>
          </a:xfrm>
          <a:prstGeom prst="rect">
            <a:avLst/>
          </a:prstGeom>
          <a:noFill/>
        </p:spPr>
        <p:txBody>
          <a:bodyPr wrap="square" anchor="ctr">
            <a:spAutoFit/>
          </a:bodyPr>
          <a:lstStyle/>
          <a:p>
            <a:pPr algn="l"/>
            <a:r>
              <a:rPr sz="1300" b="0">
                <a:solidFill>
                  <a:srgbClr val="1A1A1A"/>
                </a:solidFill>
                <a:latin typeface="Noto Sans JP"/>
              </a:rPr>
              <a:t>既存TUMSY顧客水道局とのシームレスな移行・連携支援</a:t>
            </a:r>
          </a:p>
        </p:txBody>
      </p:sp>
      <p:sp>
        <p:nvSpPr>
          <p:cNvPr id="21" name="Rectangle 20"/>
          <p:cNvSpPr/>
          <p:nvPr/>
        </p:nvSpPr>
        <p:spPr>
          <a:xfrm>
            <a:off x="6323076" y="1417320"/>
            <a:ext cx="5408676" cy="54864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4516" y="1417320"/>
            <a:ext cx="5225796" cy="548640"/>
          </a:xfrm>
          <a:prstGeom prst="rect">
            <a:avLst/>
          </a:prstGeom>
          <a:noFill/>
        </p:spPr>
        <p:txBody>
          <a:bodyPr wrap="square" anchor="ctr">
            <a:spAutoFit/>
          </a:bodyPr>
          <a:lstStyle/>
          <a:p>
            <a:pPr algn="ctr"/>
            <a:r>
              <a:rPr sz="1600" b="1">
                <a:solidFill>
                  <a:srgbClr val="FFFFFF"/>
                </a:solidFill>
                <a:latin typeface="Noto Sans JP"/>
              </a:rPr>
              <a:t>INFRAI（AIVALIX提供）</a:t>
            </a:r>
          </a:p>
        </p:txBody>
      </p:sp>
      <p:sp>
        <p:nvSpPr>
          <p:cNvPr id="23" name="Rectangle 22"/>
          <p:cNvSpPr/>
          <p:nvPr/>
        </p:nvSpPr>
        <p:spPr>
          <a:xfrm>
            <a:off x="6414516" y="23042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97396" y="2103120"/>
            <a:ext cx="5042916" cy="548640"/>
          </a:xfrm>
          <a:prstGeom prst="rect">
            <a:avLst/>
          </a:prstGeom>
          <a:noFill/>
        </p:spPr>
        <p:txBody>
          <a:bodyPr wrap="square" anchor="ctr">
            <a:spAutoFit/>
          </a:bodyPr>
          <a:lstStyle/>
          <a:p>
            <a:pPr algn="l"/>
            <a:r>
              <a:rPr sz="1300" b="0">
                <a:solidFill>
                  <a:srgbClr val="1A1A1A"/>
                </a:solidFill>
                <a:latin typeface="Noto Sans JP"/>
              </a:rPr>
              <a:t>管1本単位のミクロ故障予測AI——故障確率×影響度のリスクスコア算出</a:t>
            </a:r>
          </a:p>
        </p:txBody>
      </p:sp>
      <p:sp>
        <p:nvSpPr>
          <p:cNvPr id="25" name="Rectangle 24"/>
          <p:cNvSpPr/>
          <p:nvPr/>
        </p:nvSpPr>
        <p:spPr>
          <a:xfrm>
            <a:off x="6414516" y="289864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97396" y="2697480"/>
            <a:ext cx="5042916" cy="548640"/>
          </a:xfrm>
          <a:prstGeom prst="rect">
            <a:avLst/>
          </a:prstGeom>
          <a:noFill/>
        </p:spPr>
        <p:txBody>
          <a:bodyPr wrap="square" anchor="ctr">
            <a:spAutoFit/>
          </a:bodyPr>
          <a:lstStyle/>
          <a:p>
            <a:pPr algn="l"/>
            <a:r>
              <a:rPr sz="1300" b="0">
                <a:solidFill>
                  <a:srgbClr val="1A1A1A"/>
                </a:solidFill>
                <a:latin typeface="Noto Sans JP"/>
              </a:rPr>
              <a:t>基盤モデル（Foundation Model）——少ないデータでも即時導入可能な汎用AI</a:t>
            </a:r>
          </a:p>
        </p:txBody>
      </p:sp>
      <p:sp>
        <p:nvSpPr>
          <p:cNvPr id="27" name="Rectangle 26"/>
          <p:cNvSpPr/>
          <p:nvPr/>
        </p:nvSpPr>
        <p:spPr>
          <a:xfrm>
            <a:off x="6414516" y="349300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7396" y="3291840"/>
            <a:ext cx="5042916" cy="548640"/>
          </a:xfrm>
          <a:prstGeom prst="rect">
            <a:avLst/>
          </a:prstGeom>
          <a:noFill/>
        </p:spPr>
        <p:txBody>
          <a:bodyPr wrap="square" anchor="ctr">
            <a:spAutoFit/>
          </a:bodyPr>
          <a:lstStyle/>
          <a:p>
            <a:pPr algn="l"/>
            <a:r>
              <a:rPr sz="1300" b="0">
                <a:solidFill>
                  <a:srgbClr val="1A1A1A"/>
                </a:solidFill>
                <a:latin typeface="Noto Sans JP"/>
              </a:rPr>
              <a:t>衛星SAR・MMS等の宇宙・高精度センサデータ統合機能</a:t>
            </a:r>
          </a:p>
        </p:txBody>
      </p:sp>
      <p:sp>
        <p:nvSpPr>
          <p:cNvPr id="29" name="Rectangle 28"/>
          <p:cNvSpPr/>
          <p:nvPr/>
        </p:nvSpPr>
        <p:spPr>
          <a:xfrm>
            <a:off x="6414516" y="408736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97396" y="3886200"/>
            <a:ext cx="5042916" cy="548640"/>
          </a:xfrm>
          <a:prstGeom prst="rect">
            <a:avLst/>
          </a:prstGeom>
          <a:noFill/>
        </p:spPr>
        <p:txBody>
          <a:bodyPr wrap="square" anchor="ctr">
            <a:spAutoFit/>
          </a:bodyPr>
          <a:lstStyle/>
          <a:p>
            <a:pPr algn="l"/>
            <a:r>
              <a:rPr sz="1300" b="0">
                <a:solidFill>
                  <a:srgbClr val="1A1A1A"/>
                </a:solidFill>
                <a:latin typeface="Noto Sans JP"/>
              </a:rPr>
              <a:t>EBPM（根拠に基づく政策立案）レポート自動生成——議会・交付金向け</a:t>
            </a:r>
          </a:p>
        </p:txBody>
      </p:sp>
      <p:sp>
        <p:nvSpPr>
          <p:cNvPr id="31" name="Rectangle 30"/>
          <p:cNvSpPr/>
          <p:nvPr/>
        </p:nvSpPr>
        <p:spPr>
          <a:xfrm>
            <a:off x="6414516" y="468172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7396" y="4480560"/>
            <a:ext cx="5042916" cy="548640"/>
          </a:xfrm>
          <a:prstGeom prst="rect">
            <a:avLst/>
          </a:prstGeom>
          <a:noFill/>
        </p:spPr>
        <p:txBody>
          <a:bodyPr wrap="square" anchor="ctr">
            <a:spAutoFit/>
          </a:bodyPr>
          <a:lstStyle/>
          <a:p>
            <a:pPr algn="l"/>
            <a:r>
              <a:rPr sz="1300" b="0">
                <a:solidFill>
                  <a:srgbClr val="1A1A1A"/>
                </a:solidFill>
                <a:latin typeface="Noto Sans JP"/>
              </a:rPr>
              <a:t>更新計画最適化エンジン——限られた予算下での投資効率最大化</a:t>
            </a:r>
          </a:p>
        </p:txBody>
      </p:sp>
      <p:sp>
        <p:nvSpPr>
          <p:cNvPr id="33" name="Rectangle 32"/>
          <p:cNvSpPr/>
          <p:nvPr/>
        </p:nvSpPr>
        <p:spPr>
          <a:xfrm>
            <a:off x="6414516" y="52760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97396" y="5074920"/>
            <a:ext cx="5042916" cy="548640"/>
          </a:xfrm>
          <a:prstGeom prst="rect">
            <a:avLst/>
          </a:prstGeom>
          <a:noFill/>
        </p:spPr>
        <p:txBody>
          <a:bodyPr wrap="square" anchor="ctr">
            <a:spAutoFit/>
          </a:bodyPr>
          <a:lstStyle/>
          <a:p>
            <a:pPr algn="l"/>
            <a:r>
              <a:rPr sz="1300" b="0">
                <a:solidFill>
                  <a:srgbClr val="1A1A1A"/>
                </a:solidFill>
                <a:latin typeface="Noto Sans JP"/>
              </a:rPr>
              <a:t>AI属性管理——GISレイヤーへのシームレス統合、リアルタイム更新</a:t>
            </a:r>
          </a:p>
        </p:txBody>
      </p:sp>
      <p:sp>
        <p:nvSpPr>
          <p:cNvPr id="35" name="Rectangle 34"/>
          <p:cNvSpPr/>
          <p:nvPr/>
        </p:nvSpPr>
        <p:spPr>
          <a:xfrm>
            <a:off x="6048756" y="1417320"/>
            <a:ext cx="18288" cy="4754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sz="1200" b="0">
                <a:solidFill>
                  <a:srgbClr val="8CA9CD"/>
                </a:solidFill>
                <a:latin typeface="Noto Sans"/>
              </a:rPr>
              <a:t>07  ROLES &amp; RESPONSIBILITIES</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sz="2600" b="1">
                <a:solidFill>
                  <a:srgbClr val="FFFFFF"/>
                </a:solidFill>
                <a:latin typeface="Noto Sans JP"/>
              </a:rPr>
              <a:t>役割分担——東京ガスとAIVALIXの強みを最大化する分業体制</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10405872" y="365760"/>
            <a:ext cx="895140" cy="502920"/>
          </a:xfrm>
          <a:prstGeom prst="rect">
            <a:avLst/>
          </a:prstGeom>
        </p:spPr>
      </p:pic>
      <p:sp>
        <p:nvSpPr>
          <p:cNvPr id="7" name="Rectangle 6"/>
          <p:cNvSpPr/>
          <p:nvPr/>
        </p:nvSpPr>
        <p:spPr>
          <a:xfrm>
            <a:off x="457200" y="1389888"/>
            <a:ext cx="2029419"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8" y="1389888"/>
            <a:ext cx="1937979" cy="621792"/>
          </a:xfrm>
          <a:prstGeom prst="rect">
            <a:avLst/>
          </a:prstGeom>
          <a:noFill/>
        </p:spPr>
        <p:txBody>
          <a:bodyPr wrap="square" anchor="ctr">
            <a:spAutoFit/>
          </a:bodyPr>
          <a:lstStyle/>
          <a:p>
            <a:pPr algn="l"/>
            <a:r>
              <a:rPr sz="1200" b="1">
                <a:solidFill>
                  <a:srgbClr val="FFFFFF"/>
                </a:solidFill>
                <a:latin typeface="Noto Sans JP"/>
              </a:rPr>
              <a:t>領域</a:t>
            </a:r>
          </a:p>
        </p:txBody>
      </p:sp>
      <p:sp>
        <p:nvSpPr>
          <p:cNvPr id="9" name="Rectangle 8"/>
          <p:cNvSpPr/>
          <p:nvPr/>
        </p:nvSpPr>
        <p:spPr>
          <a:xfrm>
            <a:off x="2486619" y="1389888"/>
            <a:ext cx="4735311"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50627" y="1389888"/>
            <a:ext cx="4643871" cy="621792"/>
          </a:xfrm>
          <a:prstGeom prst="rect">
            <a:avLst/>
          </a:prstGeom>
          <a:noFill/>
        </p:spPr>
        <p:txBody>
          <a:bodyPr wrap="square" anchor="ctr">
            <a:spAutoFit/>
          </a:bodyPr>
          <a:lstStyle/>
          <a:p>
            <a:pPr algn="l"/>
            <a:r>
              <a:rPr sz="1200" b="1">
                <a:solidFill>
                  <a:srgbClr val="FFFFFF"/>
                </a:solidFill>
                <a:latin typeface="Noto Sans JP"/>
              </a:rPr>
              <a:t>東京ガス（TGES）</a:t>
            </a:r>
          </a:p>
        </p:txBody>
      </p:sp>
      <p:sp>
        <p:nvSpPr>
          <p:cNvPr id="11" name="Rectangle 10"/>
          <p:cNvSpPr/>
          <p:nvPr/>
        </p:nvSpPr>
        <p:spPr>
          <a:xfrm>
            <a:off x="7221931" y="1389888"/>
            <a:ext cx="4509820"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85939" y="1389888"/>
            <a:ext cx="4418380" cy="621792"/>
          </a:xfrm>
          <a:prstGeom prst="rect">
            <a:avLst/>
          </a:prstGeom>
          <a:noFill/>
        </p:spPr>
        <p:txBody>
          <a:bodyPr wrap="square" anchor="ctr">
            <a:spAutoFit/>
          </a:bodyPr>
          <a:lstStyle/>
          <a:p>
            <a:pPr algn="l"/>
            <a:r>
              <a:rPr sz="1200" b="1">
                <a:solidFill>
                  <a:srgbClr val="FFFFFF"/>
                </a:solidFill>
                <a:latin typeface="Noto Sans JP"/>
              </a:rPr>
              <a:t>AIVALIX</a:t>
            </a:r>
          </a:p>
        </p:txBody>
      </p:sp>
      <p:sp>
        <p:nvSpPr>
          <p:cNvPr id="13" name="Rectangle 12"/>
          <p:cNvSpPr/>
          <p:nvPr/>
        </p:nvSpPr>
        <p:spPr>
          <a:xfrm>
            <a:off x="457200" y="2011680"/>
            <a:ext cx="2029419"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1208" y="2084832"/>
            <a:ext cx="1901403" cy="554736"/>
          </a:xfrm>
          <a:prstGeom prst="rect">
            <a:avLst/>
          </a:prstGeom>
          <a:noFill/>
        </p:spPr>
        <p:txBody>
          <a:bodyPr wrap="square" anchor="t">
            <a:spAutoFit/>
          </a:bodyPr>
          <a:lstStyle/>
          <a:p>
            <a:pPr algn="l"/>
            <a:r>
              <a:rPr sz="1200" b="1">
                <a:solidFill>
                  <a:srgbClr val="004090"/>
                </a:solidFill>
                <a:latin typeface="Noto Sans JP"/>
              </a:rPr>
              <a:t>プロダクト開発</a:t>
            </a:r>
          </a:p>
        </p:txBody>
      </p:sp>
      <p:sp>
        <p:nvSpPr>
          <p:cNvPr id="15" name="Rectangle 14"/>
          <p:cNvSpPr/>
          <p:nvPr/>
        </p:nvSpPr>
        <p:spPr>
          <a:xfrm>
            <a:off x="2486619" y="2011680"/>
            <a:ext cx="4735311"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50627" y="2084832"/>
            <a:ext cx="4607295" cy="554736"/>
          </a:xfrm>
          <a:prstGeom prst="rect">
            <a:avLst/>
          </a:prstGeom>
          <a:noFill/>
        </p:spPr>
        <p:txBody>
          <a:bodyPr wrap="square" anchor="t">
            <a:spAutoFit/>
          </a:bodyPr>
          <a:lstStyle/>
          <a:p>
            <a:pPr algn="l"/>
            <a:r>
              <a:rPr sz="1200" b="0">
                <a:solidFill>
                  <a:srgbClr val="1A1A1A"/>
                </a:solidFill>
                <a:latin typeface="Noto Sans JP"/>
              </a:rPr>
              <a:t>GISプラットフォーム（TUMSY）の機能拡張・API整備・品質保証</a:t>
            </a:r>
          </a:p>
        </p:txBody>
      </p:sp>
      <p:sp>
        <p:nvSpPr>
          <p:cNvPr id="17" name="Rectangle 16"/>
          <p:cNvSpPr/>
          <p:nvPr/>
        </p:nvSpPr>
        <p:spPr>
          <a:xfrm>
            <a:off x="7221931" y="2011680"/>
            <a:ext cx="4509820"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85939" y="2084832"/>
            <a:ext cx="4381804" cy="554736"/>
          </a:xfrm>
          <a:prstGeom prst="rect">
            <a:avLst/>
          </a:prstGeom>
          <a:noFill/>
        </p:spPr>
        <p:txBody>
          <a:bodyPr wrap="square" anchor="t">
            <a:spAutoFit/>
          </a:bodyPr>
          <a:lstStyle/>
          <a:p>
            <a:pPr algn="l"/>
            <a:r>
              <a:rPr sz="1200" b="0">
                <a:solidFill>
                  <a:srgbClr val="1A1A1A"/>
                </a:solidFill>
                <a:latin typeface="Noto Sans JP"/>
              </a:rPr>
              <a:t>INFRAIエンジン開発・AI精度向上・新規AI機能の研究開発</a:t>
            </a:r>
          </a:p>
        </p:txBody>
      </p:sp>
      <p:sp>
        <p:nvSpPr>
          <p:cNvPr id="19" name="Rectangle 18"/>
          <p:cNvSpPr/>
          <p:nvPr/>
        </p:nvSpPr>
        <p:spPr>
          <a:xfrm>
            <a:off x="457200" y="26990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2712720"/>
            <a:ext cx="2029419"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 y="2785872"/>
            <a:ext cx="1901403" cy="554736"/>
          </a:xfrm>
          <a:prstGeom prst="rect">
            <a:avLst/>
          </a:prstGeom>
          <a:noFill/>
        </p:spPr>
        <p:txBody>
          <a:bodyPr wrap="square" anchor="t">
            <a:spAutoFit/>
          </a:bodyPr>
          <a:lstStyle/>
          <a:p>
            <a:pPr algn="l"/>
            <a:r>
              <a:rPr sz="1200" b="1">
                <a:solidFill>
                  <a:srgbClr val="004090"/>
                </a:solidFill>
                <a:latin typeface="Noto Sans JP"/>
              </a:rPr>
              <a:t>営業・受注</a:t>
            </a:r>
          </a:p>
        </p:txBody>
      </p:sp>
      <p:sp>
        <p:nvSpPr>
          <p:cNvPr id="22" name="Rectangle 21"/>
          <p:cNvSpPr/>
          <p:nvPr/>
        </p:nvSpPr>
        <p:spPr>
          <a:xfrm>
            <a:off x="2486619" y="2712720"/>
            <a:ext cx="4735311"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50627" y="2785872"/>
            <a:ext cx="4607295" cy="554736"/>
          </a:xfrm>
          <a:prstGeom prst="rect">
            <a:avLst/>
          </a:prstGeom>
          <a:noFill/>
        </p:spPr>
        <p:txBody>
          <a:bodyPr wrap="square" anchor="t">
            <a:spAutoFit/>
          </a:bodyPr>
          <a:lstStyle/>
          <a:p>
            <a:pPr algn="l"/>
            <a:r>
              <a:rPr sz="1200" b="0">
                <a:solidFill>
                  <a:srgbClr val="1A1A1A"/>
                </a:solidFill>
                <a:latin typeface="Noto Sans JP"/>
              </a:rPr>
              <a:t>水道局・インフラ事業体への直接営業・入札対応・契約管理</a:t>
            </a:r>
          </a:p>
        </p:txBody>
      </p:sp>
      <p:sp>
        <p:nvSpPr>
          <p:cNvPr id="24" name="Rectangle 23"/>
          <p:cNvSpPr/>
          <p:nvPr/>
        </p:nvSpPr>
        <p:spPr>
          <a:xfrm>
            <a:off x="7221931" y="2712720"/>
            <a:ext cx="4509820"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85939" y="2785872"/>
            <a:ext cx="4381804" cy="554736"/>
          </a:xfrm>
          <a:prstGeom prst="rect">
            <a:avLst/>
          </a:prstGeom>
          <a:noFill/>
        </p:spPr>
        <p:txBody>
          <a:bodyPr wrap="square" anchor="t">
            <a:spAutoFit/>
          </a:bodyPr>
          <a:lstStyle/>
          <a:p>
            <a:pPr algn="l"/>
            <a:r>
              <a:rPr sz="1200" b="0">
                <a:solidFill>
                  <a:srgbClr val="1A1A1A"/>
                </a:solidFill>
                <a:latin typeface="Noto Sans JP"/>
              </a:rPr>
              <a:t>技術提案・PoC実施支援・導入時のAI実装サポート</a:t>
            </a:r>
          </a:p>
        </p:txBody>
      </p:sp>
      <p:sp>
        <p:nvSpPr>
          <p:cNvPr id="26" name="Rectangle 25"/>
          <p:cNvSpPr/>
          <p:nvPr/>
        </p:nvSpPr>
        <p:spPr>
          <a:xfrm>
            <a:off x="457200" y="340004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3413760"/>
            <a:ext cx="2029419"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21208" y="3486912"/>
            <a:ext cx="1901403" cy="554736"/>
          </a:xfrm>
          <a:prstGeom prst="rect">
            <a:avLst/>
          </a:prstGeom>
          <a:noFill/>
        </p:spPr>
        <p:txBody>
          <a:bodyPr wrap="square" anchor="t">
            <a:spAutoFit/>
          </a:bodyPr>
          <a:lstStyle/>
          <a:p>
            <a:pPr algn="l"/>
            <a:r>
              <a:rPr sz="1200" b="1">
                <a:solidFill>
                  <a:srgbClr val="004090"/>
                </a:solidFill>
                <a:latin typeface="Noto Sans JP"/>
              </a:rPr>
              <a:t>データ管理</a:t>
            </a:r>
          </a:p>
        </p:txBody>
      </p:sp>
      <p:sp>
        <p:nvSpPr>
          <p:cNvPr id="29" name="Rectangle 28"/>
          <p:cNvSpPr/>
          <p:nvPr/>
        </p:nvSpPr>
        <p:spPr>
          <a:xfrm>
            <a:off x="2486619" y="3413760"/>
            <a:ext cx="4735311"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50627" y="3486912"/>
            <a:ext cx="4607295" cy="554736"/>
          </a:xfrm>
          <a:prstGeom prst="rect">
            <a:avLst/>
          </a:prstGeom>
          <a:noFill/>
        </p:spPr>
        <p:txBody>
          <a:bodyPr wrap="square" anchor="t">
            <a:spAutoFit/>
          </a:bodyPr>
          <a:lstStyle/>
          <a:p>
            <a:pPr algn="l"/>
            <a:r>
              <a:rPr sz="1200" b="0">
                <a:solidFill>
                  <a:srgbClr val="1A1A1A"/>
                </a:solidFill>
                <a:latin typeface="Noto Sans JP"/>
              </a:rPr>
              <a:t>顧客GISデータ管理・TUMSY既存連携の橋渡し・データ移行</a:t>
            </a:r>
          </a:p>
        </p:txBody>
      </p:sp>
      <p:sp>
        <p:nvSpPr>
          <p:cNvPr id="31" name="Rectangle 30"/>
          <p:cNvSpPr/>
          <p:nvPr/>
        </p:nvSpPr>
        <p:spPr>
          <a:xfrm>
            <a:off x="7221931" y="3413760"/>
            <a:ext cx="4509820"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85939" y="3486912"/>
            <a:ext cx="4381804" cy="554736"/>
          </a:xfrm>
          <a:prstGeom prst="rect">
            <a:avLst/>
          </a:prstGeom>
          <a:noFill/>
        </p:spPr>
        <p:txBody>
          <a:bodyPr wrap="square" anchor="t">
            <a:spAutoFit/>
          </a:bodyPr>
          <a:lstStyle/>
          <a:p>
            <a:pPr algn="l"/>
            <a:r>
              <a:rPr sz="1200" b="0">
                <a:solidFill>
                  <a:srgbClr val="1A1A1A"/>
                </a:solidFill>
                <a:latin typeface="Noto Sans JP"/>
              </a:rPr>
              <a:t>AIモデル構築・学習データ設計・データ品質評価と改善</a:t>
            </a:r>
          </a:p>
        </p:txBody>
      </p:sp>
      <p:sp>
        <p:nvSpPr>
          <p:cNvPr id="33" name="Rectangle 32"/>
          <p:cNvSpPr/>
          <p:nvPr/>
        </p:nvSpPr>
        <p:spPr>
          <a:xfrm>
            <a:off x="457200" y="41010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7200" y="4114800"/>
            <a:ext cx="2029419"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1208" y="4187952"/>
            <a:ext cx="1901403" cy="554736"/>
          </a:xfrm>
          <a:prstGeom prst="rect">
            <a:avLst/>
          </a:prstGeom>
          <a:noFill/>
        </p:spPr>
        <p:txBody>
          <a:bodyPr wrap="square" anchor="t">
            <a:spAutoFit/>
          </a:bodyPr>
          <a:lstStyle/>
          <a:p>
            <a:pPr algn="l"/>
            <a:r>
              <a:rPr sz="1200" b="1">
                <a:solidFill>
                  <a:srgbClr val="004090"/>
                </a:solidFill>
                <a:latin typeface="Noto Sans JP"/>
              </a:rPr>
              <a:t>ブランド・信頼</a:t>
            </a:r>
          </a:p>
        </p:txBody>
      </p:sp>
      <p:sp>
        <p:nvSpPr>
          <p:cNvPr id="36" name="Rectangle 35"/>
          <p:cNvSpPr/>
          <p:nvPr/>
        </p:nvSpPr>
        <p:spPr>
          <a:xfrm>
            <a:off x="2486619" y="4114800"/>
            <a:ext cx="4735311"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50627" y="4187952"/>
            <a:ext cx="4607295" cy="554736"/>
          </a:xfrm>
          <a:prstGeom prst="rect">
            <a:avLst/>
          </a:prstGeom>
          <a:noFill/>
        </p:spPr>
        <p:txBody>
          <a:bodyPr wrap="square" anchor="t">
            <a:spAutoFit/>
          </a:bodyPr>
          <a:lstStyle/>
          <a:p>
            <a:pPr algn="l"/>
            <a:r>
              <a:rPr sz="1200" b="0">
                <a:solidFill>
                  <a:srgbClr val="1A1A1A"/>
                </a:solidFill>
                <a:latin typeface="Noto Sans JP"/>
              </a:rPr>
              <a:t>「東京ガスグループ」のインフラオーナー信頼性・公共調達実績</a:t>
            </a:r>
          </a:p>
        </p:txBody>
      </p:sp>
      <p:sp>
        <p:nvSpPr>
          <p:cNvPr id="38" name="Rectangle 37"/>
          <p:cNvSpPr/>
          <p:nvPr/>
        </p:nvSpPr>
        <p:spPr>
          <a:xfrm>
            <a:off x="7221931" y="4114800"/>
            <a:ext cx="4509820"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285939" y="4187952"/>
            <a:ext cx="4381804" cy="554736"/>
          </a:xfrm>
          <a:prstGeom prst="rect">
            <a:avLst/>
          </a:prstGeom>
          <a:noFill/>
        </p:spPr>
        <p:txBody>
          <a:bodyPr wrap="square" anchor="t">
            <a:spAutoFit/>
          </a:bodyPr>
          <a:lstStyle/>
          <a:p>
            <a:pPr algn="l"/>
            <a:r>
              <a:rPr sz="1200" b="0">
                <a:solidFill>
                  <a:srgbClr val="1A1A1A"/>
                </a:solidFill>
                <a:latin typeface="Noto Sans JP"/>
              </a:rPr>
              <a:t>「最新AI技術」のスタートアップ機動力・先端研究成果</a:t>
            </a:r>
          </a:p>
        </p:txBody>
      </p:sp>
      <p:sp>
        <p:nvSpPr>
          <p:cNvPr id="40" name="Rectangle 39"/>
          <p:cNvSpPr/>
          <p:nvPr/>
        </p:nvSpPr>
        <p:spPr>
          <a:xfrm>
            <a:off x="457200" y="48021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 y="4815840"/>
            <a:ext cx="2029419"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21208" y="4888992"/>
            <a:ext cx="1901403" cy="554736"/>
          </a:xfrm>
          <a:prstGeom prst="rect">
            <a:avLst/>
          </a:prstGeom>
          <a:noFill/>
        </p:spPr>
        <p:txBody>
          <a:bodyPr wrap="square" anchor="t">
            <a:spAutoFit/>
          </a:bodyPr>
          <a:lstStyle/>
          <a:p>
            <a:pPr algn="l"/>
            <a:r>
              <a:rPr sz="1200" b="1">
                <a:solidFill>
                  <a:srgbClr val="004090"/>
                </a:solidFill>
                <a:latin typeface="Noto Sans JP"/>
              </a:rPr>
              <a:t>収益モデル</a:t>
            </a:r>
          </a:p>
        </p:txBody>
      </p:sp>
      <p:sp>
        <p:nvSpPr>
          <p:cNvPr id="43" name="Rectangle 42"/>
          <p:cNvSpPr/>
          <p:nvPr/>
        </p:nvSpPr>
        <p:spPr>
          <a:xfrm>
            <a:off x="2486619" y="4815840"/>
            <a:ext cx="4735311"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550627" y="4888992"/>
            <a:ext cx="4607295" cy="554736"/>
          </a:xfrm>
          <a:prstGeom prst="rect">
            <a:avLst/>
          </a:prstGeom>
          <a:noFill/>
        </p:spPr>
        <p:txBody>
          <a:bodyPr wrap="square" anchor="t">
            <a:spAutoFit/>
          </a:bodyPr>
          <a:lstStyle/>
          <a:p>
            <a:pPr algn="l"/>
            <a:r>
              <a:rPr sz="1200" b="0">
                <a:solidFill>
                  <a:srgbClr val="1A1A1A"/>
                </a:solidFill>
                <a:latin typeface="Noto Sans JP"/>
              </a:rPr>
              <a:t>パッケージ販売収益（初期）・SaaSサブスク利用料（継続）</a:t>
            </a:r>
          </a:p>
        </p:txBody>
      </p:sp>
      <p:sp>
        <p:nvSpPr>
          <p:cNvPr id="45" name="Rectangle 44"/>
          <p:cNvSpPr/>
          <p:nvPr/>
        </p:nvSpPr>
        <p:spPr>
          <a:xfrm>
            <a:off x="7221931" y="4815840"/>
            <a:ext cx="4509820"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85939" y="4888992"/>
            <a:ext cx="4381804" cy="554736"/>
          </a:xfrm>
          <a:prstGeom prst="rect">
            <a:avLst/>
          </a:prstGeom>
          <a:noFill/>
        </p:spPr>
        <p:txBody>
          <a:bodyPr wrap="square" anchor="t">
            <a:spAutoFit/>
          </a:bodyPr>
          <a:lstStyle/>
          <a:p>
            <a:pPr algn="l"/>
            <a:r>
              <a:rPr sz="1200" b="0">
                <a:solidFill>
                  <a:srgbClr val="1A1A1A"/>
                </a:solidFill>
                <a:latin typeface="Noto Sans JP"/>
              </a:rPr>
              <a:t>AIライセンスフィー（初期）・導入支援・精度向上サービス</a:t>
            </a:r>
          </a:p>
        </p:txBody>
      </p:sp>
      <p:sp>
        <p:nvSpPr>
          <p:cNvPr id="47" name="Rectangle 46"/>
          <p:cNvSpPr/>
          <p:nvPr/>
        </p:nvSpPr>
        <p:spPr>
          <a:xfrm>
            <a:off x="457200" y="550316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57200" y="5516880"/>
            <a:ext cx="2029419"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1208" y="5590032"/>
            <a:ext cx="1901403" cy="554736"/>
          </a:xfrm>
          <a:prstGeom prst="rect">
            <a:avLst/>
          </a:prstGeom>
          <a:noFill/>
        </p:spPr>
        <p:txBody>
          <a:bodyPr wrap="square" anchor="t">
            <a:spAutoFit/>
          </a:bodyPr>
          <a:lstStyle/>
          <a:p>
            <a:pPr algn="l"/>
            <a:r>
              <a:rPr sz="1200" b="1">
                <a:solidFill>
                  <a:srgbClr val="004090"/>
                </a:solidFill>
                <a:latin typeface="Noto Sans JP"/>
              </a:rPr>
              <a:t>将来領域</a:t>
            </a:r>
          </a:p>
        </p:txBody>
      </p:sp>
      <p:sp>
        <p:nvSpPr>
          <p:cNvPr id="50" name="Rectangle 49"/>
          <p:cNvSpPr/>
          <p:nvPr/>
        </p:nvSpPr>
        <p:spPr>
          <a:xfrm>
            <a:off x="2486619" y="5516880"/>
            <a:ext cx="4735311"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550627" y="5590032"/>
            <a:ext cx="4607295" cy="554736"/>
          </a:xfrm>
          <a:prstGeom prst="rect">
            <a:avLst/>
          </a:prstGeom>
          <a:noFill/>
        </p:spPr>
        <p:txBody>
          <a:bodyPr wrap="square" anchor="t">
            <a:spAutoFit/>
          </a:bodyPr>
          <a:lstStyle/>
          <a:p>
            <a:pPr algn="l"/>
            <a:r>
              <a:rPr sz="1200" b="0">
                <a:solidFill>
                  <a:srgbClr val="1A1A1A"/>
                </a:solidFill>
                <a:latin typeface="Noto Sans JP"/>
              </a:rPr>
              <a:t>ガス・電力・下水道等への横展開営業・海外ガス会社連携</a:t>
            </a:r>
          </a:p>
        </p:txBody>
      </p:sp>
      <p:sp>
        <p:nvSpPr>
          <p:cNvPr id="52" name="Rectangle 51"/>
          <p:cNvSpPr/>
          <p:nvPr/>
        </p:nvSpPr>
        <p:spPr>
          <a:xfrm>
            <a:off x="7221931" y="5516880"/>
            <a:ext cx="4509820" cy="701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285939" y="5590032"/>
            <a:ext cx="4381804" cy="554736"/>
          </a:xfrm>
          <a:prstGeom prst="rect">
            <a:avLst/>
          </a:prstGeom>
          <a:noFill/>
        </p:spPr>
        <p:txBody>
          <a:bodyPr wrap="square" anchor="t">
            <a:spAutoFit/>
          </a:bodyPr>
          <a:lstStyle/>
          <a:p>
            <a:pPr algn="l"/>
            <a:r>
              <a:rPr sz="1200" b="0">
                <a:solidFill>
                  <a:srgbClr val="1A1A1A"/>
                </a:solidFill>
                <a:latin typeface="Noto Sans JP"/>
              </a:rPr>
              <a:t>水道以外のインフラAI応用・新規アルゴリズム開発・論文発表</a:t>
            </a:r>
          </a:p>
        </p:txBody>
      </p:sp>
      <p:sp>
        <p:nvSpPr>
          <p:cNvPr id="54" name="Rectangle 53"/>
          <p:cNvSpPr/>
          <p:nvPr/>
        </p:nvSpPr>
        <p:spPr>
          <a:xfrm>
            <a:off x="457200" y="62042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
            <a:ext cx="6245352" cy="420624"/>
          </a:xfrm>
          <a:prstGeom prst="rect">
            <a:avLst/>
          </a:prstGeom>
          <a:noFill/>
        </p:spPr>
        <p:txBody>
          <a:bodyPr wrap="square" anchor="ctr">
            <a:spAutoFit/>
          </a:bodyPr>
          <a:lstStyle/>
          <a:p>
            <a:pPr algn="l"/>
            <a:r>
              <a:rPr sz="1200" b="0">
                <a:solidFill>
                  <a:srgbClr val="8CA9CD"/>
                </a:solidFill>
                <a:latin typeface="Noto Sans"/>
              </a:rPr>
              <a:t>08  BENEFITS FOR TGES</a:t>
            </a:r>
          </a:p>
        </p:txBody>
      </p:sp>
      <p:sp>
        <p:nvSpPr>
          <p:cNvPr id="6" name="TextBox 5"/>
          <p:cNvSpPr txBox="1"/>
          <p:nvPr/>
        </p:nvSpPr>
        <p:spPr>
          <a:xfrm>
            <a:off x="457200" y="502920"/>
            <a:ext cx="6245352" cy="658368"/>
          </a:xfrm>
          <a:prstGeom prst="rect">
            <a:avLst/>
          </a:prstGeom>
          <a:noFill/>
        </p:spPr>
        <p:txBody>
          <a:bodyPr wrap="square" anchor="ctr">
            <a:spAutoFit/>
          </a:bodyPr>
          <a:lstStyle/>
          <a:p>
            <a:pPr algn="l"/>
            <a:r>
              <a:rPr sz="2600" b="1">
                <a:solidFill>
                  <a:srgbClr val="FFFFFF"/>
                </a:solidFill>
                <a:latin typeface="Noto Sans JP"/>
              </a:rPr>
              <a:t>東京ガスがAIVALIXと組むメリット</a:t>
            </a:r>
          </a:p>
        </p:txBody>
      </p:sp>
      <p:sp>
        <p:nvSpPr>
          <p:cNvPr id="7" name="Rectangle 6"/>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10405872" y="365760"/>
            <a:ext cx="895140" cy="502920"/>
          </a:xfrm>
          <a:prstGeom prst="rect">
            <a:avLst/>
          </a:prstGeom>
        </p:spPr>
      </p:pic>
      <p:sp>
        <p:nvSpPr>
          <p:cNvPr id="9" name="Rectangle 8"/>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89888"/>
            <a:ext cx="7781544" cy="896112"/>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1" name="Rectangle 10"/>
          <p:cNvSpPr/>
          <p:nvPr/>
        </p:nvSpPr>
        <p:spPr>
          <a:xfrm>
            <a:off x="457200" y="227228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286000"/>
            <a:ext cx="7781544" cy="896112"/>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4" name="Rectangle 13"/>
          <p:cNvSpPr/>
          <p:nvPr/>
        </p:nvSpPr>
        <p:spPr>
          <a:xfrm>
            <a:off x="457200" y="316839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182112"/>
            <a:ext cx="7781544" cy="896112"/>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7" name="Rectangle 16"/>
          <p:cNvSpPr/>
          <p:nvPr/>
        </p:nvSpPr>
        <p:spPr>
          <a:xfrm>
            <a:off x="457200" y="406450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078224"/>
            <a:ext cx="7781544" cy="896112"/>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0" name="Rectangle 19"/>
          <p:cNvSpPr/>
          <p:nvPr/>
        </p:nvSpPr>
        <p:spPr>
          <a:xfrm>
            <a:off x="457200" y="496062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974336"/>
            <a:ext cx="7781544" cy="896112"/>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pic>
        <p:nvPicPr>
          <p:cNvPr id="23" name="Picture 22"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sz="1200" b="0">
                <a:solidFill>
                  <a:srgbClr val="8CA9CD"/>
                </a:solidFill>
                <a:latin typeface="Noto Sans"/>
              </a:rPr>
              <a:t>09  VALUE FOR END CLIENTS</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sz="2600" b="1">
                <a:solidFill>
                  <a:srgbClr val="FFFFFF"/>
                </a:solidFill>
                <a:latin typeface="Noto Sans JP"/>
              </a:rPr>
              <a:t>事業体（水道局）のメリット——外販時の訴求ポイント</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10405872" y="365760"/>
            <a:ext cx="895140" cy="502920"/>
          </a:xfrm>
          <a:prstGeom prst="rect">
            <a:avLst/>
          </a:prstGeom>
        </p:spPr>
      </p:pic>
      <p:sp>
        <p:nvSpPr>
          <p:cNvPr id="7" name="Rectangle 6"/>
          <p:cNvSpPr/>
          <p:nvPr/>
        </p:nvSpPr>
        <p:spPr>
          <a:xfrm>
            <a:off x="521208" y="174193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389888"/>
            <a:ext cx="10981944" cy="804672"/>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9" name="Rectangle 8"/>
          <p:cNvSpPr/>
          <p:nvPr/>
        </p:nvSpPr>
        <p:spPr>
          <a:xfrm>
            <a:off x="457200" y="218084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1208" y="254660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2194560"/>
            <a:ext cx="10981944" cy="804672"/>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2" name="Rectangle 11"/>
          <p:cNvSpPr/>
          <p:nvPr/>
        </p:nvSpPr>
        <p:spPr>
          <a:xfrm>
            <a:off x="457200" y="298551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1208" y="33512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2999232"/>
            <a:ext cx="10981944" cy="804672"/>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5" name="Rectangle 14"/>
          <p:cNvSpPr/>
          <p:nvPr/>
        </p:nvSpPr>
        <p:spPr>
          <a:xfrm>
            <a:off x="457200" y="379018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1208" y="415594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3803904"/>
            <a:ext cx="10981944" cy="804672"/>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18" name="Rectangle 17"/>
          <p:cNvSpPr/>
          <p:nvPr/>
        </p:nvSpPr>
        <p:spPr>
          <a:xfrm>
            <a:off x="457200" y="459486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21208" y="496062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4608576"/>
            <a:ext cx="10981944" cy="804672"/>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1" name="Rectangle 20"/>
          <p:cNvSpPr/>
          <p:nvPr/>
        </p:nvSpPr>
        <p:spPr>
          <a:xfrm>
            <a:off x="457200" y="53995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21208" y="576529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9808" y="5413248"/>
            <a:ext cx="10981944" cy="804672"/>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pic>
        <p:nvPicPr>
          <p:cNvPr id="24" name="Picture 23"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sz="1200" b="0">
                <a:solidFill>
                  <a:srgbClr val="8CA9CD"/>
                </a:solidFill>
                <a:latin typeface="Noto Sans"/>
              </a:rPr>
              <a:t>10  INVESTMENT &amp; ROADMAP</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sz="2600" b="1">
                <a:solidFill>
                  <a:srgbClr val="FFFFFF"/>
                </a:solidFill>
                <a:latin typeface="Noto Sans JP"/>
              </a:rPr>
              <a:t>出資のメリットと今後のロードマップ</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10405872" y="365760"/>
            <a:ext cx="895140" cy="502920"/>
          </a:xfrm>
          <a:prstGeom prst="rect">
            <a:avLst/>
          </a:prstGeom>
        </p:spPr>
      </p:pic>
      <p:sp>
        <p:nvSpPr>
          <p:cNvPr id="7" name="Rectangle 6"/>
          <p:cNvSpPr/>
          <p:nvPr/>
        </p:nvSpPr>
        <p:spPr>
          <a:xfrm>
            <a:off x="457200" y="1389888"/>
            <a:ext cx="1578437"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8" y="1389888"/>
            <a:ext cx="1486997" cy="621792"/>
          </a:xfrm>
          <a:prstGeom prst="rect">
            <a:avLst/>
          </a:prstGeom>
          <a:noFill/>
        </p:spPr>
        <p:txBody>
          <a:bodyPr wrap="square" anchor="ctr">
            <a:spAutoFit/>
          </a:bodyPr>
          <a:lstStyle/>
          <a:p>
            <a:pPr algn="l"/>
            <a:r>
              <a:rPr sz="1200" b="1">
                <a:solidFill>
                  <a:srgbClr val="FFFFFF"/>
                </a:solidFill>
                <a:latin typeface="Noto Sans JP"/>
              </a:rPr>
              <a:t>フェーズ</a:t>
            </a:r>
          </a:p>
        </p:txBody>
      </p:sp>
      <p:sp>
        <p:nvSpPr>
          <p:cNvPr id="9" name="Rectangle 8"/>
          <p:cNvSpPr/>
          <p:nvPr/>
        </p:nvSpPr>
        <p:spPr>
          <a:xfrm>
            <a:off x="2035637" y="1389888"/>
            <a:ext cx="1127455"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9645" y="1389888"/>
            <a:ext cx="1036015" cy="621792"/>
          </a:xfrm>
          <a:prstGeom prst="rect">
            <a:avLst/>
          </a:prstGeom>
          <a:noFill/>
        </p:spPr>
        <p:txBody>
          <a:bodyPr wrap="square" anchor="ctr">
            <a:spAutoFit/>
          </a:bodyPr>
          <a:lstStyle/>
          <a:p>
            <a:pPr algn="l"/>
            <a:r>
              <a:rPr sz="1200" b="1">
                <a:solidFill>
                  <a:srgbClr val="FFFFFF"/>
                </a:solidFill>
                <a:latin typeface="Noto Sans JP"/>
              </a:rPr>
              <a:t>時期</a:t>
            </a:r>
          </a:p>
        </p:txBody>
      </p:sp>
      <p:sp>
        <p:nvSpPr>
          <p:cNvPr id="11" name="Rectangle 10"/>
          <p:cNvSpPr/>
          <p:nvPr/>
        </p:nvSpPr>
        <p:spPr>
          <a:xfrm>
            <a:off x="3163092" y="1389888"/>
            <a:ext cx="4509820"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27100" y="1389888"/>
            <a:ext cx="4418380" cy="621792"/>
          </a:xfrm>
          <a:prstGeom prst="rect">
            <a:avLst/>
          </a:prstGeom>
          <a:noFill/>
        </p:spPr>
        <p:txBody>
          <a:bodyPr wrap="square" anchor="ctr">
            <a:spAutoFit/>
          </a:bodyPr>
          <a:lstStyle/>
          <a:p>
            <a:pPr algn="l"/>
            <a:r>
              <a:rPr sz="1200" b="1">
                <a:solidFill>
                  <a:srgbClr val="FFFFFF"/>
                </a:solidFill>
                <a:latin typeface="Noto Sans JP"/>
              </a:rPr>
              <a:t>マイルストーン</a:t>
            </a:r>
          </a:p>
        </p:txBody>
      </p:sp>
      <p:sp>
        <p:nvSpPr>
          <p:cNvPr id="13" name="Rectangle 12"/>
          <p:cNvSpPr/>
          <p:nvPr/>
        </p:nvSpPr>
        <p:spPr>
          <a:xfrm>
            <a:off x="7672913" y="1389888"/>
            <a:ext cx="4058838"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36921" y="1389888"/>
            <a:ext cx="3967398" cy="621792"/>
          </a:xfrm>
          <a:prstGeom prst="rect">
            <a:avLst/>
          </a:prstGeom>
          <a:noFill/>
        </p:spPr>
        <p:txBody>
          <a:bodyPr wrap="square" anchor="ctr">
            <a:spAutoFit/>
          </a:bodyPr>
          <a:lstStyle/>
          <a:p>
            <a:pPr algn="l"/>
            <a:r>
              <a:rPr sz="1200" b="1">
                <a:solidFill>
                  <a:srgbClr val="FFFFFF"/>
                </a:solidFill>
                <a:latin typeface="Noto Sans JP"/>
              </a:rPr>
              <a:t>東京ガスへのリターン</a:t>
            </a:r>
          </a:p>
        </p:txBody>
      </p:sp>
      <p:sp>
        <p:nvSpPr>
          <p:cNvPr id="15" name="Rectangle 14"/>
          <p:cNvSpPr/>
          <p:nvPr/>
        </p:nvSpPr>
        <p:spPr>
          <a:xfrm>
            <a:off x="457200" y="2011680"/>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 y="2084832"/>
            <a:ext cx="1450421" cy="813816"/>
          </a:xfrm>
          <a:prstGeom prst="rect">
            <a:avLst/>
          </a:prstGeom>
          <a:noFill/>
        </p:spPr>
        <p:txBody>
          <a:bodyPr wrap="square" anchor="t">
            <a:spAutoFit/>
          </a:bodyPr>
          <a:lstStyle/>
          <a:p>
            <a:pPr algn="l"/>
            <a:r>
              <a:rPr sz="1200" b="1">
                <a:solidFill>
                  <a:srgbClr val="004090"/>
                </a:solidFill>
                <a:latin typeface="Noto Sans JP"/>
              </a:rPr>
              <a:t>Phase 1 協業合意</a:t>
            </a:r>
          </a:p>
        </p:txBody>
      </p:sp>
      <p:sp>
        <p:nvSpPr>
          <p:cNvPr id="17" name="Rectangle 16"/>
          <p:cNvSpPr/>
          <p:nvPr/>
        </p:nvSpPr>
        <p:spPr>
          <a:xfrm>
            <a:off x="2035637" y="2011680"/>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99645" y="2084832"/>
            <a:ext cx="999439" cy="813816"/>
          </a:xfrm>
          <a:prstGeom prst="rect">
            <a:avLst/>
          </a:prstGeom>
          <a:noFill/>
        </p:spPr>
        <p:txBody>
          <a:bodyPr wrap="square" anchor="t">
            <a:spAutoFit/>
          </a:bodyPr>
          <a:lstStyle/>
          <a:p>
            <a:pPr algn="l"/>
            <a:r>
              <a:rPr sz="1100" b="0">
                <a:solidFill>
                  <a:srgbClr val="1A1A1A"/>
                </a:solidFill>
                <a:latin typeface="Noto Sans JP"/>
              </a:rPr>
              <a:t>2026 Q2-Q3</a:t>
            </a:r>
          </a:p>
        </p:txBody>
      </p:sp>
      <p:sp>
        <p:nvSpPr>
          <p:cNvPr id="19" name="Rectangle 18"/>
          <p:cNvSpPr/>
          <p:nvPr/>
        </p:nvSpPr>
        <p:spPr>
          <a:xfrm>
            <a:off x="3163092" y="2011680"/>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27100" y="2084832"/>
            <a:ext cx="4381804" cy="813816"/>
          </a:xfrm>
          <a:prstGeom prst="rect">
            <a:avLst/>
          </a:prstGeom>
          <a:noFill/>
        </p:spPr>
        <p:txBody>
          <a:bodyPr wrap="square" anchor="t">
            <a:spAutoFit/>
          </a:bodyPr>
          <a:lstStyle/>
          <a:p>
            <a:pPr algn="l"/>
            <a:r>
              <a:rPr sz="1200" b="0">
                <a:solidFill>
                  <a:srgbClr val="1A1A1A"/>
                </a:solidFill>
                <a:latin typeface="Noto Sans JP"/>
              </a:rPr>
              <a:t>MOU締結・共同パッケージ設計・TUMSY×INFRAI連携PoC開始</a:t>
            </a:r>
          </a:p>
        </p:txBody>
      </p:sp>
      <p:sp>
        <p:nvSpPr>
          <p:cNvPr id="21" name="Rectangle 20"/>
          <p:cNvSpPr/>
          <p:nvPr/>
        </p:nvSpPr>
        <p:spPr>
          <a:xfrm>
            <a:off x="7672913" y="2011680"/>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36921" y="2084832"/>
            <a:ext cx="3930822" cy="813816"/>
          </a:xfrm>
          <a:prstGeom prst="rect">
            <a:avLst/>
          </a:prstGeom>
          <a:noFill/>
        </p:spPr>
        <p:txBody>
          <a:bodyPr wrap="square" anchor="t">
            <a:spAutoFit/>
          </a:bodyPr>
          <a:lstStyle/>
          <a:p>
            <a:pPr algn="l"/>
            <a:r>
              <a:rPr sz="1200" b="0">
                <a:solidFill>
                  <a:srgbClr val="1A1A1A"/>
                </a:solidFill>
                <a:latin typeface="Noto Sans JP"/>
              </a:rPr>
              <a:t>既存顧客への優先提案権・共同ブランド確立</a:t>
            </a:r>
          </a:p>
        </p:txBody>
      </p:sp>
      <p:sp>
        <p:nvSpPr>
          <p:cNvPr id="23" name="Rectangle 22"/>
          <p:cNvSpPr/>
          <p:nvPr/>
        </p:nvSpPr>
        <p:spPr>
          <a:xfrm>
            <a:off x="457200" y="29580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2971800"/>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1208" y="3044952"/>
            <a:ext cx="1450421" cy="813816"/>
          </a:xfrm>
          <a:prstGeom prst="rect">
            <a:avLst/>
          </a:prstGeom>
          <a:noFill/>
        </p:spPr>
        <p:txBody>
          <a:bodyPr wrap="square" anchor="t">
            <a:spAutoFit/>
          </a:bodyPr>
          <a:lstStyle/>
          <a:p>
            <a:pPr algn="l"/>
            <a:r>
              <a:rPr sz="1200" b="1">
                <a:solidFill>
                  <a:srgbClr val="004090"/>
                </a:solidFill>
                <a:latin typeface="Noto Sans JP"/>
              </a:rPr>
              <a:t>Phase 2 出資・製品化</a:t>
            </a:r>
          </a:p>
        </p:txBody>
      </p:sp>
      <p:sp>
        <p:nvSpPr>
          <p:cNvPr id="26" name="Rectangle 25"/>
          <p:cNvSpPr/>
          <p:nvPr/>
        </p:nvSpPr>
        <p:spPr>
          <a:xfrm>
            <a:off x="2035637" y="2971800"/>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99645" y="3044952"/>
            <a:ext cx="999439" cy="813816"/>
          </a:xfrm>
          <a:prstGeom prst="rect">
            <a:avLst/>
          </a:prstGeom>
          <a:noFill/>
        </p:spPr>
        <p:txBody>
          <a:bodyPr wrap="square" anchor="t">
            <a:spAutoFit/>
          </a:bodyPr>
          <a:lstStyle/>
          <a:p>
            <a:pPr algn="l"/>
            <a:r>
              <a:rPr sz="1200" b="0">
                <a:solidFill>
                  <a:srgbClr val="1A1A1A"/>
                </a:solidFill>
                <a:latin typeface="Noto Sans JP"/>
              </a:rPr>
              <a:t>2026 Q4</a:t>
            </a:r>
          </a:p>
        </p:txBody>
      </p:sp>
      <p:sp>
        <p:nvSpPr>
          <p:cNvPr id="28" name="Rectangle 27"/>
          <p:cNvSpPr/>
          <p:nvPr/>
        </p:nvSpPr>
        <p:spPr>
          <a:xfrm>
            <a:off x="3163092" y="2971800"/>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27100" y="3044952"/>
            <a:ext cx="4381804" cy="813816"/>
          </a:xfrm>
          <a:prstGeom prst="rect">
            <a:avLst/>
          </a:prstGeom>
          <a:noFill/>
        </p:spPr>
        <p:txBody>
          <a:bodyPr wrap="square" anchor="t">
            <a:spAutoFit/>
          </a:bodyPr>
          <a:lstStyle/>
          <a:p>
            <a:pPr algn="l"/>
            <a:r>
              <a:rPr sz="1200" b="0">
                <a:solidFill>
                  <a:srgbClr val="1A1A1A"/>
                </a:solidFill>
                <a:latin typeface="Noto Sans JP"/>
              </a:rPr>
              <a:t>資本参加・TUMSY×INFRAI統合版リリース・第一号案件受注</a:t>
            </a:r>
          </a:p>
        </p:txBody>
      </p:sp>
      <p:sp>
        <p:nvSpPr>
          <p:cNvPr id="30" name="Rectangle 29"/>
          <p:cNvSpPr/>
          <p:nvPr/>
        </p:nvSpPr>
        <p:spPr>
          <a:xfrm>
            <a:off x="7672913" y="2971800"/>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36921" y="3044952"/>
            <a:ext cx="3930822" cy="813816"/>
          </a:xfrm>
          <a:prstGeom prst="rect">
            <a:avLst/>
          </a:prstGeom>
          <a:noFill/>
        </p:spPr>
        <p:txBody>
          <a:bodyPr wrap="square" anchor="t">
            <a:spAutoFit/>
          </a:bodyPr>
          <a:lstStyle/>
          <a:p>
            <a:pPr algn="l"/>
            <a:r>
              <a:rPr sz="1200" b="0">
                <a:solidFill>
                  <a:srgbClr val="1A1A1A"/>
                </a:solidFill>
                <a:latin typeface="Noto Sans JP"/>
              </a:rPr>
              <a:t>エクイティ取得・ライセンス収益開始</a:t>
            </a:r>
          </a:p>
        </p:txBody>
      </p:sp>
      <p:sp>
        <p:nvSpPr>
          <p:cNvPr id="32" name="Rectangle 31"/>
          <p:cNvSpPr/>
          <p:nvPr/>
        </p:nvSpPr>
        <p:spPr>
          <a:xfrm>
            <a:off x="457200" y="39182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3931920"/>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21208" y="4005072"/>
            <a:ext cx="1450421" cy="813816"/>
          </a:xfrm>
          <a:prstGeom prst="rect">
            <a:avLst/>
          </a:prstGeom>
          <a:noFill/>
        </p:spPr>
        <p:txBody>
          <a:bodyPr wrap="square" anchor="t">
            <a:spAutoFit/>
          </a:bodyPr>
          <a:lstStyle/>
          <a:p>
            <a:pPr algn="l"/>
            <a:r>
              <a:rPr sz="1200" b="1">
                <a:solidFill>
                  <a:srgbClr val="004090"/>
                </a:solidFill>
                <a:latin typeface="Noto Sans JP"/>
              </a:rPr>
              <a:t>Phase 3 外販加速</a:t>
            </a:r>
          </a:p>
        </p:txBody>
      </p:sp>
      <p:sp>
        <p:nvSpPr>
          <p:cNvPr id="35" name="Rectangle 34"/>
          <p:cNvSpPr/>
          <p:nvPr/>
        </p:nvSpPr>
        <p:spPr>
          <a:xfrm>
            <a:off x="2035637" y="3931920"/>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099645" y="4005072"/>
            <a:ext cx="999439" cy="813816"/>
          </a:xfrm>
          <a:prstGeom prst="rect">
            <a:avLst/>
          </a:prstGeom>
          <a:noFill/>
        </p:spPr>
        <p:txBody>
          <a:bodyPr wrap="square" anchor="t">
            <a:spAutoFit/>
          </a:bodyPr>
          <a:lstStyle/>
          <a:p>
            <a:pPr algn="l"/>
            <a:r>
              <a:rPr sz="1200" b="0">
                <a:solidFill>
                  <a:srgbClr val="1A1A1A"/>
                </a:solidFill>
                <a:latin typeface="Noto Sans JP"/>
              </a:rPr>
              <a:t>2027年</a:t>
            </a:r>
          </a:p>
        </p:txBody>
      </p:sp>
      <p:sp>
        <p:nvSpPr>
          <p:cNvPr id="37" name="Rectangle 36"/>
          <p:cNvSpPr/>
          <p:nvPr/>
        </p:nvSpPr>
        <p:spPr>
          <a:xfrm>
            <a:off x="3163092" y="3931920"/>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27100" y="4005072"/>
            <a:ext cx="4381804" cy="813816"/>
          </a:xfrm>
          <a:prstGeom prst="rect">
            <a:avLst/>
          </a:prstGeom>
          <a:noFill/>
        </p:spPr>
        <p:txBody>
          <a:bodyPr wrap="square" anchor="t">
            <a:spAutoFit/>
          </a:bodyPr>
          <a:lstStyle/>
          <a:p>
            <a:pPr algn="l"/>
            <a:r>
              <a:rPr sz="1200" b="0">
                <a:solidFill>
                  <a:srgbClr val="1A1A1A"/>
                </a:solidFill>
                <a:latin typeface="Noto Sans JP"/>
              </a:rPr>
              <a:t>都市水道局5〜10案件展開・差別化確立</a:t>
            </a:r>
          </a:p>
        </p:txBody>
      </p:sp>
      <p:sp>
        <p:nvSpPr>
          <p:cNvPr id="39" name="Rectangle 38"/>
          <p:cNvSpPr/>
          <p:nvPr/>
        </p:nvSpPr>
        <p:spPr>
          <a:xfrm>
            <a:off x="7672913" y="3931920"/>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36921" y="4005072"/>
            <a:ext cx="3930822" cy="813816"/>
          </a:xfrm>
          <a:prstGeom prst="rect">
            <a:avLst/>
          </a:prstGeom>
          <a:noFill/>
        </p:spPr>
        <p:txBody>
          <a:bodyPr wrap="square" anchor="t">
            <a:spAutoFit/>
          </a:bodyPr>
          <a:lstStyle/>
          <a:p>
            <a:pPr algn="l"/>
            <a:r>
              <a:rPr sz="1200" b="0">
                <a:solidFill>
                  <a:srgbClr val="1A1A1A"/>
                </a:solidFill>
                <a:latin typeface="Noto Sans JP"/>
              </a:rPr>
              <a:t>SaaS継続収益・業績連動リターン獲得</a:t>
            </a:r>
          </a:p>
        </p:txBody>
      </p:sp>
      <p:sp>
        <p:nvSpPr>
          <p:cNvPr id="41" name="Rectangle 40"/>
          <p:cNvSpPr/>
          <p:nvPr/>
        </p:nvSpPr>
        <p:spPr>
          <a:xfrm>
            <a:off x="457200" y="48783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7200" y="4892040"/>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21208" y="4965192"/>
            <a:ext cx="1450421" cy="813816"/>
          </a:xfrm>
          <a:prstGeom prst="rect">
            <a:avLst/>
          </a:prstGeom>
          <a:noFill/>
        </p:spPr>
        <p:txBody>
          <a:bodyPr wrap="square" anchor="t">
            <a:spAutoFit/>
          </a:bodyPr>
          <a:lstStyle/>
          <a:p>
            <a:pPr algn="l"/>
            <a:r>
              <a:rPr sz="1200" b="1">
                <a:solidFill>
                  <a:srgbClr val="004090"/>
                </a:solidFill>
                <a:latin typeface="Noto Sans JP"/>
              </a:rPr>
              <a:t>Phase 4 横展開</a:t>
            </a:r>
          </a:p>
        </p:txBody>
      </p:sp>
      <p:sp>
        <p:nvSpPr>
          <p:cNvPr id="44" name="Rectangle 43"/>
          <p:cNvSpPr/>
          <p:nvPr/>
        </p:nvSpPr>
        <p:spPr>
          <a:xfrm>
            <a:off x="2035637" y="4892040"/>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099645" y="4965192"/>
            <a:ext cx="999439" cy="813816"/>
          </a:xfrm>
          <a:prstGeom prst="rect">
            <a:avLst/>
          </a:prstGeom>
          <a:noFill/>
        </p:spPr>
        <p:txBody>
          <a:bodyPr wrap="square" anchor="t">
            <a:spAutoFit/>
          </a:bodyPr>
          <a:lstStyle/>
          <a:p>
            <a:pPr algn="l"/>
            <a:r>
              <a:rPr sz="1200" b="0">
                <a:solidFill>
                  <a:srgbClr val="1A1A1A"/>
                </a:solidFill>
                <a:latin typeface="Noto Sans JP"/>
              </a:rPr>
              <a:t>2028年〜</a:t>
            </a:r>
          </a:p>
        </p:txBody>
      </p:sp>
      <p:sp>
        <p:nvSpPr>
          <p:cNvPr id="46" name="Rectangle 45"/>
          <p:cNvSpPr/>
          <p:nvPr/>
        </p:nvSpPr>
        <p:spPr>
          <a:xfrm>
            <a:off x="3163092" y="4892040"/>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27100" y="4965192"/>
            <a:ext cx="4381804" cy="813816"/>
          </a:xfrm>
          <a:prstGeom prst="rect">
            <a:avLst/>
          </a:prstGeom>
          <a:noFill/>
        </p:spPr>
        <p:txBody>
          <a:bodyPr wrap="square" anchor="t">
            <a:spAutoFit/>
          </a:bodyPr>
          <a:lstStyle/>
          <a:p>
            <a:pPr algn="l"/>
            <a:r>
              <a:rPr sz="1200" b="0">
                <a:solidFill>
                  <a:srgbClr val="1A1A1A"/>
                </a:solidFill>
                <a:latin typeface="Noto Sans JP"/>
              </a:rPr>
              <a:t>下水道・電力・ガス管路AI診断拡張・海外展開検討</a:t>
            </a:r>
          </a:p>
        </p:txBody>
      </p:sp>
      <p:sp>
        <p:nvSpPr>
          <p:cNvPr id="48" name="Rectangle 47"/>
          <p:cNvSpPr/>
          <p:nvPr/>
        </p:nvSpPr>
        <p:spPr>
          <a:xfrm>
            <a:off x="7672913" y="4892040"/>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36921" y="4965192"/>
            <a:ext cx="3930822" cy="813816"/>
          </a:xfrm>
          <a:prstGeom prst="rect">
            <a:avLst/>
          </a:prstGeom>
          <a:noFill/>
        </p:spPr>
        <p:txBody>
          <a:bodyPr wrap="square" anchor="t">
            <a:spAutoFit/>
          </a:bodyPr>
          <a:lstStyle/>
          <a:p>
            <a:pPr algn="l"/>
            <a:r>
              <a:rPr sz="1200" b="0">
                <a:solidFill>
                  <a:srgbClr val="1A1A1A"/>
                </a:solidFill>
                <a:latin typeface="Noto Sans JP"/>
              </a:rPr>
              <a:t>IPO/EXIT時のキャピタルゲイン獲得</a:t>
            </a:r>
          </a:p>
        </p:txBody>
      </p:sp>
      <p:sp>
        <p:nvSpPr>
          <p:cNvPr id="50" name="Rectangle 49"/>
          <p:cNvSpPr/>
          <p:nvPr/>
        </p:nvSpPr>
        <p:spPr>
          <a:xfrm>
            <a:off x="457200" y="583844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sz="5200" b="1">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sz="1400" b="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pic>
        <p:nvPicPr>
          <p:cNvPr id="6" name="Picture 5" descr="tges_logo.png"/>
          <p:cNvPicPr>
            <a:picLocks noChangeAspect="1"/>
          </p:cNvPicPr>
          <p:nvPr/>
        </p:nvPicPr>
        <p:blipFill>
          <a:blip r:embed="rId3"/>
          <a:stretch>
            <a:fillRect/>
          </a:stretch>
        </p:blipFill>
        <p:spPr>
          <a:xfrm>
            <a:off x="6551676" y="5669280"/>
            <a:ext cx="1828800" cy="400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940</Words>
  <Application>Microsoft Office PowerPoint</Application>
  <PresentationFormat>ユーザー設定</PresentationFormat>
  <Paragraphs>134</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Noto Sans JP</vt:lpstr>
      <vt:lpstr>Arial</vt:lpstr>
      <vt:lpstr>Calibri</vt:lpstr>
      <vt:lpstr>Noto Sans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MASATOSHI MATSUI</cp:lastModifiedBy>
  <cp:revision>1</cp:revision>
  <dcterms:created xsi:type="dcterms:W3CDTF">2013-01-27T09:14:16Z</dcterms:created>
  <dcterms:modified xsi:type="dcterms:W3CDTF">2026-04-16T12:48:01Z</dcterms:modified>
  <cp:category/>
</cp:coreProperties>
</file>