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0" y="0"/>
            <a:ext cx="12188952" cy="6858000"/>
          </a:xfrm>
          <a:prstGeom prst="rect">
            <a:avLst/>
          </a:prstGeom>
          <a:solidFill>
            <a:srgbClr val="000000">
              <a:alpha val="4313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828800"/>
            <a:ext cx="7772400" cy="2286000"/>
          </a:xfrm>
          <a:prstGeom prst="rect">
            <a:avLst/>
          </a:prstGeom>
          <a:noFill/>
        </p:spPr>
        <p:txBody>
          <a:bodyPr wrap="square" anchor="ctr">
            <a:spAutoFit/>
          </a:bodyPr>
          <a:lstStyle/>
          <a:p>
            <a:pPr algn="l"/>
            <a:r>
              <a:rPr b="1" sz="4800">
                <a:solidFill>
                  <a:srgbClr val="FFFFFF"/>
                </a:solidFill>
                <a:latin typeface="Noto Sans JP"/>
              </a:rPr>
              <a:t>AIVALIX × 東京ガス
戦略的協業のご提案</a:t>
            </a:r>
          </a:p>
        </p:txBody>
      </p:sp>
      <p:sp>
        <p:nvSpPr>
          <p:cNvPr id="5" name="TextBox 4"/>
          <p:cNvSpPr txBox="1"/>
          <p:nvPr/>
        </p:nvSpPr>
        <p:spPr>
          <a:xfrm>
            <a:off x="502920" y="4206240"/>
            <a:ext cx="7772400" cy="914400"/>
          </a:xfrm>
          <a:prstGeom prst="rect">
            <a:avLst/>
          </a:prstGeom>
          <a:noFill/>
        </p:spPr>
        <p:txBody>
          <a:bodyPr wrap="square" anchor="ctr">
            <a:spAutoFit/>
          </a:bodyPr>
          <a:lstStyle/>
          <a:p>
            <a:pPr algn="l"/>
            <a:r>
              <a:rPr b="0" sz="1800">
                <a:solidFill>
                  <a:srgbClr val="999999"/>
                </a:solidFill>
                <a:latin typeface="Noto Sans JP"/>
              </a:rPr>
              <a:t>インフラAI × GISの融合で、水道DX外販の新たな収益軸を共に創る</a:t>
            </a:r>
          </a:p>
        </p:txBody>
      </p:sp>
      <p:sp>
        <p:nvSpPr>
          <p:cNvPr id="6" name="TextBox 5"/>
          <p:cNvSpPr txBox="1"/>
          <p:nvPr/>
        </p:nvSpPr>
        <p:spPr>
          <a:xfrm>
            <a:off x="502920" y="5943600"/>
            <a:ext cx="2743200" cy="457200"/>
          </a:xfrm>
          <a:prstGeom prst="rect">
            <a:avLst/>
          </a:prstGeom>
          <a:noFill/>
        </p:spPr>
        <p:txBody>
          <a:bodyPr wrap="square" anchor="ctr">
            <a:spAutoFit/>
          </a:bodyPr>
          <a:lstStyle/>
          <a:p>
            <a:pPr algn="l"/>
            <a:r>
              <a:rPr b="0" sz="1300">
                <a:solidFill>
                  <a:srgbClr val="999999"/>
                </a:solidFill>
                <a:latin typeface="Noto Sans"/>
              </a:rPr>
              <a:t>2026年4月　AIVALIX株式会社</a:t>
            </a:r>
          </a:p>
        </p:txBody>
      </p:sp>
      <p:sp>
        <p:nvSpPr>
          <p:cNvPr id="7" name="Rectangle 6"/>
          <p:cNvSpPr/>
          <p:nvPr/>
        </p:nvSpPr>
        <p:spPr>
          <a:xfrm>
            <a:off x="502920" y="1691640"/>
            <a:ext cx="4114800" cy="36576"/>
          </a:xfrm>
          <a:prstGeom prst="rect">
            <a:avLst/>
          </a:prstGeom>
          <a:solidFill>
            <a:srgbClr val="8CB1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valix_logo_white_16x9.png"/>
          <p:cNvPicPr>
            <a:picLocks noChangeAspect="1"/>
          </p:cNvPicPr>
          <p:nvPr/>
        </p:nvPicPr>
        <p:blipFill>
          <a:blip r:embed="rId3"/>
          <a:stretch>
            <a:fillRect/>
          </a:stretch>
        </p:blipFill>
        <p:spPr>
          <a:xfrm>
            <a:off x="274320" y="274320"/>
            <a:ext cx="732387" cy="4114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531352" cy="320040"/>
          </a:xfrm>
          <a:prstGeom prst="rect">
            <a:avLst/>
          </a:prstGeom>
          <a:noFill/>
        </p:spPr>
        <p:txBody>
          <a:bodyPr wrap="square" anchor="ctr">
            <a:spAutoFit/>
          </a:bodyPr>
          <a:lstStyle/>
          <a:p>
            <a:pPr algn="l"/>
            <a:r>
              <a:rPr b="0" sz="1200">
                <a:solidFill>
                  <a:srgbClr val="8CB1D2"/>
                </a:solidFill>
                <a:latin typeface="Noto Sans"/>
              </a:rPr>
              <a:t>01  EXECUTIVE SUMMARY</a:t>
            </a:r>
          </a:p>
        </p:txBody>
      </p:sp>
      <p:sp>
        <p:nvSpPr>
          <p:cNvPr id="4" name="TextBox 3"/>
          <p:cNvSpPr txBox="1"/>
          <p:nvPr/>
        </p:nvSpPr>
        <p:spPr>
          <a:xfrm>
            <a:off x="457200" y="384048"/>
            <a:ext cx="8531352" cy="530352"/>
          </a:xfrm>
          <a:prstGeom prst="rect">
            <a:avLst/>
          </a:prstGeom>
          <a:noFill/>
        </p:spPr>
        <p:txBody>
          <a:bodyPr wrap="square" anchor="ctr">
            <a:spAutoFit/>
          </a:bodyPr>
          <a:lstStyle/>
          <a:p>
            <a:pPr algn="l"/>
            <a:r>
              <a:rPr b="1" sz="2600">
                <a:solidFill>
                  <a:srgbClr val="FFFFFF"/>
                </a:solidFill>
                <a:latin typeface="Noto Sans JP"/>
              </a:rPr>
              <a:t>エグゼクティブサマリー</a:t>
            </a:r>
          </a:p>
        </p:txBody>
      </p:sp>
      <p:sp>
        <p:nvSpPr>
          <p:cNvPr id="5" name="Rectangle 4"/>
          <p:cNvSpPr/>
          <p:nvPr/>
        </p:nvSpPr>
        <p:spPr>
          <a:xfrm>
            <a:off x="0" y="123444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Rectangle 6"/>
          <p:cNvSpPr/>
          <p:nvPr/>
        </p:nvSpPr>
        <p:spPr>
          <a:xfrm>
            <a:off x="521208" y="1769364"/>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371600"/>
            <a:ext cx="10981944" cy="896112"/>
          </a:xfrm>
          <a:prstGeom prst="rect">
            <a:avLst/>
          </a:prstGeom>
          <a:noFill/>
        </p:spPr>
        <p:txBody>
          <a:bodyPr wrap="square" anchor="ctr">
            <a:spAutoFit/>
          </a:bodyPr>
          <a:lstStyle/>
          <a:p>
            <a:r>
              <a:rPr sz="1550">
                <a:solidFill>
                  <a:srgbClr val="1A1A1A"/>
                </a:solidFill>
                <a:latin typeface="Noto Sans JP"/>
              </a:rPr>
              <a:t>【市場規模】国の「第一次国土強靭化実施中期計画」により全国1,400水道事業者のDX化が令和9年までに100%義務化——年間数千億円規模のインフラDX市場が確定</a:t>
            </a:r>
          </a:p>
        </p:txBody>
      </p:sp>
      <p:sp>
        <p:nvSpPr>
          <p:cNvPr id="9" name="Rectangle 8"/>
          <p:cNvSpPr/>
          <p:nvPr/>
        </p:nvSpPr>
        <p:spPr>
          <a:xfrm>
            <a:off x="457200" y="225399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21208" y="2665476"/>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267712"/>
            <a:ext cx="10981944" cy="896112"/>
          </a:xfrm>
          <a:prstGeom prst="rect">
            <a:avLst/>
          </a:prstGeom>
          <a:noFill/>
        </p:spPr>
        <p:txBody>
          <a:bodyPr wrap="square" anchor="ctr">
            <a:spAutoFit/>
          </a:bodyPr>
          <a:lstStyle/>
          <a:p>
            <a:r>
              <a:rPr sz="1550">
                <a:solidFill>
                  <a:srgbClr val="1A1A1A"/>
                </a:solidFill>
                <a:latin typeface="Noto Sans JP"/>
              </a:rPr>
              <a:t>【実証済みソリューション】AIVALIXのINFRAI（AI管路診断エンジン）はPASCOとの協業で岡崎市・姫路市・福井県等に導入し、管1本単位のリスク評価・更新計画最適化の実績を保有</a:t>
            </a:r>
          </a:p>
        </p:txBody>
      </p:sp>
      <p:sp>
        <p:nvSpPr>
          <p:cNvPr id="12" name="Rectangle 11"/>
          <p:cNvSpPr/>
          <p:nvPr/>
        </p:nvSpPr>
        <p:spPr>
          <a:xfrm>
            <a:off x="457200" y="315010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21208" y="3561588"/>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3163824"/>
            <a:ext cx="10981944" cy="896112"/>
          </a:xfrm>
          <a:prstGeom prst="rect">
            <a:avLst/>
          </a:prstGeom>
          <a:noFill/>
        </p:spPr>
        <p:txBody>
          <a:bodyPr wrap="square" anchor="ctr">
            <a:spAutoFit/>
          </a:bodyPr>
          <a:lstStyle/>
          <a:p>
            <a:r>
              <a:rPr sz="1550">
                <a:solidFill>
                  <a:srgbClr val="1A1A1A"/>
                </a:solidFill>
                <a:latin typeface="Noto Sans JP"/>
              </a:rPr>
              <a:t>【協業の構造】東京ガスGIS（TUMSY）をフロントエンド、INFRAIをAIバックエンドとして統合——「AI診断付きGIS」という市場唯一のパッケージを共同構築</a:t>
            </a:r>
          </a:p>
        </p:txBody>
      </p:sp>
      <p:sp>
        <p:nvSpPr>
          <p:cNvPr id="15" name="Rectangle 14"/>
          <p:cNvSpPr/>
          <p:nvPr/>
        </p:nvSpPr>
        <p:spPr>
          <a:xfrm>
            <a:off x="457200" y="404622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21208" y="4457700"/>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4059936"/>
            <a:ext cx="10981944" cy="896112"/>
          </a:xfrm>
          <a:prstGeom prst="rect">
            <a:avLst/>
          </a:prstGeom>
          <a:noFill/>
        </p:spPr>
        <p:txBody>
          <a:bodyPr wrap="square" anchor="ctr">
            <a:spAutoFit/>
          </a:bodyPr>
          <a:lstStyle/>
          <a:p>
            <a:r>
              <a:rPr sz="1550">
                <a:solidFill>
                  <a:srgbClr val="1A1A1A"/>
                </a:solidFill>
                <a:latin typeface="Noto Sans JP"/>
              </a:rPr>
              <a:t>【東ガスの優位性】ガス管路管理で培ったインフラ老朽化対策の知見・GIS顧客基盤（主要大都市水道局）・公共入札の信頼性がPASCOを超える拡販力を生む</a:t>
            </a:r>
          </a:p>
        </p:txBody>
      </p:sp>
      <p:sp>
        <p:nvSpPr>
          <p:cNvPr id="18" name="Rectangle 17"/>
          <p:cNvSpPr/>
          <p:nvPr/>
        </p:nvSpPr>
        <p:spPr>
          <a:xfrm>
            <a:off x="457200" y="494233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21208" y="5353812"/>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956048"/>
            <a:ext cx="10981944" cy="896112"/>
          </a:xfrm>
          <a:prstGeom prst="rect">
            <a:avLst/>
          </a:prstGeom>
          <a:noFill/>
        </p:spPr>
        <p:txBody>
          <a:bodyPr wrap="square" anchor="ctr">
            <a:spAutoFit/>
          </a:bodyPr>
          <a:lstStyle/>
          <a:p>
            <a:r>
              <a:rPr sz="1550">
                <a:solidFill>
                  <a:srgbClr val="1A1A1A"/>
                </a:solidFill>
                <a:latin typeface="Noto Sans JP"/>
              </a:rPr>
              <a:t>【出資の意義】資本参加によりINFRAIの独占的展開権・共同開発のステアリング権・AIVALIX成長に伴うエクイティリターンを確保——協業と資本の両輪で事業を加速</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8714232" y="0"/>
            <a:ext cx="3474720" cy="6858000"/>
          </a:xfrm>
          <a:prstGeom prst="rect">
            <a:avLst/>
          </a:prstGeom>
        </p:spPr>
      </p:pic>
      <p:sp>
        <p:nvSpPr>
          <p:cNvPr id="3" name="Rectangle 2"/>
          <p:cNvSpPr/>
          <p:nvPr/>
        </p:nvSpPr>
        <p:spPr>
          <a:xfrm>
            <a:off x="8714232" y="0"/>
            <a:ext cx="45720" cy="68580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5330952" cy="320040"/>
          </a:xfrm>
          <a:prstGeom prst="rect">
            <a:avLst/>
          </a:prstGeom>
          <a:noFill/>
        </p:spPr>
        <p:txBody>
          <a:bodyPr wrap="square" anchor="ctr">
            <a:spAutoFit/>
          </a:bodyPr>
          <a:lstStyle/>
          <a:p>
            <a:pPr algn="l"/>
            <a:r>
              <a:rPr b="0" sz="1200">
                <a:solidFill>
                  <a:srgbClr val="8CB1D2"/>
                </a:solidFill>
                <a:latin typeface="Noto Sans"/>
              </a:rPr>
              <a:t>02  MARKET OPPORTUNITY</a:t>
            </a:r>
          </a:p>
        </p:txBody>
      </p:sp>
      <p:sp>
        <p:nvSpPr>
          <p:cNvPr id="6" name="TextBox 5"/>
          <p:cNvSpPr txBox="1"/>
          <p:nvPr/>
        </p:nvSpPr>
        <p:spPr>
          <a:xfrm>
            <a:off x="457200" y="384048"/>
            <a:ext cx="5330952" cy="530352"/>
          </a:xfrm>
          <a:prstGeom prst="rect">
            <a:avLst/>
          </a:prstGeom>
          <a:noFill/>
        </p:spPr>
        <p:txBody>
          <a:bodyPr wrap="square" anchor="ctr">
            <a:spAutoFit/>
          </a:bodyPr>
          <a:lstStyle/>
          <a:p>
            <a:pPr algn="l"/>
            <a:r>
              <a:rPr b="1" sz="2600">
                <a:solidFill>
                  <a:srgbClr val="FFFFFF"/>
                </a:solidFill>
                <a:latin typeface="Noto Sans JP"/>
              </a:rPr>
              <a:t>水道DX市場——確定した巨大市場</a:t>
            </a:r>
          </a:p>
        </p:txBody>
      </p:sp>
      <p:sp>
        <p:nvSpPr>
          <p:cNvPr id="7" name="Rectangle 6"/>
          <p:cNvSpPr/>
          <p:nvPr/>
        </p:nvSpPr>
        <p:spPr>
          <a:xfrm>
            <a:off x="0" y="123444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valix_logo_white_16x9.png"/>
          <p:cNvPicPr>
            <a:picLocks noChangeAspect="1"/>
          </p:cNvPicPr>
          <p:nvPr/>
        </p:nvPicPr>
        <p:blipFill>
          <a:blip r:embed="rId3"/>
          <a:stretch>
            <a:fillRect/>
          </a:stretch>
        </p:blipFill>
        <p:spPr>
          <a:xfrm>
            <a:off x="9656064" y="182880"/>
            <a:ext cx="1464775" cy="822960"/>
          </a:xfrm>
          <a:prstGeom prst="rect">
            <a:avLst/>
          </a:prstGeom>
        </p:spPr>
      </p:pic>
      <p:sp>
        <p:nvSpPr>
          <p:cNvPr id="9" name="TextBox 8"/>
          <p:cNvSpPr txBox="1"/>
          <p:nvPr/>
        </p:nvSpPr>
        <p:spPr>
          <a:xfrm>
            <a:off x="457200" y="1353312"/>
            <a:ext cx="7799832" cy="502920"/>
          </a:xfrm>
          <a:prstGeom prst="rect">
            <a:avLst/>
          </a:prstGeom>
          <a:noFill/>
        </p:spPr>
        <p:txBody>
          <a:bodyPr wrap="square" anchor="ctr">
            <a:spAutoFit/>
          </a:bodyPr>
          <a:lstStyle/>
          <a:p>
            <a:pPr algn="l"/>
            <a:r>
              <a:rPr b="1" sz="1300">
                <a:solidFill>
                  <a:srgbClr val="1A1A1A"/>
                </a:solidFill>
                <a:latin typeface="Noto Sans JP"/>
              </a:rPr>
              <a:t>国策により全1,400事業者のDX導入が確定——GIS×AIの統合パッケージを先行投入すれば、数千億円市場で先行者優位を獲得できる。</a:t>
            </a:r>
          </a:p>
        </p:txBody>
      </p:sp>
      <p:sp>
        <p:nvSpPr>
          <p:cNvPr id="10" name="Rectangle 9"/>
          <p:cNvSpPr/>
          <p:nvPr/>
        </p:nvSpPr>
        <p:spPr>
          <a:xfrm>
            <a:off x="457200" y="1892808"/>
            <a:ext cx="77998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21208" y="2415844"/>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039112"/>
            <a:ext cx="7781544" cy="854049"/>
          </a:xfrm>
          <a:prstGeom prst="rect">
            <a:avLst/>
          </a:prstGeom>
          <a:noFill/>
        </p:spPr>
        <p:txBody>
          <a:bodyPr wrap="square" anchor="ctr">
            <a:spAutoFit/>
          </a:bodyPr>
          <a:lstStyle/>
          <a:p>
            <a:r>
              <a:rPr sz="1550">
                <a:solidFill>
                  <a:srgbClr val="1A1A1A"/>
                </a:solidFill>
                <a:latin typeface="Noto Sans JP"/>
              </a:rPr>
              <a:t>【政策背景】国土強靭化中期計画「水道DX技術導入率 R9年度100%」——全事業者への導入が国策として確定済み</a:t>
            </a:r>
          </a:p>
        </p:txBody>
      </p:sp>
      <p:sp>
        <p:nvSpPr>
          <p:cNvPr id="13" name="Rectangle 12"/>
          <p:cNvSpPr/>
          <p:nvPr/>
        </p:nvSpPr>
        <p:spPr>
          <a:xfrm>
            <a:off x="457200" y="2879445"/>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1208" y="3269894"/>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2893161"/>
            <a:ext cx="7781544" cy="854049"/>
          </a:xfrm>
          <a:prstGeom prst="rect">
            <a:avLst/>
          </a:prstGeom>
          <a:noFill/>
        </p:spPr>
        <p:txBody>
          <a:bodyPr wrap="square" anchor="ctr">
            <a:spAutoFit/>
          </a:bodyPr>
          <a:lstStyle/>
          <a:p>
            <a:r>
              <a:rPr sz="1550">
                <a:solidFill>
                  <a:srgbClr val="1A1A1A"/>
                </a:solidFill>
                <a:latin typeface="Noto Sans JP"/>
              </a:rPr>
              <a:t>【市場規模】全国約1,400水道事業者 × 管路延長合計約72万km——管路更新だけで年間約1兆円の投資が発生、AI活用で数千億円の市場機会</a:t>
            </a:r>
          </a:p>
        </p:txBody>
      </p:sp>
      <p:sp>
        <p:nvSpPr>
          <p:cNvPr id="16" name="Rectangle 15"/>
          <p:cNvSpPr/>
          <p:nvPr/>
        </p:nvSpPr>
        <p:spPr>
          <a:xfrm>
            <a:off x="457200" y="3733495"/>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21208" y="4123944"/>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47211"/>
            <a:ext cx="7781544" cy="854049"/>
          </a:xfrm>
          <a:prstGeom prst="rect">
            <a:avLst/>
          </a:prstGeom>
          <a:noFill/>
        </p:spPr>
        <p:txBody>
          <a:bodyPr wrap="square" anchor="ctr">
            <a:spAutoFit/>
          </a:bodyPr>
          <a:lstStyle/>
          <a:p>
            <a:r>
              <a:rPr sz="1550">
                <a:solidFill>
                  <a:srgbClr val="1A1A1A"/>
                </a:solidFill>
                <a:latin typeface="Noto Sans JP"/>
              </a:rPr>
              <a:t>【構造的課題】水道管の法定耐用年数40年に対し、全国平均管路経年化率は約22%——更新ペースが追いつかず老朽化が加速する構造的問題</a:t>
            </a:r>
          </a:p>
        </p:txBody>
      </p:sp>
      <p:sp>
        <p:nvSpPr>
          <p:cNvPr id="19" name="Rectangle 18"/>
          <p:cNvSpPr/>
          <p:nvPr/>
        </p:nvSpPr>
        <p:spPr>
          <a:xfrm>
            <a:off x="457200" y="458754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1208" y="4977993"/>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4601260"/>
            <a:ext cx="7781544" cy="854049"/>
          </a:xfrm>
          <a:prstGeom prst="rect">
            <a:avLst/>
          </a:prstGeom>
          <a:noFill/>
        </p:spPr>
        <p:txBody>
          <a:bodyPr wrap="square" anchor="ctr">
            <a:spAutoFit/>
          </a:bodyPr>
          <a:lstStyle/>
          <a:p>
            <a:r>
              <a:rPr sz="1550">
                <a:solidFill>
                  <a:srgbClr val="1A1A1A"/>
                </a:solidFill>
                <a:latin typeface="Noto Sans JP"/>
              </a:rPr>
              <a:t>【人材不足】水道事業職員数はピーク比30%減——熟練技術者の退職が進み、AI・データ活用による業務効率化が不可避</a:t>
            </a:r>
          </a:p>
        </p:txBody>
      </p:sp>
      <p:sp>
        <p:nvSpPr>
          <p:cNvPr id="22" name="Rectangle 21"/>
          <p:cNvSpPr/>
          <p:nvPr/>
        </p:nvSpPr>
        <p:spPr>
          <a:xfrm>
            <a:off x="457200" y="544159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1208" y="5832043"/>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5455310"/>
            <a:ext cx="7781544" cy="854049"/>
          </a:xfrm>
          <a:prstGeom prst="rect">
            <a:avLst/>
          </a:prstGeom>
          <a:noFill/>
        </p:spPr>
        <p:txBody>
          <a:bodyPr wrap="square" anchor="ctr">
            <a:spAutoFit/>
          </a:bodyPr>
          <a:lstStyle/>
          <a:p>
            <a:r>
              <a:rPr sz="1550">
                <a:solidFill>
                  <a:srgbClr val="1A1A1A"/>
                </a:solidFill>
                <a:latin typeface="Noto Sans JP"/>
              </a:rPr>
              <a:t>【競合状況】PASCO（GIS）、NEC（管路管理システム）等が参入するも、GIS×AIを統合したワンストップソリューションは未だ市場に不在——先行者優位を獲得可能</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531352" cy="320040"/>
          </a:xfrm>
          <a:prstGeom prst="rect">
            <a:avLst/>
          </a:prstGeom>
          <a:noFill/>
        </p:spPr>
        <p:txBody>
          <a:bodyPr wrap="square" anchor="ctr">
            <a:spAutoFit/>
          </a:bodyPr>
          <a:lstStyle/>
          <a:p>
            <a:pPr algn="l"/>
            <a:r>
              <a:rPr b="0" sz="1200">
                <a:solidFill>
                  <a:srgbClr val="8CB1D2"/>
                </a:solidFill>
                <a:latin typeface="Noto Sans"/>
              </a:rPr>
              <a:t>03  SOLUTION</a:t>
            </a:r>
          </a:p>
        </p:txBody>
      </p:sp>
      <p:sp>
        <p:nvSpPr>
          <p:cNvPr id="4" name="TextBox 3"/>
          <p:cNvSpPr txBox="1"/>
          <p:nvPr/>
        </p:nvSpPr>
        <p:spPr>
          <a:xfrm>
            <a:off x="457200" y="384048"/>
            <a:ext cx="8531352" cy="530352"/>
          </a:xfrm>
          <a:prstGeom prst="rect">
            <a:avLst/>
          </a:prstGeom>
          <a:noFill/>
        </p:spPr>
        <p:txBody>
          <a:bodyPr wrap="square" anchor="ctr">
            <a:spAutoFit/>
          </a:bodyPr>
          <a:lstStyle/>
          <a:p>
            <a:pPr algn="l"/>
            <a:r>
              <a:rPr b="1" sz="2600">
                <a:solidFill>
                  <a:srgbClr val="FFFFFF"/>
                </a:solidFill>
                <a:latin typeface="Noto Sans JP"/>
              </a:rPr>
              <a:t>GIS×AIの融合——INFRAIの4ステップ価値提供モデル</a:t>
            </a:r>
          </a:p>
        </p:txBody>
      </p:sp>
      <p:sp>
        <p:nvSpPr>
          <p:cNvPr id="5" name="Rectangle 4"/>
          <p:cNvSpPr/>
          <p:nvPr/>
        </p:nvSpPr>
        <p:spPr>
          <a:xfrm>
            <a:off x="0" y="123444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TextBox 6"/>
          <p:cNvSpPr txBox="1"/>
          <p:nvPr/>
        </p:nvSpPr>
        <p:spPr>
          <a:xfrm>
            <a:off x="457200" y="1353312"/>
            <a:ext cx="11000232" cy="502920"/>
          </a:xfrm>
          <a:prstGeom prst="rect">
            <a:avLst/>
          </a:prstGeom>
          <a:noFill/>
        </p:spPr>
        <p:txBody>
          <a:bodyPr wrap="square" anchor="ctr">
            <a:spAutoFit/>
          </a:bodyPr>
          <a:lstStyle/>
          <a:p>
            <a:pPr algn="l"/>
            <a:r>
              <a:rPr b="1" sz="1600">
                <a:solidFill>
                  <a:srgbClr val="1A1A1A"/>
                </a:solidFill>
                <a:latin typeface="Noto Sans JP"/>
              </a:rPr>
              <a:t>既存GISデータを起点にAI分析→可視化→意思決定を一気通貫で提供。東京ガスのGIS基盤とAIVALIXのAIが各ステップで相互補完する。</a:t>
            </a:r>
          </a:p>
        </p:txBody>
      </p:sp>
      <p:sp>
        <p:nvSpPr>
          <p:cNvPr id="8" name="Rectangle 7"/>
          <p:cNvSpPr/>
          <p:nvPr/>
        </p:nvSpPr>
        <p:spPr>
          <a:xfrm>
            <a:off x="457200" y="1892808"/>
            <a:ext cx="110002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993392"/>
            <a:ext cx="1014709"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 y="1993392"/>
            <a:ext cx="923269" cy="457200"/>
          </a:xfrm>
          <a:prstGeom prst="rect">
            <a:avLst/>
          </a:prstGeom>
          <a:noFill/>
        </p:spPr>
        <p:txBody>
          <a:bodyPr wrap="square" anchor="ctr">
            <a:spAutoFit/>
          </a:bodyPr>
          <a:lstStyle/>
          <a:p>
            <a:pPr algn="l"/>
            <a:r>
              <a:rPr b="1" sz="1200">
                <a:solidFill>
                  <a:srgbClr val="FFFFFF"/>
                </a:solidFill>
                <a:latin typeface="Noto Sans JP"/>
              </a:rPr>
              <a:t>ステップ</a:t>
            </a:r>
          </a:p>
        </p:txBody>
      </p:sp>
      <p:sp>
        <p:nvSpPr>
          <p:cNvPr id="11" name="Rectangle 10"/>
          <p:cNvSpPr/>
          <p:nvPr/>
        </p:nvSpPr>
        <p:spPr>
          <a:xfrm>
            <a:off x="1471909" y="1993392"/>
            <a:ext cx="3156874"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35917" y="1993392"/>
            <a:ext cx="3065434" cy="457200"/>
          </a:xfrm>
          <a:prstGeom prst="rect">
            <a:avLst/>
          </a:prstGeom>
          <a:noFill/>
        </p:spPr>
        <p:txBody>
          <a:bodyPr wrap="square" anchor="ctr">
            <a:spAutoFit/>
          </a:bodyPr>
          <a:lstStyle/>
          <a:p>
            <a:pPr algn="l"/>
            <a:r>
              <a:rPr b="1" sz="1200">
                <a:solidFill>
                  <a:srgbClr val="FFFFFF"/>
                </a:solidFill>
                <a:latin typeface="Noto Sans JP"/>
              </a:rPr>
              <a:t>プロセス</a:t>
            </a:r>
          </a:p>
        </p:txBody>
      </p:sp>
      <p:sp>
        <p:nvSpPr>
          <p:cNvPr id="13" name="Rectangle 12"/>
          <p:cNvSpPr/>
          <p:nvPr/>
        </p:nvSpPr>
        <p:spPr>
          <a:xfrm>
            <a:off x="4628784" y="1993392"/>
            <a:ext cx="3720602"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92792" y="1993392"/>
            <a:ext cx="3629162" cy="457200"/>
          </a:xfrm>
          <a:prstGeom prst="rect">
            <a:avLst/>
          </a:prstGeom>
          <a:noFill/>
        </p:spPr>
        <p:txBody>
          <a:bodyPr wrap="square" anchor="ctr">
            <a:spAutoFit/>
          </a:bodyPr>
          <a:lstStyle/>
          <a:p>
            <a:pPr algn="l"/>
            <a:r>
              <a:rPr b="1" sz="1200">
                <a:solidFill>
                  <a:srgbClr val="FFFFFF"/>
                </a:solidFill>
                <a:latin typeface="Noto Sans JP"/>
              </a:rPr>
              <a:t>AIVALIXの提供価値</a:t>
            </a:r>
          </a:p>
        </p:txBody>
      </p:sp>
      <p:sp>
        <p:nvSpPr>
          <p:cNvPr id="15" name="Rectangle 14"/>
          <p:cNvSpPr/>
          <p:nvPr/>
        </p:nvSpPr>
        <p:spPr>
          <a:xfrm>
            <a:off x="8349386" y="1993392"/>
            <a:ext cx="3382365"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3394" y="1993392"/>
            <a:ext cx="3290925" cy="457200"/>
          </a:xfrm>
          <a:prstGeom prst="rect">
            <a:avLst/>
          </a:prstGeom>
          <a:noFill/>
        </p:spPr>
        <p:txBody>
          <a:bodyPr wrap="square" anchor="ctr">
            <a:spAutoFit/>
          </a:bodyPr>
          <a:lstStyle/>
          <a:p>
            <a:pPr algn="l"/>
            <a:r>
              <a:rPr b="1" sz="1200">
                <a:solidFill>
                  <a:srgbClr val="FFFFFF"/>
                </a:solidFill>
                <a:latin typeface="Noto Sans JP"/>
              </a:rPr>
              <a:t>東京ガスの貢献</a:t>
            </a:r>
          </a:p>
        </p:txBody>
      </p:sp>
      <p:sp>
        <p:nvSpPr>
          <p:cNvPr id="17" name="Rectangle 16"/>
          <p:cNvSpPr/>
          <p:nvPr/>
        </p:nvSpPr>
        <p:spPr>
          <a:xfrm>
            <a:off x="457200" y="2450592"/>
            <a:ext cx="1014709"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8" y="2523744"/>
            <a:ext cx="886693" cy="806958"/>
          </a:xfrm>
          <a:prstGeom prst="rect">
            <a:avLst/>
          </a:prstGeom>
          <a:noFill/>
        </p:spPr>
        <p:txBody>
          <a:bodyPr wrap="square" anchor="t">
            <a:spAutoFit/>
          </a:bodyPr>
          <a:lstStyle/>
          <a:p>
            <a:pPr algn="l"/>
            <a:r>
              <a:rPr b="1" sz="1300">
                <a:solidFill>
                  <a:srgbClr val="00529B"/>
                </a:solidFill>
                <a:latin typeface="Noto Sans JP"/>
              </a:rPr>
              <a:t>A データ整備</a:t>
            </a:r>
          </a:p>
        </p:txBody>
      </p:sp>
      <p:sp>
        <p:nvSpPr>
          <p:cNvPr id="19" name="Rectangle 18"/>
          <p:cNvSpPr/>
          <p:nvPr/>
        </p:nvSpPr>
        <p:spPr>
          <a:xfrm>
            <a:off x="1471909" y="2450592"/>
            <a:ext cx="3156874"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35917" y="2523744"/>
            <a:ext cx="3028858" cy="806958"/>
          </a:xfrm>
          <a:prstGeom prst="rect">
            <a:avLst/>
          </a:prstGeom>
          <a:noFill/>
        </p:spPr>
        <p:txBody>
          <a:bodyPr wrap="square" anchor="t">
            <a:spAutoFit/>
          </a:bodyPr>
          <a:lstStyle/>
          <a:p>
            <a:pPr algn="l"/>
            <a:r>
              <a:rPr b="0" sz="1300">
                <a:solidFill>
                  <a:srgbClr val="1A1A1A"/>
                </a:solidFill>
                <a:latin typeface="Noto Sans JP"/>
              </a:rPr>
              <a:t>管路台帳・GIS・事故履歴データのデジタル化と標準化</a:t>
            </a:r>
          </a:p>
        </p:txBody>
      </p:sp>
      <p:sp>
        <p:nvSpPr>
          <p:cNvPr id="21" name="Rectangle 20"/>
          <p:cNvSpPr/>
          <p:nvPr/>
        </p:nvSpPr>
        <p:spPr>
          <a:xfrm>
            <a:off x="4628784" y="2450592"/>
            <a:ext cx="3720602"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92792" y="2523744"/>
            <a:ext cx="3592586" cy="806958"/>
          </a:xfrm>
          <a:prstGeom prst="rect">
            <a:avLst/>
          </a:prstGeom>
          <a:noFill/>
        </p:spPr>
        <p:txBody>
          <a:bodyPr wrap="square" anchor="t">
            <a:spAutoFit/>
          </a:bodyPr>
          <a:lstStyle/>
          <a:p>
            <a:pPr algn="l"/>
            <a:r>
              <a:rPr b="0" sz="1300">
                <a:solidFill>
                  <a:srgbClr val="1A1A1A"/>
                </a:solidFill>
                <a:latin typeface="Noto Sans JP"/>
              </a:rPr>
              <a:t>学習データ設計・AI用フォーマット整備・データ品質評価</a:t>
            </a:r>
          </a:p>
        </p:txBody>
      </p:sp>
      <p:sp>
        <p:nvSpPr>
          <p:cNvPr id="23" name="Rectangle 22"/>
          <p:cNvSpPr/>
          <p:nvPr/>
        </p:nvSpPr>
        <p:spPr>
          <a:xfrm>
            <a:off x="8349386" y="2450592"/>
            <a:ext cx="3382365"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3394" y="2523744"/>
            <a:ext cx="3254349" cy="806958"/>
          </a:xfrm>
          <a:prstGeom prst="rect">
            <a:avLst/>
          </a:prstGeom>
          <a:noFill/>
        </p:spPr>
        <p:txBody>
          <a:bodyPr wrap="square" anchor="t">
            <a:spAutoFit/>
          </a:bodyPr>
          <a:lstStyle/>
          <a:p>
            <a:pPr algn="l"/>
            <a:r>
              <a:rPr b="0" sz="1300">
                <a:solidFill>
                  <a:srgbClr val="1A1A1A"/>
                </a:solidFill>
                <a:latin typeface="Noto Sans JP"/>
              </a:rPr>
              <a:t>TUMSYデータ連携・顧客既存GISデータの橋渡し</a:t>
            </a:r>
          </a:p>
        </p:txBody>
      </p:sp>
      <p:sp>
        <p:nvSpPr>
          <p:cNvPr id="25" name="Rectangle 24"/>
          <p:cNvSpPr/>
          <p:nvPr/>
        </p:nvSpPr>
        <p:spPr>
          <a:xfrm>
            <a:off x="457200" y="339013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3403854"/>
            <a:ext cx="1014709"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1208" y="3477006"/>
            <a:ext cx="886693" cy="806958"/>
          </a:xfrm>
          <a:prstGeom prst="rect">
            <a:avLst/>
          </a:prstGeom>
          <a:noFill/>
        </p:spPr>
        <p:txBody>
          <a:bodyPr wrap="square" anchor="t">
            <a:spAutoFit/>
          </a:bodyPr>
          <a:lstStyle/>
          <a:p>
            <a:pPr algn="l"/>
            <a:r>
              <a:rPr b="1" sz="1300">
                <a:solidFill>
                  <a:srgbClr val="00529B"/>
                </a:solidFill>
                <a:latin typeface="Noto Sans JP"/>
              </a:rPr>
              <a:t>B AI分析</a:t>
            </a:r>
          </a:p>
        </p:txBody>
      </p:sp>
      <p:sp>
        <p:nvSpPr>
          <p:cNvPr id="28" name="Rectangle 27"/>
          <p:cNvSpPr/>
          <p:nvPr/>
        </p:nvSpPr>
        <p:spPr>
          <a:xfrm>
            <a:off x="1471909" y="3403854"/>
            <a:ext cx="3156874"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535917" y="3477006"/>
            <a:ext cx="3028858" cy="806958"/>
          </a:xfrm>
          <a:prstGeom prst="rect">
            <a:avLst/>
          </a:prstGeom>
          <a:noFill/>
        </p:spPr>
        <p:txBody>
          <a:bodyPr wrap="square" anchor="t">
            <a:spAutoFit/>
          </a:bodyPr>
          <a:lstStyle/>
          <a:p>
            <a:pPr algn="l"/>
            <a:r>
              <a:rPr b="0" sz="1300">
                <a:solidFill>
                  <a:srgbClr val="1A1A1A"/>
                </a:solidFill>
                <a:latin typeface="Noto Sans JP"/>
              </a:rPr>
              <a:t>管1本単位の故障確率×影響度によるリスクスコアリング</a:t>
            </a:r>
          </a:p>
        </p:txBody>
      </p:sp>
      <p:sp>
        <p:nvSpPr>
          <p:cNvPr id="30" name="Rectangle 29"/>
          <p:cNvSpPr/>
          <p:nvPr/>
        </p:nvSpPr>
        <p:spPr>
          <a:xfrm>
            <a:off x="4628784" y="3403854"/>
            <a:ext cx="3720602"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92792" y="3477006"/>
            <a:ext cx="3592586" cy="806958"/>
          </a:xfrm>
          <a:prstGeom prst="rect">
            <a:avLst/>
          </a:prstGeom>
          <a:noFill/>
        </p:spPr>
        <p:txBody>
          <a:bodyPr wrap="square" anchor="t">
            <a:spAutoFit/>
          </a:bodyPr>
          <a:lstStyle/>
          <a:p>
            <a:pPr algn="l"/>
            <a:r>
              <a:rPr b="0" sz="1300">
                <a:solidFill>
                  <a:srgbClr val="1A1A1A"/>
                </a:solidFill>
                <a:latin typeface="Noto Sans JP"/>
              </a:rPr>
              <a:t>INFRAI基盤モデルによる少データ高精度予測・衛星データ統合</a:t>
            </a:r>
          </a:p>
        </p:txBody>
      </p:sp>
      <p:sp>
        <p:nvSpPr>
          <p:cNvPr id="32" name="Rectangle 31"/>
          <p:cNvSpPr/>
          <p:nvPr/>
        </p:nvSpPr>
        <p:spPr>
          <a:xfrm>
            <a:off x="8349386" y="3403854"/>
            <a:ext cx="3382365"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3394" y="3477006"/>
            <a:ext cx="3254349" cy="806958"/>
          </a:xfrm>
          <a:prstGeom prst="rect">
            <a:avLst/>
          </a:prstGeom>
          <a:noFill/>
        </p:spPr>
        <p:txBody>
          <a:bodyPr wrap="square" anchor="t">
            <a:spAutoFit/>
          </a:bodyPr>
          <a:lstStyle/>
          <a:p>
            <a:pPr algn="l"/>
            <a:r>
              <a:rPr b="0" sz="1300">
                <a:solidFill>
                  <a:srgbClr val="1A1A1A"/>
                </a:solidFill>
                <a:latin typeface="Noto Sans JP"/>
              </a:rPr>
              <a:t>ガス管AI知見の水道管リスクモデルへの応用</a:t>
            </a:r>
          </a:p>
        </p:txBody>
      </p:sp>
      <p:sp>
        <p:nvSpPr>
          <p:cNvPr id="34" name="Rectangle 33"/>
          <p:cNvSpPr/>
          <p:nvPr/>
        </p:nvSpPr>
        <p:spPr>
          <a:xfrm>
            <a:off x="457200" y="434340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57200" y="4357116"/>
            <a:ext cx="1014709"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1208" y="4430268"/>
            <a:ext cx="886693" cy="806958"/>
          </a:xfrm>
          <a:prstGeom prst="rect">
            <a:avLst/>
          </a:prstGeom>
          <a:noFill/>
        </p:spPr>
        <p:txBody>
          <a:bodyPr wrap="square" anchor="t">
            <a:spAutoFit/>
          </a:bodyPr>
          <a:lstStyle/>
          <a:p>
            <a:pPr algn="l"/>
            <a:r>
              <a:rPr b="1" sz="1300">
                <a:solidFill>
                  <a:srgbClr val="00529B"/>
                </a:solidFill>
                <a:latin typeface="Noto Sans JP"/>
              </a:rPr>
              <a:t>C 可視化</a:t>
            </a:r>
          </a:p>
        </p:txBody>
      </p:sp>
      <p:sp>
        <p:nvSpPr>
          <p:cNvPr id="37" name="Rectangle 36"/>
          <p:cNvSpPr/>
          <p:nvPr/>
        </p:nvSpPr>
        <p:spPr>
          <a:xfrm>
            <a:off x="1471909" y="4357116"/>
            <a:ext cx="3156874"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535917" y="4430268"/>
            <a:ext cx="3028858" cy="806958"/>
          </a:xfrm>
          <a:prstGeom prst="rect">
            <a:avLst/>
          </a:prstGeom>
          <a:noFill/>
        </p:spPr>
        <p:txBody>
          <a:bodyPr wrap="square" anchor="t">
            <a:spAutoFit/>
          </a:bodyPr>
          <a:lstStyle/>
          <a:p>
            <a:pPr algn="l"/>
            <a:r>
              <a:rPr b="0" sz="1300">
                <a:solidFill>
                  <a:srgbClr val="1A1A1A"/>
                </a:solidFill>
                <a:latin typeface="Noto Sans JP"/>
              </a:rPr>
              <a:t>リスクマップ・優先順位表をGIS上にレイヤー表示</a:t>
            </a:r>
          </a:p>
        </p:txBody>
      </p:sp>
      <p:sp>
        <p:nvSpPr>
          <p:cNvPr id="39" name="Rectangle 38"/>
          <p:cNvSpPr/>
          <p:nvPr/>
        </p:nvSpPr>
        <p:spPr>
          <a:xfrm>
            <a:off x="4628784" y="4357116"/>
            <a:ext cx="3720602"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692792" y="4430268"/>
            <a:ext cx="3592586" cy="806958"/>
          </a:xfrm>
          <a:prstGeom prst="rect">
            <a:avLst/>
          </a:prstGeom>
          <a:noFill/>
        </p:spPr>
        <p:txBody>
          <a:bodyPr wrap="square" anchor="t">
            <a:spAutoFit/>
          </a:bodyPr>
          <a:lstStyle/>
          <a:p>
            <a:pPr algn="l"/>
            <a:r>
              <a:rPr b="0" sz="1300">
                <a:solidFill>
                  <a:srgbClr val="1A1A1A"/>
                </a:solidFill>
                <a:latin typeface="Noto Sans JP"/>
              </a:rPr>
              <a:t>AI予測結果のGISレイヤーへのシームレス統合出力</a:t>
            </a:r>
          </a:p>
        </p:txBody>
      </p:sp>
      <p:sp>
        <p:nvSpPr>
          <p:cNvPr id="41" name="Rectangle 40"/>
          <p:cNvSpPr/>
          <p:nvPr/>
        </p:nvSpPr>
        <p:spPr>
          <a:xfrm>
            <a:off x="8349386" y="4357116"/>
            <a:ext cx="3382365"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13394" y="4430268"/>
            <a:ext cx="3254349" cy="806958"/>
          </a:xfrm>
          <a:prstGeom prst="rect">
            <a:avLst/>
          </a:prstGeom>
          <a:noFill/>
        </p:spPr>
        <p:txBody>
          <a:bodyPr wrap="square" anchor="t">
            <a:spAutoFit/>
          </a:bodyPr>
          <a:lstStyle/>
          <a:p>
            <a:pPr algn="l"/>
            <a:r>
              <a:rPr b="0" sz="1300">
                <a:solidFill>
                  <a:srgbClr val="1A1A1A"/>
                </a:solidFill>
                <a:latin typeface="Noto Sans JP"/>
              </a:rPr>
              <a:t>TUMSYダッシュボード上でのリアルタイム表示・UI</a:t>
            </a:r>
          </a:p>
        </p:txBody>
      </p:sp>
      <p:sp>
        <p:nvSpPr>
          <p:cNvPr id="43" name="Rectangle 42"/>
          <p:cNvSpPr/>
          <p:nvPr/>
        </p:nvSpPr>
        <p:spPr>
          <a:xfrm>
            <a:off x="457200" y="529666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57200" y="5310378"/>
            <a:ext cx="1014709"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21208" y="5383530"/>
            <a:ext cx="886693" cy="806958"/>
          </a:xfrm>
          <a:prstGeom prst="rect">
            <a:avLst/>
          </a:prstGeom>
          <a:noFill/>
        </p:spPr>
        <p:txBody>
          <a:bodyPr wrap="square" anchor="t">
            <a:spAutoFit/>
          </a:bodyPr>
          <a:lstStyle/>
          <a:p>
            <a:pPr algn="l"/>
            <a:r>
              <a:rPr b="1" sz="1300">
                <a:solidFill>
                  <a:srgbClr val="00529B"/>
                </a:solidFill>
                <a:latin typeface="Noto Sans JP"/>
              </a:rPr>
              <a:t>D 意思決定</a:t>
            </a:r>
          </a:p>
        </p:txBody>
      </p:sp>
      <p:sp>
        <p:nvSpPr>
          <p:cNvPr id="46" name="Rectangle 45"/>
          <p:cNvSpPr/>
          <p:nvPr/>
        </p:nvSpPr>
        <p:spPr>
          <a:xfrm>
            <a:off x="1471909" y="5310378"/>
            <a:ext cx="3156874"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535917" y="5383530"/>
            <a:ext cx="3028858" cy="806958"/>
          </a:xfrm>
          <a:prstGeom prst="rect">
            <a:avLst/>
          </a:prstGeom>
          <a:noFill/>
        </p:spPr>
        <p:txBody>
          <a:bodyPr wrap="square" anchor="t">
            <a:spAutoFit/>
          </a:bodyPr>
          <a:lstStyle/>
          <a:p>
            <a:pPr algn="l"/>
            <a:r>
              <a:rPr b="0" sz="1200">
                <a:solidFill>
                  <a:srgbClr val="1A1A1A"/>
                </a:solidFill>
                <a:latin typeface="Noto Sans JP"/>
              </a:rPr>
              <a:t>EBPM更新計画・交付金申請根拠・議会説明資料の自動生成</a:t>
            </a:r>
          </a:p>
        </p:txBody>
      </p:sp>
      <p:sp>
        <p:nvSpPr>
          <p:cNvPr id="48" name="Rectangle 47"/>
          <p:cNvSpPr/>
          <p:nvPr/>
        </p:nvSpPr>
        <p:spPr>
          <a:xfrm>
            <a:off x="4628784" y="5310378"/>
            <a:ext cx="3720602"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692792" y="5383530"/>
            <a:ext cx="3592586" cy="806958"/>
          </a:xfrm>
          <a:prstGeom prst="rect">
            <a:avLst/>
          </a:prstGeom>
          <a:noFill/>
        </p:spPr>
        <p:txBody>
          <a:bodyPr wrap="square" anchor="t">
            <a:spAutoFit/>
          </a:bodyPr>
          <a:lstStyle/>
          <a:p>
            <a:pPr algn="l"/>
            <a:r>
              <a:rPr b="0" sz="1300">
                <a:solidFill>
                  <a:srgbClr val="1A1A1A"/>
                </a:solidFill>
                <a:latin typeface="Noto Sans JP"/>
              </a:rPr>
              <a:t>定量エビデンスレポート自動生成・投資最適化提案</a:t>
            </a:r>
          </a:p>
        </p:txBody>
      </p:sp>
      <p:sp>
        <p:nvSpPr>
          <p:cNvPr id="50" name="Rectangle 49"/>
          <p:cNvSpPr/>
          <p:nvPr/>
        </p:nvSpPr>
        <p:spPr>
          <a:xfrm>
            <a:off x="8349386" y="5310378"/>
            <a:ext cx="3382365"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13394" y="5383530"/>
            <a:ext cx="3254349" cy="806958"/>
          </a:xfrm>
          <a:prstGeom prst="rect">
            <a:avLst/>
          </a:prstGeom>
          <a:noFill/>
        </p:spPr>
        <p:txBody>
          <a:bodyPr wrap="square" anchor="t">
            <a:spAutoFit/>
          </a:bodyPr>
          <a:lstStyle/>
          <a:p>
            <a:pPr algn="l"/>
            <a:r>
              <a:rPr b="0" sz="1300">
                <a:solidFill>
                  <a:srgbClr val="1A1A1A"/>
                </a:solidFill>
                <a:latin typeface="Noto Sans JP"/>
              </a:rPr>
              <a:t>水道局との信頼関係を活かした提案営業・契約推進</a:t>
            </a:r>
          </a:p>
        </p:txBody>
      </p:sp>
      <p:sp>
        <p:nvSpPr>
          <p:cNvPr id="52" name="Rectangle 51"/>
          <p:cNvSpPr/>
          <p:nvPr/>
        </p:nvSpPr>
        <p:spPr>
          <a:xfrm>
            <a:off x="457200" y="624992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531352" cy="320040"/>
          </a:xfrm>
          <a:prstGeom prst="rect">
            <a:avLst/>
          </a:prstGeom>
          <a:noFill/>
        </p:spPr>
        <p:txBody>
          <a:bodyPr wrap="square" anchor="ctr">
            <a:spAutoFit/>
          </a:bodyPr>
          <a:lstStyle/>
          <a:p>
            <a:pPr algn="l"/>
            <a:r>
              <a:rPr b="0" sz="1200">
                <a:solidFill>
                  <a:srgbClr val="8CB1D2"/>
                </a:solidFill>
                <a:latin typeface="Noto Sans"/>
              </a:rPr>
              <a:t>04  TRACK RECORD</a:t>
            </a:r>
          </a:p>
        </p:txBody>
      </p:sp>
      <p:sp>
        <p:nvSpPr>
          <p:cNvPr id="4" name="TextBox 3"/>
          <p:cNvSpPr txBox="1"/>
          <p:nvPr/>
        </p:nvSpPr>
        <p:spPr>
          <a:xfrm>
            <a:off x="457200" y="384048"/>
            <a:ext cx="8531352" cy="530352"/>
          </a:xfrm>
          <a:prstGeom prst="rect">
            <a:avLst/>
          </a:prstGeom>
          <a:noFill/>
        </p:spPr>
        <p:txBody>
          <a:bodyPr wrap="square" anchor="ctr">
            <a:spAutoFit/>
          </a:bodyPr>
          <a:lstStyle/>
          <a:p>
            <a:pPr algn="l"/>
            <a:r>
              <a:rPr b="1" sz="2600">
                <a:solidFill>
                  <a:srgbClr val="FFFFFF"/>
                </a:solidFill>
                <a:latin typeface="Noto Sans JP"/>
              </a:rPr>
              <a:t>PASCO協業での実績——信頼性の証明</a:t>
            </a:r>
          </a:p>
        </p:txBody>
      </p:sp>
      <p:sp>
        <p:nvSpPr>
          <p:cNvPr id="5" name="Rectangle 4"/>
          <p:cNvSpPr/>
          <p:nvPr/>
        </p:nvSpPr>
        <p:spPr>
          <a:xfrm>
            <a:off x="0" y="123444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TextBox 6"/>
          <p:cNvSpPr txBox="1"/>
          <p:nvPr/>
        </p:nvSpPr>
        <p:spPr>
          <a:xfrm>
            <a:off x="457200" y="1353312"/>
            <a:ext cx="11000232" cy="502920"/>
          </a:xfrm>
          <a:prstGeom prst="rect">
            <a:avLst/>
          </a:prstGeom>
          <a:noFill/>
        </p:spPr>
        <p:txBody>
          <a:bodyPr wrap="square" anchor="ctr">
            <a:spAutoFit/>
          </a:bodyPr>
          <a:lstStyle/>
          <a:p>
            <a:pPr algn="l"/>
            <a:r>
              <a:rPr b="1" sz="1600">
                <a:solidFill>
                  <a:srgbClr val="1A1A1A"/>
                </a:solidFill>
                <a:latin typeface="Noto Sans JP"/>
              </a:rPr>
              <a:t>PASCOとの協業で複数自治体への導入実績を保有。「既存データのみで導入可能」という高い再現性が検証済みである。</a:t>
            </a:r>
          </a:p>
        </p:txBody>
      </p:sp>
      <p:sp>
        <p:nvSpPr>
          <p:cNvPr id="8" name="Rectangle 7"/>
          <p:cNvSpPr/>
          <p:nvPr/>
        </p:nvSpPr>
        <p:spPr>
          <a:xfrm>
            <a:off x="457200" y="1892808"/>
            <a:ext cx="110002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039112"/>
            <a:ext cx="5408676" cy="5029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039112"/>
            <a:ext cx="5225796" cy="502920"/>
          </a:xfrm>
          <a:prstGeom prst="rect">
            <a:avLst/>
          </a:prstGeom>
          <a:noFill/>
        </p:spPr>
        <p:txBody>
          <a:bodyPr wrap="square" anchor="ctr">
            <a:spAutoFit/>
          </a:bodyPr>
          <a:lstStyle/>
          <a:p>
            <a:pPr algn="ctr"/>
            <a:r>
              <a:rPr b="1" sz="1600">
                <a:solidFill>
                  <a:srgbClr val="FFFFFF"/>
                </a:solidFill>
                <a:latin typeface="Noto Sans JP"/>
              </a:rPr>
              <a:t>導入実績</a:t>
            </a:r>
          </a:p>
        </p:txBody>
      </p:sp>
      <p:sp>
        <p:nvSpPr>
          <p:cNvPr id="11" name="Rectangle 10"/>
          <p:cNvSpPr/>
          <p:nvPr/>
        </p:nvSpPr>
        <p:spPr>
          <a:xfrm>
            <a:off x="548640" y="283464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633472"/>
            <a:ext cx="5042916" cy="548640"/>
          </a:xfrm>
          <a:prstGeom prst="rect">
            <a:avLst/>
          </a:prstGeom>
          <a:noFill/>
        </p:spPr>
        <p:txBody>
          <a:bodyPr wrap="square" anchor="ctr">
            <a:spAutoFit/>
          </a:bodyPr>
          <a:lstStyle/>
          <a:p>
            <a:pPr algn="l"/>
            <a:r>
              <a:rPr b="0" sz="1300">
                <a:solidFill>
                  <a:srgbClr val="1A1A1A"/>
                </a:solidFill>
                <a:latin typeface="Noto Sans JP"/>
              </a:rPr>
              <a:t>【岡崎市（愛知県）】上水道管路のAIリスク評価を実施。既存GISデータのみで管路ごとの更新優先度を算出し議会説明資料として採用</a:t>
            </a:r>
          </a:p>
        </p:txBody>
      </p:sp>
      <p:sp>
        <p:nvSpPr>
          <p:cNvPr id="13" name="Rectangle 12"/>
          <p:cNvSpPr/>
          <p:nvPr/>
        </p:nvSpPr>
        <p:spPr>
          <a:xfrm>
            <a:off x="548640" y="342900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227832"/>
            <a:ext cx="5042916" cy="548640"/>
          </a:xfrm>
          <a:prstGeom prst="rect">
            <a:avLst/>
          </a:prstGeom>
          <a:noFill/>
        </p:spPr>
        <p:txBody>
          <a:bodyPr wrap="square" anchor="ctr">
            <a:spAutoFit/>
          </a:bodyPr>
          <a:lstStyle/>
          <a:p>
            <a:pPr algn="l"/>
            <a:r>
              <a:rPr b="0" sz="1300">
                <a:solidFill>
                  <a:srgbClr val="1A1A1A"/>
                </a:solidFill>
                <a:latin typeface="Noto Sans JP"/>
              </a:rPr>
              <a:t>【姫路市他】複数都市へ横展開中。基盤モデルにより短期導入を実現——データが少ない自治体でも高精度なリスク予測を提供</a:t>
            </a:r>
          </a:p>
        </p:txBody>
      </p:sp>
      <p:sp>
        <p:nvSpPr>
          <p:cNvPr id="15" name="Rectangle 14"/>
          <p:cNvSpPr/>
          <p:nvPr/>
        </p:nvSpPr>
        <p:spPr>
          <a:xfrm>
            <a:off x="548640" y="402336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822192"/>
            <a:ext cx="5042916" cy="548640"/>
          </a:xfrm>
          <a:prstGeom prst="rect">
            <a:avLst/>
          </a:prstGeom>
          <a:noFill/>
        </p:spPr>
        <p:txBody>
          <a:bodyPr wrap="square" anchor="ctr">
            <a:spAutoFit/>
          </a:bodyPr>
          <a:lstStyle/>
          <a:p>
            <a:pPr algn="l"/>
            <a:r>
              <a:rPr b="0" sz="1300">
                <a:solidFill>
                  <a:srgbClr val="1A1A1A"/>
                </a:solidFill>
                <a:latin typeface="Noto Sans JP"/>
              </a:rPr>
              <a:t>【福井県】上水道管理DXの全体アーキテクチャ構築。GIS×AI×公開型GISの将来像を提示し、県のDX計画に組み込まれた</a:t>
            </a:r>
          </a:p>
        </p:txBody>
      </p:sp>
      <p:sp>
        <p:nvSpPr>
          <p:cNvPr id="17" name="Rectangle 16"/>
          <p:cNvSpPr/>
          <p:nvPr/>
        </p:nvSpPr>
        <p:spPr>
          <a:xfrm>
            <a:off x="6323076" y="2039112"/>
            <a:ext cx="5408676" cy="5029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4516" y="2039112"/>
            <a:ext cx="5225796" cy="502920"/>
          </a:xfrm>
          <a:prstGeom prst="rect">
            <a:avLst/>
          </a:prstGeom>
          <a:noFill/>
        </p:spPr>
        <p:txBody>
          <a:bodyPr wrap="square" anchor="ctr">
            <a:spAutoFit/>
          </a:bodyPr>
          <a:lstStyle/>
          <a:p>
            <a:pPr algn="ctr"/>
            <a:r>
              <a:rPr b="1" sz="1600">
                <a:solidFill>
                  <a:srgbClr val="FFFFFF"/>
                </a:solidFill>
                <a:latin typeface="Noto Sans JP"/>
              </a:rPr>
              <a:t>PASCOからの評価</a:t>
            </a:r>
          </a:p>
        </p:txBody>
      </p:sp>
      <p:sp>
        <p:nvSpPr>
          <p:cNvPr id="19" name="Rectangle 18"/>
          <p:cNvSpPr/>
          <p:nvPr/>
        </p:nvSpPr>
        <p:spPr>
          <a:xfrm>
            <a:off x="6414516" y="283464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97396" y="2633472"/>
            <a:ext cx="5042916" cy="548640"/>
          </a:xfrm>
          <a:prstGeom prst="rect">
            <a:avLst/>
          </a:prstGeom>
          <a:noFill/>
        </p:spPr>
        <p:txBody>
          <a:bodyPr wrap="square" anchor="ctr">
            <a:spAutoFit/>
          </a:bodyPr>
          <a:lstStyle/>
          <a:p>
            <a:pPr algn="l"/>
            <a:r>
              <a:rPr b="0" sz="1300">
                <a:solidFill>
                  <a:srgbClr val="1A1A1A"/>
                </a:solidFill>
                <a:latin typeface="Noto Sans JP"/>
              </a:rPr>
              <a:t>「既存データのみで導入可能。新規センサー不要で段階導入しやすい」——小規模自治体から大都市まで適用可能なスケーラビリティ</a:t>
            </a:r>
          </a:p>
        </p:txBody>
      </p:sp>
      <p:sp>
        <p:nvSpPr>
          <p:cNvPr id="21" name="Rectangle 20"/>
          <p:cNvSpPr/>
          <p:nvPr/>
        </p:nvSpPr>
        <p:spPr>
          <a:xfrm>
            <a:off x="6414516" y="342900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97396" y="3227832"/>
            <a:ext cx="5042916" cy="548640"/>
          </a:xfrm>
          <a:prstGeom prst="rect">
            <a:avLst/>
          </a:prstGeom>
          <a:noFill/>
        </p:spPr>
        <p:txBody>
          <a:bodyPr wrap="square" anchor="ctr">
            <a:spAutoFit/>
          </a:bodyPr>
          <a:lstStyle/>
          <a:p>
            <a:pPr algn="l"/>
            <a:r>
              <a:rPr b="0" sz="1300">
                <a:solidFill>
                  <a:srgbClr val="1A1A1A"/>
                </a:solidFill>
                <a:latin typeface="Noto Sans JP"/>
              </a:rPr>
              <a:t>「管1本単位のミクロな故障予測が可能。経験・属人判断に依存しない合理的優先順位」——定量的な意思決定基盤として高評価</a:t>
            </a:r>
          </a:p>
        </p:txBody>
      </p:sp>
      <p:sp>
        <p:nvSpPr>
          <p:cNvPr id="23" name="Rectangle 22"/>
          <p:cNvSpPr/>
          <p:nvPr/>
        </p:nvSpPr>
        <p:spPr>
          <a:xfrm>
            <a:off x="6414516" y="402336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7396" y="3822192"/>
            <a:ext cx="5042916" cy="548640"/>
          </a:xfrm>
          <a:prstGeom prst="rect">
            <a:avLst/>
          </a:prstGeom>
          <a:noFill/>
        </p:spPr>
        <p:txBody>
          <a:bodyPr wrap="square" anchor="ctr">
            <a:spAutoFit/>
          </a:bodyPr>
          <a:lstStyle/>
          <a:p>
            <a:pPr algn="l"/>
            <a:r>
              <a:rPr b="0" sz="1300">
                <a:solidFill>
                  <a:srgbClr val="1A1A1A"/>
                </a:solidFill>
                <a:latin typeface="Noto Sans JP"/>
              </a:rPr>
              <a:t>「衛星・MMS等の先端データも統合可能。交付金申請・国施策との親和性が高い」——自治体の採択率向上に直結</a:t>
            </a:r>
          </a:p>
        </p:txBody>
      </p:sp>
      <p:sp>
        <p:nvSpPr>
          <p:cNvPr id="25" name="Rectangle 24"/>
          <p:cNvSpPr/>
          <p:nvPr/>
        </p:nvSpPr>
        <p:spPr>
          <a:xfrm>
            <a:off x="6048756" y="2039112"/>
            <a:ext cx="18288" cy="417880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8714232" y="0"/>
            <a:ext cx="3474720" cy="6858000"/>
          </a:xfrm>
          <a:prstGeom prst="rect">
            <a:avLst/>
          </a:prstGeom>
        </p:spPr>
      </p:pic>
      <p:sp>
        <p:nvSpPr>
          <p:cNvPr id="3" name="Rectangle 2"/>
          <p:cNvSpPr/>
          <p:nvPr/>
        </p:nvSpPr>
        <p:spPr>
          <a:xfrm>
            <a:off x="8714232" y="0"/>
            <a:ext cx="45720" cy="68580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5330952" cy="320040"/>
          </a:xfrm>
          <a:prstGeom prst="rect">
            <a:avLst/>
          </a:prstGeom>
          <a:noFill/>
        </p:spPr>
        <p:txBody>
          <a:bodyPr wrap="square" anchor="ctr">
            <a:spAutoFit/>
          </a:bodyPr>
          <a:lstStyle/>
          <a:p>
            <a:pPr algn="l"/>
            <a:r>
              <a:rPr b="0" sz="1200">
                <a:solidFill>
                  <a:srgbClr val="8CB1D2"/>
                </a:solidFill>
                <a:latin typeface="Noto Sans"/>
              </a:rPr>
              <a:t>05  PARTNER</a:t>
            </a:r>
          </a:p>
        </p:txBody>
      </p:sp>
      <p:sp>
        <p:nvSpPr>
          <p:cNvPr id="6" name="TextBox 5"/>
          <p:cNvSpPr txBox="1"/>
          <p:nvPr/>
        </p:nvSpPr>
        <p:spPr>
          <a:xfrm>
            <a:off x="457200" y="384048"/>
            <a:ext cx="5330952" cy="530352"/>
          </a:xfrm>
          <a:prstGeom prst="rect">
            <a:avLst/>
          </a:prstGeom>
          <a:noFill/>
        </p:spPr>
        <p:txBody>
          <a:bodyPr wrap="square" anchor="ctr">
            <a:spAutoFit/>
          </a:bodyPr>
          <a:lstStyle/>
          <a:p>
            <a:pPr algn="l"/>
            <a:r>
              <a:rPr b="1" sz="2600">
                <a:solidFill>
                  <a:srgbClr val="FFFFFF"/>
                </a:solidFill>
                <a:latin typeface="Noto Sans JP"/>
              </a:rPr>
              <a:t>東京ガスGIS事業（TUMSY）の概要</a:t>
            </a:r>
          </a:p>
        </p:txBody>
      </p:sp>
      <p:sp>
        <p:nvSpPr>
          <p:cNvPr id="7" name="Rectangle 6"/>
          <p:cNvSpPr/>
          <p:nvPr/>
        </p:nvSpPr>
        <p:spPr>
          <a:xfrm>
            <a:off x="0" y="123444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valix_logo_white_16x9.png"/>
          <p:cNvPicPr>
            <a:picLocks noChangeAspect="1"/>
          </p:cNvPicPr>
          <p:nvPr/>
        </p:nvPicPr>
        <p:blipFill>
          <a:blip r:embed="rId3"/>
          <a:stretch>
            <a:fillRect/>
          </a:stretch>
        </p:blipFill>
        <p:spPr>
          <a:xfrm>
            <a:off x="9656064" y="182880"/>
            <a:ext cx="1464775" cy="822960"/>
          </a:xfrm>
          <a:prstGeom prst="rect">
            <a:avLst/>
          </a:prstGeom>
        </p:spPr>
      </p:pic>
      <p:sp>
        <p:nvSpPr>
          <p:cNvPr id="9" name="TextBox 8"/>
          <p:cNvSpPr txBox="1"/>
          <p:nvPr/>
        </p:nvSpPr>
        <p:spPr>
          <a:xfrm>
            <a:off x="457200" y="1353312"/>
            <a:ext cx="7799832" cy="502920"/>
          </a:xfrm>
          <a:prstGeom prst="rect">
            <a:avLst/>
          </a:prstGeom>
          <a:noFill/>
        </p:spPr>
        <p:txBody>
          <a:bodyPr wrap="square" anchor="ctr">
            <a:spAutoFit/>
          </a:bodyPr>
          <a:lstStyle/>
          <a:p>
            <a:pPr algn="l"/>
            <a:r>
              <a:rPr b="1" sz="1300">
                <a:solidFill>
                  <a:srgbClr val="1A1A1A"/>
                </a:solidFill>
                <a:latin typeface="Noto Sans JP"/>
              </a:rPr>
              <a:t>TGESはGIS専業のPASCOとは異なり「インフラオーナー側の視点」を持つ。この対等な対話力がINFRAI外販の最大の差別化要因となる。</a:t>
            </a:r>
          </a:p>
        </p:txBody>
      </p:sp>
      <p:sp>
        <p:nvSpPr>
          <p:cNvPr id="10" name="Rectangle 9"/>
          <p:cNvSpPr/>
          <p:nvPr/>
        </p:nvSpPr>
        <p:spPr>
          <a:xfrm>
            <a:off x="457200" y="1892808"/>
            <a:ext cx="77998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21208" y="2415844"/>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039112"/>
            <a:ext cx="7781544" cy="854049"/>
          </a:xfrm>
          <a:prstGeom prst="rect">
            <a:avLst/>
          </a:prstGeom>
          <a:noFill/>
        </p:spPr>
        <p:txBody>
          <a:bodyPr wrap="square" anchor="ctr">
            <a:spAutoFit/>
          </a:bodyPr>
          <a:lstStyle/>
          <a:p>
            <a:r>
              <a:rPr sz="1550">
                <a:solidFill>
                  <a:srgbClr val="1A1A1A"/>
                </a:solidFill>
                <a:latin typeface="Noto Sans JP"/>
              </a:rPr>
              <a:t>【TGESとは】東京ガスエンジニアリングソリューションズ株式会社——東京ガスグループのインフラ技術・GIS外販事業の中核。都市ガス管路管理のデジタル化で培った20年超の実績を持つ</a:t>
            </a:r>
          </a:p>
        </p:txBody>
      </p:sp>
      <p:sp>
        <p:nvSpPr>
          <p:cNvPr id="13" name="Rectangle 12"/>
          <p:cNvSpPr/>
          <p:nvPr/>
        </p:nvSpPr>
        <p:spPr>
          <a:xfrm>
            <a:off x="457200" y="2879445"/>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1208" y="3269894"/>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2893161"/>
            <a:ext cx="7781544" cy="854049"/>
          </a:xfrm>
          <a:prstGeom prst="rect">
            <a:avLst/>
          </a:prstGeom>
          <a:noFill/>
        </p:spPr>
        <p:txBody>
          <a:bodyPr wrap="square" anchor="ctr">
            <a:spAutoFit/>
          </a:bodyPr>
          <a:lstStyle/>
          <a:p>
            <a:r>
              <a:rPr sz="1550">
                <a:solidFill>
                  <a:srgbClr val="1A1A1A"/>
                </a:solidFill>
                <a:latin typeface="Noto Sans JP"/>
              </a:rPr>
              <a:t>【TUMSYの位置づけ】公共インフラ向けGISプラットフォーム。水道・ガス・電力・下水道の管路台帳管理を一元化し、施設情報・維持管理・モバイルGIS・公開型GISを統合提供</a:t>
            </a:r>
          </a:p>
        </p:txBody>
      </p:sp>
      <p:sp>
        <p:nvSpPr>
          <p:cNvPr id="16" name="Rectangle 15"/>
          <p:cNvSpPr/>
          <p:nvPr/>
        </p:nvSpPr>
        <p:spPr>
          <a:xfrm>
            <a:off x="457200" y="3733495"/>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21208" y="4123944"/>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47211"/>
            <a:ext cx="7781544" cy="854049"/>
          </a:xfrm>
          <a:prstGeom prst="rect">
            <a:avLst/>
          </a:prstGeom>
          <a:noFill/>
        </p:spPr>
        <p:txBody>
          <a:bodyPr wrap="square" anchor="ctr">
            <a:spAutoFit/>
          </a:bodyPr>
          <a:lstStyle/>
          <a:p>
            <a:r>
              <a:rPr sz="1550">
                <a:solidFill>
                  <a:srgbClr val="1A1A1A"/>
                </a:solidFill>
                <a:latin typeface="Noto Sans JP"/>
              </a:rPr>
              <a:t>【顧客基盤】東京・横浜・名古屋・大阪等の主要大都市を含む水道事業体に導入実績。公共入札の信頼性と長期サポート体制を保有</a:t>
            </a:r>
          </a:p>
        </p:txBody>
      </p:sp>
      <p:sp>
        <p:nvSpPr>
          <p:cNvPr id="19" name="Rectangle 18"/>
          <p:cNvSpPr/>
          <p:nvPr/>
        </p:nvSpPr>
        <p:spPr>
          <a:xfrm>
            <a:off x="457200" y="458754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1208" y="4977993"/>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4601260"/>
            <a:ext cx="7781544" cy="854049"/>
          </a:xfrm>
          <a:prstGeom prst="rect">
            <a:avLst/>
          </a:prstGeom>
          <a:noFill/>
        </p:spPr>
        <p:txBody>
          <a:bodyPr wrap="square" anchor="ctr">
            <a:spAutoFit/>
          </a:bodyPr>
          <a:lstStyle/>
          <a:p>
            <a:r>
              <a:rPr sz="1550">
                <a:solidFill>
                  <a:srgbClr val="1A1A1A"/>
                </a:solidFill>
                <a:latin typeface="Noto Sans JP"/>
              </a:rPr>
              <a:t>【ドメイン知見】ガス管路の保安管理・AI活用の技術蓄積がそのまま水道管路に転用可能——インフラ老朽化対策のドメインエキスパートとしてINFRAIとの親和性が極めて高い</a:t>
            </a:r>
          </a:p>
        </p:txBody>
      </p:sp>
      <p:sp>
        <p:nvSpPr>
          <p:cNvPr id="22" name="Rectangle 21"/>
          <p:cNvSpPr/>
          <p:nvPr/>
        </p:nvSpPr>
        <p:spPr>
          <a:xfrm>
            <a:off x="457200" y="544159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1208" y="5832043"/>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5455310"/>
            <a:ext cx="7781544" cy="854049"/>
          </a:xfrm>
          <a:prstGeom prst="rect">
            <a:avLst/>
          </a:prstGeom>
          <a:noFill/>
        </p:spPr>
        <p:txBody>
          <a:bodyPr wrap="square" anchor="ctr">
            <a:spAutoFit/>
          </a:bodyPr>
          <a:lstStyle/>
          <a:p>
            <a:r>
              <a:rPr sz="1550">
                <a:solidFill>
                  <a:srgbClr val="1A1A1A"/>
                </a:solidFill>
                <a:latin typeface="Noto Sans JP"/>
              </a:rPr>
              <a:t>【PASCOとの差別化】PASCOは測量・GIS専業だが、TGESは「インフラオーナー側の視点」を持つ——公共事業体との対等な対話力と提案の説得力で優位</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531352" cy="320040"/>
          </a:xfrm>
          <a:prstGeom prst="rect">
            <a:avLst/>
          </a:prstGeom>
          <a:noFill/>
        </p:spPr>
        <p:txBody>
          <a:bodyPr wrap="square" anchor="ctr">
            <a:spAutoFit/>
          </a:bodyPr>
          <a:lstStyle/>
          <a:p>
            <a:pPr algn="l"/>
            <a:r>
              <a:rPr b="0" sz="1200">
                <a:solidFill>
                  <a:srgbClr val="8CB1D2"/>
                </a:solidFill>
                <a:latin typeface="Noto Sans"/>
              </a:rPr>
              <a:t>06  JOINT PACKAGE</a:t>
            </a:r>
          </a:p>
        </p:txBody>
      </p:sp>
      <p:sp>
        <p:nvSpPr>
          <p:cNvPr id="4" name="TextBox 3"/>
          <p:cNvSpPr txBox="1"/>
          <p:nvPr/>
        </p:nvSpPr>
        <p:spPr>
          <a:xfrm>
            <a:off x="457200" y="384048"/>
            <a:ext cx="8531352" cy="530352"/>
          </a:xfrm>
          <a:prstGeom prst="rect">
            <a:avLst/>
          </a:prstGeom>
          <a:noFill/>
        </p:spPr>
        <p:txBody>
          <a:bodyPr wrap="square" anchor="ctr">
            <a:spAutoFit/>
          </a:bodyPr>
          <a:lstStyle/>
          <a:p>
            <a:pPr algn="l"/>
            <a:r>
              <a:rPr b="1" sz="2600">
                <a:solidFill>
                  <a:srgbClr val="FFFFFF"/>
                </a:solidFill>
                <a:latin typeface="Noto Sans JP"/>
              </a:rPr>
              <a:t>共同パッケージ——TUMSY × INFRAI統合ソリューション</a:t>
            </a:r>
          </a:p>
        </p:txBody>
      </p:sp>
      <p:sp>
        <p:nvSpPr>
          <p:cNvPr id="5" name="Rectangle 4"/>
          <p:cNvSpPr/>
          <p:nvPr/>
        </p:nvSpPr>
        <p:spPr>
          <a:xfrm>
            <a:off x="0" y="123444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TextBox 6"/>
          <p:cNvSpPr txBox="1"/>
          <p:nvPr/>
        </p:nvSpPr>
        <p:spPr>
          <a:xfrm>
            <a:off x="457200" y="1353312"/>
            <a:ext cx="11000232" cy="502920"/>
          </a:xfrm>
          <a:prstGeom prst="rect">
            <a:avLst/>
          </a:prstGeom>
          <a:noFill/>
        </p:spPr>
        <p:txBody>
          <a:bodyPr wrap="square" anchor="ctr">
            <a:spAutoFit/>
          </a:bodyPr>
          <a:lstStyle/>
          <a:p>
            <a:pPr algn="l"/>
            <a:r>
              <a:rPr b="1" sz="1600">
                <a:solidFill>
                  <a:srgbClr val="1A1A1A"/>
                </a:solidFill>
                <a:latin typeface="Noto Sans JP"/>
              </a:rPr>
              <a:t>GIS基盤（TUMSY）とAI診断（INFRAI）を統合した市場唯一のワンストップソリューション。両社の強みが欠けることなく機能する。</a:t>
            </a:r>
          </a:p>
        </p:txBody>
      </p:sp>
      <p:sp>
        <p:nvSpPr>
          <p:cNvPr id="8" name="Rectangle 7"/>
          <p:cNvSpPr/>
          <p:nvPr/>
        </p:nvSpPr>
        <p:spPr>
          <a:xfrm>
            <a:off x="457200" y="1892808"/>
            <a:ext cx="110002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039112"/>
            <a:ext cx="5408676" cy="5029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039112"/>
            <a:ext cx="5225796" cy="502920"/>
          </a:xfrm>
          <a:prstGeom prst="rect">
            <a:avLst/>
          </a:prstGeom>
          <a:noFill/>
        </p:spPr>
        <p:txBody>
          <a:bodyPr wrap="square" anchor="ctr">
            <a:spAutoFit/>
          </a:bodyPr>
          <a:lstStyle/>
          <a:p>
            <a:pPr algn="ctr"/>
            <a:r>
              <a:rPr b="1" sz="1600">
                <a:solidFill>
                  <a:srgbClr val="FFFFFF"/>
                </a:solidFill>
                <a:latin typeface="Noto Sans JP"/>
              </a:rPr>
              <a:t>TUMSY（東京ガス提供）</a:t>
            </a:r>
          </a:p>
        </p:txBody>
      </p:sp>
      <p:sp>
        <p:nvSpPr>
          <p:cNvPr id="11" name="Rectangle 10"/>
          <p:cNvSpPr/>
          <p:nvPr/>
        </p:nvSpPr>
        <p:spPr>
          <a:xfrm>
            <a:off x="548640" y="283464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633472"/>
            <a:ext cx="5042916" cy="548640"/>
          </a:xfrm>
          <a:prstGeom prst="rect">
            <a:avLst/>
          </a:prstGeom>
          <a:noFill/>
        </p:spPr>
        <p:txBody>
          <a:bodyPr wrap="square" anchor="ctr">
            <a:spAutoFit/>
          </a:bodyPr>
          <a:lstStyle/>
          <a:p>
            <a:pPr algn="l"/>
            <a:r>
              <a:rPr b="0" sz="1300">
                <a:solidFill>
                  <a:srgbClr val="1A1A1A"/>
                </a:solidFill>
                <a:latin typeface="Noto Sans JP"/>
              </a:rPr>
              <a:t>管路台帳GIS基盤——水道・ガス・下水道対応のマルチインフラ管理</a:t>
            </a:r>
          </a:p>
        </p:txBody>
      </p:sp>
      <p:sp>
        <p:nvSpPr>
          <p:cNvPr id="13" name="Rectangle 12"/>
          <p:cNvSpPr/>
          <p:nvPr/>
        </p:nvSpPr>
        <p:spPr>
          <a:xfrm>
            <a:off x="548640" y="342900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227832"/>
            <a:ext cx="5042916" cy="548640"/>
          </a:xfrm>
          <a:prstGeom prst="rect">
            <a:avLst/>
          </a:prstGeom>
          <a:noFill/>
        </p:spPr>
        <p:txBody>
          <a:bodyPr wrap="square" anchor="ctr">
            <a:spAutoFit/>
          </a:bodyPr>
          <a:lstStyle/>
          <a:p>
            <a:pPr algn="l"/>
            <a:r>
              <a:rPr b="0" sz="1300">
                <a:solidFill>
                  <a:srgbClr val="1A1A1A"/>
                </a:solidFill>
                <a:latin typeface="Noto Sans JP"/>
              </a:rPr>
              <a:t>施設情報・維持管理データの一元管理と更新追跡機能</a:t>
            </a:r>
          </a:p>
        </p:txBody>
      </p:sp>
      <p:sp>
        <p:nvSpPr>
          <p:cNvPr id="15" name="Rectangle 14"/>
          <p:cNvSpPr/>
          <p:nvPr/>
        </p:nvSpPr>
        <p:spPr>
          <a:xfrm>
            <a:off x="548640" y="402336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822192"/>
            <a:ext cx="5042916" cy="548640"/>
          </a:xfrm>
          <a:prstGeom prst="rect">
            <a:avLst/>
          </a:prstGeom>
          <a:noFill/>
        </p:spPr>
        <p:txBody>
          <a:bodyPr wrap="square" anchor="ctr">
            <a:spAutoFit/>
          </a:bodyPr>
          <a:lstStyle/>
          <a:p>
            <a:pPr algn="l"/>
            <a:r>
              <a:rPr b="0" sz="1300">
                <a:solidFill>
                  <a:srgbClr val="1A1A1A"/>
                </a:solidFill>
                <a:latin typeface="Noto Sans JP"/>
              </a:rPr>
              <a:t>モバイルGISによる現場情報管理・窓口対応支援</a:t>
            </a:r>
          </a:p>
        </p:txBody>
      </p:sp>
      <p:sp>
        <p:nvSpPr>
          <p:cNvPr id="17" name="Rectangle 16"/>
          <p:cNvSpPr/>
          <p:nvPr/>
        </p:nvSpPr>
        <p:spPr>
          <a:xfrm>
            <a:off x="548640" y="461772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416552"/>
            <a:ext cx="5042916" cy="548640"/>
          </a:xfrm>
          <a:prstGeom prst="rect">
            <a:avLst/>
          </a:prstGeom>
          <a:noFill/>
        </p:spPr>
        <p:txBody>
          <a:bodyPr wrap="square" anchor="ctr">
            <a:spAutoFit/>
          </a:bodyPr>
          <a:lstStyle/>
          <a:p>
            <a:pPr algn="l"/>
            <a:r>
              <a:rPr b="0" sz="1300">
                <a:solidFill>
                  <a:srgbClr val="1A1A1A"/>
                </a:solidFill>
                <a:latin typeface="Noto Sans JP"/>
              </a:rPr>
              <a:t>公開型GIS（住民向け情報公開・災害時断水情報等）</a:t>
            </a:r>
          </a:p>
        </p:txBody>
      </p:sp>
      <p:sp>
        <p:nvSpPr>
          <p:cNvPr id="19" name="Rectangle 18"/>
          <p:cNvSpPr/>
          <p:nvPr/>
        </p:nvSpPr>
        <p:spPr>
          <a:xfrm>
            <a:off x="548640" y="521208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010912"/>
            <a:ext cx="5042916" cy="548640"/>
          </a:xfrm>
          <a:prstGeom prst="rect">
            <a:avLst/>
          </a:prstGeom>
          <a:noFill/>
        </p:spPr>
        <p:txBody>
          <a:bodyPr wrap="square" anchor="ctr">
            <a:spAutoFit/>
          </a:bodyPr>
          <a:lstStyle/>
          <a:p>
            <a:pPr algn="l"/>
            <a:r>
              <a:rPr b="0" sz="1300">
                <a:solidFill>
                  <a:srgbClr val="1A1A1A"/>
                </a:solidFill>
                <a:latin typeface="Noto Sans JP"/>
              </a:rPr>
              <a:t>CADデータ出力・断水影響検索・縦断図作成等の専門機能</a:t>
            </a:r>
          </a:p>
        </p:txBody>
      </p:sp>
      <p:sp>
        <p:nvSpPr>
          <p:cNvPr id="21" name="Rectangle 20"/>
          <p:cNvSpPr/>
          <p:nvPr/>
        </p:nvSpPr>
        <p:spPr>
          <a:xfrm>
            <a:off x="548640" y="580644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605272"/>
            <a:ext cx="5042916" cy="548640"/>
          </a:xfrm>
          <a:prstGeom prst="rect">
            <a:avLst/>
          </a:prstGeom>
          <a:noFill/>
        </p:spPr>
        <p:txBody>
          <a:bodyPr wrap="square" anchor="ctr">
            <a:spAutoFit/>
          </a:bodyPr>
          <a:lstStyle/>
          <a:p>
            <a:pPr algn="l"/>
            <a:r>
              <a:rPr b="0" sz="1300">
                <a:solidFill>
                  <a:srgbClr val="1A1A1A"/>
                </a:solidFill>
                <a:latin typeface="Noto Sans JP"/>
              </a:rPr>
              <a:t>既存TUMSY顧客水道局とのシームレスな移行・連携支援</a:t>
            </a:r>
          </a:p>
        </p:txBody>
      </p:sp>
      <p:sp>
        <p:nvSpPr>
          <p:cNvPr id="23" name="Rectangle 22"/>
          <p:cNvSpPr/>
          <p:nvPr/>
        </p:nvSpPr>
        <p:spPr>
          <a:xfrm>
            <a:off x="6323076" y="2039112"/>
            <a:ext cx="5408676" cy="5029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4516" y="2039112"/>
            <a:ext cx="5225796" cy="502920"/>
          </a:xfrm>
          <a:prstGeom prst="rect">
            <a:avLst/>
          </a:prstGeom>
          <a:noFill/>
        </p:spPr>
        <p:txBody>
          <a:bodyPr wrap="square" anchor="ctr">
            <a:spAutoFit/>
          </a:bodyPr>
          <a:lstStyle/>
          <a:p>
            <a:pPr algn="ctr"/>
            <a:r>
              <a:rPr b="1" sz="1600">
                <a:solidFill>
                  <a:srgbClr val="FFFFFF"/>
                </a:solidFill>
                <a:latin typeface="Noto Sans JP"/>
              </a:rPr>
              <a:t>INFRAI（AIVALIX提供）</a:t>
            </a:r>
          </a:p>
        </p:txBody>
      </p:sp>
      <p:sp>
        <p:nvSpPr>
          <p:cNvPr id="25" name="Rectangle 24"/>
          <p:cNvSpPr/>
          <p:nvPr/>
        </p:nvSpPr>
        <p:spPr>
          <a:xfrm>
            <a:off x="6414516" y="283464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7396" y="2633472"/>
            <a:ext cx="5042916" cy="548640"/>
          </a:xfrm>
          <a:prstGeom prst="rect">
            <a:avLst/>
          </a:prstGeom>
          <a:noFill/>
        </p:spPr>
        <p:txBody>
          <a:bodyPr wrap="square" anchor="ctr">
            <a:spAutoFit/>
          </a:bodyPr>
          <a:lstStyle/>
          <a:p>
            <a:pPr algn="l"/>
            <a:r>
              <a:rPr b="0" sz="1300">
                <a:solidFill>
                  <a:srgbClr val="1A1A1A"/>
                </a:solidFill>
                <a:latin typeface="Noto Sans JP"/>
              </a:rPr>
              <a:t>管1本単位のミクロ故障予測AI——故障確率×影響度のリスクスコア算出</a:t>
            </a:r>
          </a:p>
        </p:txBody>
      </p:sp>
      <p:sp>
        <p:nvSpPr>
          <p:cNvPr id="27" name="Rectangle 26"/>
          <p:cNvSpPr/>
          <p:nvPr/>
        </p:nvSpPr>
        <p:spPr>
          <a:xfrm>
            <a:off x="6414516" y="342900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97396" y="3227832"/>
            <a:ext cx="5042916" cy="548640"/>
          </a:xfrm>
          <a:prstGeom prst="rect">
            <a:avLst/>
          </a:prstGeom>
          <a:noFill/>
        </p:spPr>
        <p:txBody>
          <a:bodyPr wrap="square" anchor="ctr">
            <a:spAutoFit/>
          </a:bodyPr>
          <a:lstStyle/>
          <a:p>
            <a:pPr algn="l"/>
            <a:r>
              <a:rPr b="0" sz="1300">
                <a:solidFill>
                  <a:srgbClr val="1A1A1A"/>
                </a:solidFill>
                <a:latin typeface="Noto Sans JP"/>
              </a:rPr>
              <a:t>基盤モデル（Foundation Model）——少ないデータでも即時導入可能な汎用AI</a:t>
            </a:r>
          </a:p>
        </p:txBody>
      </p:sp>
      <p:sp>
        <p:nvSpPr>
          <p:cNvPr id="29" name="Rectangle 28"/>
          <p:cNvSpPr/>
          <p:nvPr/>
        </p:nvSpPr>
        <p:spPr>
          <a:xfrm>
            <a:off x="6414516" y="402336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97396" y="3822192"/>
            <a:ext cx="5042916" cy="548640"/>
          </a:xfrm>
          <a:prstGeom prst="rect">
            <a:avLst/>
          </a:prstGeom>
          <a:noFill/>
        </p:spPr>
        <p:txBody>
          <a:bodyPr wrap="square" anchor="ctr">
            <a:spAutoFit/>
          </a:bodyPr>
          <a:lstStyle/>
          <a:p>
            <a:pPr algn="l"/>
            <a:r>
              <a:rPr b="0" sz="1300">
                <a:solidFill>
                  <a:srgbClr val="1A1A1A"/>
                </a:solidFill>
                <a:latin typeface="Noto Sans JP"/>
              </a:rPr>
              <a:t>衛星SAR・MMS等の宇宙・高精度センサデータ統合機能</a:t>
            </a:r>
          </a:p>
        </p:txBody>
      </p:sp>
      <p:sp>
        <p:nvSpPr>
          <p:cNvPr id="31" name="Rectangle 30"/>
          <p:cNvSpPr/>
          <p:nvPr/>
        </p:nvSpPr>
        <p:spPr>
          <a:xfrm>
            <a:off x="6414516" y="461772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7396" y="4416552"/>
            <a:ext cx="5042916" cy="548640"/>
          </a:xfrm>
          <a:prstGeom prst="rect">
            <a:avLst/>
          </a:prstGeom>
          <a:noFill/>
        </p:spPr>
        <p:txBody>
          <a:bodyPr wrap="square" anchor="ctr">
            <a:spAutoFit/>
          </a:bodyPr>
          <a:lstStyle/>
          <a:p>
            <a:pPr algn="l"/>
            <a:r>
              <a:rPr b="0" sz="1300">
                <a:solidFill>
                  <a:srgbClr val="1A1A1A"/>
                </a:solidFill>
                <a:latin typeface="Noto Sans JP"/>
              </a:rPr>
              <a:t>EBPM（根拠に基づく政策立案）レポート自動生成——議会・交付金向け</a:t>
            </a:r>
          </a:p>
        </p:txBody>
      </p:sp>
      <p:sp>
        <p:nvSpPr>
          <p:cNvPr id="33" name="Rectangle 32"/>
          <p:cNvSpPr/>
          <p:nvPr/>
        </p:nvSpPr>
        <p:spPr>
          <a:xfrm>
            <a:off x="6414516" y="521208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97396" y="5010912"/>
            <a:ext cx="5042916" cy="548640"/>
          </a:xfrm>
          <a:prstGeom prst="rect">
            <a:avLst/>
          </a:prstGeom>
          <a:noFill/>
        </p:spPr>
        <p:txBody>
          <a:bodyPr wrap="square" anchor="ctr">
            <a:spAutoFit/>
          </a:bodyPr>
          <a:lstStyle/>
          <a:p>
            <a:pPr algn="l"/>
            <a:r>
              <a:rPr b="0" sz="1300">
                <a:solidFill>
                  <a:srgbClr val="1A1A1A"/>
                </a:solidFill>
                <a:latin typeface="Noto Sans JP"/>
              </a:rPr>
              <a:t>更新計画最適化エンジン——限られた予算下での投資効率最大化</a:t>
            </a:r>
          </a:p>
        </p:txBody>
      </p:sp>
      <p:sp>
        <p:nvSpPr>
          <p:cNvPr id="35" name="Rectangle 34"/>
          <p:cNvSpPr/>
          <p:nvPr/>
        </p:nvSpPr>
        <p:spPr>
          <a:xfrm>
            <a:off x="6414516" y="580644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97396" y="5605272"/>
            <a:ext cx="5042916" cy="548640"/>
          </a:xfrm>
          <a:prstGeom prst="rect">
            <a:avLst/>
          </a:prstGeom>
          <a:noFill/>
        </p:spPr>
        <p:txBody>
          <a:bodyPr wrap="square" anchor="ctr">
            <a:spAutoFit/>
          </a:bodyPr>
          <a:lstStyle/>
          <a:p>
            <a:pPr algn="l"/>
            <a:r>
              <a:rPr b="0" sz="1300">
                <a:solidFill>
                  <a:srgbClr val="1A1A1A"/>
                </a:solidFill>
                <a:latin typeface="Noto Sans JP"/>
              </a:rPr>
              <a:t>AI属性管理——GISレイヤーへのシームレス統合、リアルタイム更新</a:t>
            </a:r>
          </a:p>
        </p:txBody>
      </p:sp>
      <p:sp>
        <p:nvSpPr>
          <p:cNvPr id="37" name="Rectangle 36"/>
          <p:cNvSpPr/>
          <p:nvPr/>
        </p:nvSpPr>
        <p:spPr>
          <a:xfrm>
            <a:off x="6048756" y="2039112"/>
            <a:ext cx="18288" cy="417880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531352" cy="320040"/>
          </a:xfrm>
          <a:prstGeom prst="rect">
            <a:avLst/>
          </a:prstGeom>
          <a:noFill/>
        </p:spPr>
        <p:txBody>
          <a:bodyPr wrap="square" anchor="ctr">
            <a:spAutoFit/>
          </a:bodyPr>
          <a:lstStyle/>
          <a:p>
            <a:pPr algn="l"/>
            <a:r>
              <a:rPr b="0" sz="1200">
                <a:solidFill>
                  <a:srgbClr val="8CB1D2"/>
                </a:solidFill>
                <a:latin typeface="Noto Sans"/>
              </a:rPr>
              <a:t>07  ROLES &amp; RESPONSIBILITIES</a:t>
            </a:r>
          </a:p>
        </p:txBody>
      </p:sp>
      <p:sp>
        <p:nvSpPr>
          <p:cNvPr id="4" name="TextBox 3"/>
          <p:cNvSpPr txBox="1"/>
          <p:nvPr/>
        </p:nvSpPr>
        <p:spPr>
          <a:xfrm>
            <a:off x="457200" y="384048"/>
            <a:ext cx="8531352" cy="530352"/>
          </a:xfrm>
          <a:prstGeom prst="rect">
            <a:avLst/>
          </a:prstGeom>
          <a:noFill/>
        </p:spPr>
        <p:txBody>
          <a:bodyPr wrap="square" anchor="ctr">
            <a:spAutoFit/>
          </a:bodyPr>
          <a:lstStyle/>
          <a:p>
            <a:pPr algn="l"/>
            <a:r>
              <a:rPr b="1" sz="2600">
                <a:solidFill>
                  <a:srgbClr val="FFFFFF"/>
                </a:solidFill>
                <a:latin typeface="Noto Sans JP"/>
              </a:rPr>
              <a:t>役割分担——東京ガスとAIVALIXの強みを最大化する分業体制</a:t>
            </a:r>
          </a:p>
        </p:txBody>
      </p:sp>
      <p:sp>
        <p:nvSpPr>
          <p:cNvPr id="5" name="Rectangle 4"/>
          <p:cNvSpPr/>
          <p:nvPr/>
        </p:nvSpPr>
        <p:spPr>
          <a:xfrm>
            <a:off x="0" y="123444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TextBox 6"/>
          <p:cNvSpPr txBox="1"/>
          <p:nvPr/>
        </p:nvSpPr>
        <p:spPr>
          <a:xfrm>
            <a:off x="457200" y="1353312"/>
            <a:ext cx="11000232" cy="502920"/>
          </a:xfrm>
          <a:prstGeom prst="rect">
            <a:avLst/>
          </a:prstGeom>
          <a:noFill/>
        </p:spPr>
        <p:txBody>
          <a:bodyPr wrap="square" anchor="ctr">
            <a:spAutoFit/>
          </a:bodyPr>
          <a:lstStyle/>
          <a:p>
            <a:pPr algn="l"/>
            <a:r>
              <a:rPr b="1" sz="1600">
                <a:solidFill>
                  <a:srgbClr val="1A1A1A"/>
                </a:solidFill>
                <a:latin typeface="Noto Sans JP"/>
              </a:rPr>
              <a:t>営業・顧客関係は東京ガス、AI開発・技術実装はAIVALIX。重複なく明確に分業し、両社の経営資源を最大効率で投下する。</a:t>
            </a:r>
          </a:p>
        </p:txBody>
      </p:sp>
      <p:sp>
        <p:nvSpPr>
          <p:cNvPr id="8" name="Rectangle 7"/>
          <p:cNvSpPr/>
          <p:nvPr/>
        </p:nvSpPr>
        <p:spPr>
          <a:xfrm>
            <a:off x="457200" y="1892808"/>
            <a:ext cx="110002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993392"/>
            <a:ext cx="2029419"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 y="1993392"/>
            <a:ext cx="1937979" cy="457200"/>
          </a:xfrm>
          <a:prstGeom prst="rect">
            <a:avLst/>
          </a:prstGeom>
          <a:noFill/>
        </p:spPr>
        <p:txBody>
          <a:bodyPr wrap="square" anchor="ctr">
            <a:spAutoFit/>
          </a:bodyPr>
          <a:lstStyle/>
          <a:p>
            <a:pPr algn="l"/>
            <a:r>
              <a:rPr b="1" sz="1200">
                <a:solidFill>
                  <a:srgbClr val="FFFFFF"/>
                </a:solidFill>
                <a:latin typeface="Noto Sans JP"/>
              </a:rPr>
              <a:t>領域</a:t>
            </a:r>
          </a:p>
        </p:txBody>
      </p:sp>
      <p:sp>
        <p:nvSpPr>
          <p:cNvPr id="11" name="Rectangle 10"/>
          <p:cNvSpPr/>
          <p:nvPr/>
        </p:nvSpPr>
        <p:spPr>
          <a:xfrm>
            <a:off x="2486619" y="1993392"/>
            <a:ext cx="4735311"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50627" y="1993392"/>
            <a:ext cx="4643871" cy="457200"/>
          </a:xfrm>
          <a:prstGeom prst="rect">
            <a:avLst/>
          </a:prstGeom>
          <a:noFill/>
        </p:spPr>
        <p:txBody>
          <a:bodyPr wrap="square" anchor="ctr">
            <a:spAutoFit/>
          </a:bodyPr>
          <a:lstStyle/>
          <a:p>
            <a:pPr algn="l"/>
            <a:r>
              <a:rPr b="1" sz="1200">
                <a:solidFill>
                  <a:srgbClr val="FFFFFF"/>
                </a:solidFill>
                <a:latin typeface="Noto Sans JP"/>
              </a:rPr>
              <a:t>東京ガス（TGES）</a:t>
            </a:r>
          </a:p>
        </p:txBody>
      </p:sp>
      <p:sp>
        <p:nvSpPr>
          <p:cNvPr id="13" name="Rectangle 12"/>
          <p:cNvSpPr/>
          <p:nvPr/>
        </p:nvSpPr>
        <p:spPr>
          <a:xfrm>
            <a:off x="7221931" y="1993392"/>
            <a:ext cx="4509820"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85939" y="1993392"/>
            <a:ext cx="4418380" cy="457200"/>
          </a:xfrm>
          <a:prstGeom prst="rect">
            <a:avLst/>
          </a:prstGeom>
          <a:noFill/>
        </p:spPr>
        <p:txBody>
          <a:bodyPr wrap="square" anchor="ctr">
            <a:spAutoFit/>
          </a:bodyPr>
          <a:lstStyle/>
          <a:p>
            <a:pPr algn="l"/>
            <a:r>
              <a:rPr b="1" sz="1200">
                <a:solidFill>
                  <a:srgbClr val="FFFFFF"/>
                </a:solidFill>
                <a:latin typeface="Noto Sans JP"/>
              </a:rPr>
              <a:t>AIVALIX</a:t>
            </a:r>
          </a:p>
        </p:txBody>
      </p:sp>
      <p:sp>
        <p:nvSpPr>
          <p:cNvPr id="15" name="Rectangle 14"/>
          <p:cNvSpPr/>
          <p:nvPr/>
        </p:nvSpPr>
        <p:spPr>
          <a:xfrm>
            <a:off x="457200" y="2450592"/>
            <a:ext cx="2029419"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1208" y="2523744"/>
            <a:ext cx="1901403" cy="489204"/>
          </a:xfrm>
          <a:prstGeom prst="rect">
            <a:avLst/>
          </a:prstGeom>
          <a:noFill/>
        </p:spPr>
        <p:txBody>
          <a:bodyPr wrap="square" anchor="t">
            <a:spAutoFit/>
          </a:bodyPr>
          <a:lstStyle/>
          <a:p>
            <a:pPr algn="l"/>
            <a:r>
              <a:rPr b="1" sz="1200">
                <a:solidFill>
                  <a:srgbClr val="00529B"/>
                </a:solidFill>
                <a:latin typeface="Noto Sans JP"/>
              </a:rPr>
              <a:t>プロダクト開発</a:t>
            </a:r>
          </a:p>
        </p:txBody>
      </p:sp>
      <p:sp>
        <p:nvSpPr>
          <p:cNvPr id="17" name="Rectangle 16"/>
          <p:cNvSpPr/>
          <p:nvPr/>
        </p:nvSpPr>
        <p:spPr>
          <a:xfrm>
            <a:off x="2486619" y="2450592"/>
            <a:ext cx="4735311"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50627" y="2523744"/>
            <a:ext cx="4607295" cy="489204"/>
          </a:xfrm>
          <a:prstGeom prst="rect">
            <a:avLst/>
          </a:prstGeom>
          <a:noFill/>
        </p:spPr>
        <p:txBody>
          <a:bodyPr wrap="square" anchor="t">
            <a:spAutoFit/>
          </a:bodyPr>
          <a:lstStyle/>
          <a:p>
            <a:pPr algn="l"/>
            <a:r>
              <a:rPr b="0" sz="1200">
                <a:solidFill>
                  <a:srgbClr val="1A1A1A"/>
                </a:solidFill>
                <a:latin typeface="Noto Sans JP"/>
              </a:rPr>
              <a:t>GISプラットフォーム（TUMSY）の機能拡張・API整備・品質保証</a:t>
            </a:r>
          </a:p>
        </p:txBody>
      </p:sp>
      <p:sp>
        <p:nvSpPr>
          <p:cNvPr id="19" name="Rectangle 18"/>
          <p:cNvSpPr/>
          <p:nvPr/>
        </p:nvSpPr>
        <p:spPr>
          <a:xfrm>
            <a:off x="7221931" y="2450592"/>
            <a:ext cx="4509820"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85939" y="2523744"/>
            <a:ext cx="4381804" cy="489204"/>
          </a:xfrm>
          <a:prstGeom prst="rect">
            <a:avLst/>
          </a:prstGeom>
          <a:noFill/>
        </p:spPr>
        <p:txBody>
          <a:bodyPr wrap="square" anchor="t">
            <a:spAutoFit/>
          </a:bodyPr>
          <a:lstStyle/>
          <a:p>
            <a:pPr algn="l"/>
            <a:r>
              <a:rPr b="0" sz="1200">
                <a:solidFill>
                  <a:srgbClr val="1A1A1A"/>
                </a:solidFill>
                <a:latin typeface="Noto Sans JP"/>
              </a:rPr>
              <a:t>INFRAIエンジン開発・AI精度向上・新規AI機能の研究開発</a:t>
            </a:r>
          </a:p>
        </p:txBody>
      </p:sp>
      <p:sp>
        <p:nvSpPr>
          <p:cNvPr id="21" name="Rectangle 20"/>
          <p:cNvSpPr/>
          <p:nvPr/>
        </p:nvSpPr>
        <p:spPr>
          <a:xfrm>
            <a:off x="457200" y="307238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3086100"/>
            <a:ext cx="2029419"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 y="3159252"/>
            <a:ext cx="1901403" cy="489204"/>
          </a:xfrm>
          <a:prstGeom prst="rect">
            <a:avLst/>
          </a:prstGeom>
          <a:noFill/>
        </p:spPr>
        <p:txBody>
          <a:bodyPr wrap="square" anchor="t">
            <a:spAutoFit/>
          </a:bodyPr>
          <a:lstStyle/>
          <a:p>
            <a:pPr algn="l"/>
            <a:r>
              <a:rPr b="1" sz="1200">
                <a:solidFill>
                  <a:srgbClr val="00529B"/>
                </a:solidFill>
                <a:latin typeface="Noto Sans JP"/>
              </a:rPr>
              <a:t>営業・受注</a:t>
            </a:r>
          </a:p>
        </p:txBody>
      </p:sp>
      <p:sp>
        <p:nvSpPr>
          <p:cNvPr id="24" name="Rectangle 23"/>
          <p:cNvSpPr/>
          <p:nvPr/>
        </p:nvSpPr>
        <p:spPr>
          <a:xfrm>
            <a:off x="2486619" y="3086100"/>
            <a:ext cx="4735311"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50627" y="3159252"/>
            <a:ext cx="4607295" cy="489204"/>
          </a:xfrm>
          <a:prstGeom prst="rect">
            <a:avLst/>
          </a:prstGeom>
          <a:noFill/>
        </p:spPr>
        <p:txBody>
          <a:bodyPr wrap="square" anchor="t">
            <a:spAutoFit/>
          </a:bodyPr>
          <a:lstStyle/>
          <a:p>
            <a:pPr algn="l"/>
            <a:r>
              <a:rPr b="0" sz="1200">
                <a:solidFill>
                  <a:srgbClr val="1A1A1A"/>
                </a:solidFill>
                <a:latin typeface="Noto Sans JP"/>
              </a:rPr>
              <a:t>水道局・インフラ事業体への直接営業・入札対応・契約管理</a:t>
            </a:r>
          </a:p>
        </p:txBody>
      </p:sp>
      <p:sp>
        <p:nvSpPr>
          <p:cNvPr id="26" name="Rectangle 25"/>
          <p:cNvSpPr/>
          <p:nvPr/>
        </p:nvSpPr>
        <p:spPr>
          <a:xfrm>
            <a:off x="7221931" y="3086100"/>
            <a:ext cx="4509820"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85939" y="3159252"/>
            <a:ext cx="4381804" cy="489204"/>
          </a:xfrm>
          <a:prstGeom prst="rect">
            <a:avLst/>
          </a:prstGeom>
          <a:noFill/>
        </p:spPr>
        <p:txBody>
          <a:bodyPr wrap="square" anchor="t">
            <a:spAutoFit/>
          </a:bodyPr>
          <a:lstStyle/>
          <a:p>
            <a:pPr algn="l"/>
            <a:r>
              <a:rPr b="0" sz="1200">
                <a:solidFill>
                  <a:srgbClr val="1A1A1A"/>
                </a:solidFill>
                <a:latin typeface="Noto Sans JP"/>
              </a:rPr>
              <a:t>技術提案・PoC実施支援・導入時のAI実装サポート</a:t>
            </a:r>
          </a:p>
        </p:txBody>
      </p:sp>
      <p:sp>
        <p:nvSpPr>
          <p:cNvPr id="28" name="Rectangle 27"/>
          <p:cNvSpPr/>
          <p:nvPr/>
        </p:nvSpPr>
        <p:spPr>
          <a:xfrm>
            <a:off x="457200" y="370789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3721608"/>
            <a:ext cx="2029419"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21208" y="3794760"/>
            <a:ext cx="1901403" cy="489204"/>
          </a:xfrm>
          <a:prstGeom prst="rect">
            <a:avLst/>
          </a:prstGeom>
          <a:noFill/>
        </p:spPr>
        <p:txBody>
          <a:bodyPr wrap="square" anchor="t">
            <a:spAutoFit/>
          </a:bodyPr>
          <a:lstStyle/>
          <a:p>
            <a:pPr algn="l"/>
            <a:r>
              <a:rPr b="1" sz="1200">
                <a:solidFill>
                  <a:srgbClr val="00529B"/>
                </a:solidFill>
                <a:latin typeface="Noto Sans JP"/>
              </a:rPr>
              <a:t>データ管理</a:t>
            </a:r>
          </a:p>
        </p:txBody>
      </p:sp>
      <p:sp>
        <p:nvSpPr>
          <p:cNvPr id="31" name="Rectangle 30"/>
          <p:cNvSpPr/>
          <p:nvPr/>
        </p:nvSpPr>
        <p:spPr>
          <a:xfrm>
            <a:off x="2486619" y="3721608"/>
            <a:ext cx="4735311"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50627" y="3794760"/>
            <a:ext cx="4607295" cy="489204"/>
          </a:xfrm>
          <a:prstGeom prst="rect">
            <a:avLst/>
          </a:prstGeom>
          <a:noFill/>
        </p:spPr>
        <p:txBody>
          <a:bodyPr wrap="square" anchor="t">
            <a:spAutoFit/>
          </a:bodyPr>
          <a:lstStyle/>
          <a:p>
            <a:pPr algn="l"/>
            <a:r>
              <a:rPr b="0" sz="1200">
                <a:solidFill>
                  <a:srgbClr val="1A1A1A"/>
                </a:solidFill>
                <a:latin typeface="Noto Sans JP"/>
              </a:rPr>
              <a:t>顧客GISデータ管理・TUMSY既存連携の橋渡し・データ移行</a:t>
            </a:r>
          </a:p>
        </p:txBody>
      </p:sp>
      <p:sp>
        <p:nvSpPr>
          <p:cNvPr id="33" name="Rectangle 32"/>
          <p:cNvSpPr/>
          <p:nvPr/>
        </p:nvSpPr>
        <p:spPr>
          <a:xfrm>
            <a:off x="7221931" y="3721608"/>
            <a:ext cx="4509820"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85939" y="3794760"/>
            <a:ext cx="4381804" cy="489204"/>
          </a:xfrm>
          <a:prstGeom prst="rect">
            <a:avLst/>
          </a:prstGeom>
          <a:noFill/>
        </p:spPr>
        <p:txBody>
          <a:bodyPr wrap="square" anchor="t">
            <a:spAutoFit/>
          </a:bodyPr>
          <a:lstStyle/>
          <a:p>
            <a:pPr algn="l"/>
            <a:r>
              <a:rPr b="0" sz="1200">
                <a:solidFill>
                  <a:srgbClr val="1A1A1A"/>
                </a:solidFill>
                <a:latin typeface="Noto Sans JP"/>
              </a:rPr>
              <a:t>AIモデル構築・学習データ設計・データ品質評価と改善</a:t>
            </a:r>
          </a:p>
        </p:txBody>
      </p:sp>
      <p:sp>
        <p:nvSpPr>
          <p:cNvPr id="35" name="Rectangle 34"/>
          <p:cNvSpPr/>
          <p:nvPr/>
        </p:nvSpPr>
        <p:spPr>
          <a:xfrm>
            <a:off x="457200" y="434340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57200" y="4357116"/>
            <a:ext cx="2029419"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21208" y="4430268"/>
            <a:ext cx="1901403" cy="489204"/>
          </a:xfrm>
          <a:prstGeom prst="rect">
            <a:avLst/>
          </a:prstGeom>
          <a:noFill/>
        </p:spPr>
        <p:txBody>
          <a:bodyPr wrap="square" anchor="t">
            <a:spAutoFit/>
          </a:bodyPr>
          <a:lstStyle/>
          <a:p>
            <a:pPr algn="l"/>
            <a:r>
              <a:rPr b="1" sz="1200">
                <a:solidFill>
                  <a:srgbClr val="00529B"/>
                </a:solidFill>
                <a:latin typeface="Noto Sans JP"/>
              </a:rPr>
              <a:t>ブランド・信頼</a:t>
            </a:r>
          </a:p>
        </p:txBody>
      </p:sp>
      <p:sp>
        <p:nvSpPr>
          <p:cNvPr id="38" name="Rectangle 37"/>
          <p:cNvSpPr/>
          <p:nvPr/>
        </p:nvSpPr>
        <p:spPr>
          <a:xfrm>
            <a:off x="2486619" y="4357116"/>
            <a:ext cx="4735311"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550627" y="4430268"/>
            <a:ext cx="4607295" cy="489204"/>
          </a:xfrm>
          <a:prstGeom prst="rect">
            <a:avLst/>
          </a:prstGeom>
          <a:noFill/>
        </p:spPr>
        <p:txBody>
          <a:bodyPr wrap="square" anchor="t">
            <a:spAutoFit/>
          </a:bodyPr>
          <a:lstStyle/>
          <a:p>
            <a:pPr algn="l"/>
            <a:r>
              <a:rPr b="0" sz="1200">
                <a:solidFill>
                  <a:srgbClr val="1A1A1A"/>
                </a:solidFill>
                <a:latin typeface="Noto Sans JP"/>
              </a:rPr>
              <a:t>「東京ガスグループ」のインフラオーナー信頼性・公共調達実績</a:t>
            </a:r>
          </a:p>
        </p:txBody>
      </p:sp>
      <p:sp>
        <p:nvSpPr>
          <p:cNvPr id="40" name="Rectangle 39"/>
          <p:cNvSpPr/>
          <p:nvPr/>
        </p:nvSpPr>
        <p:spPr>
          <a:xfrm>
            <a:off x="7221931" y="4357116"/>
            <a:ext cx="4509820"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85939" y="4430268"/>
            <a:ext cx="4381804" cy="489204"/>
          </a:xfrm>
          <a:prstGeom prst="rect">
            <a:avLst/>
          </a:prstGeom>
          <a:noFill/>
        </p:spPr>
        <p:txBody>
          <a:bodyPr wrap="square" anchor="t">
            <a:spAutoFit/>
          </a:bodyPr>
          <a:lstStyle/>
          <a:p>
            <a:pPr algn="l"/>
            <a:r>
              <a:rPr b="0" sz="1200">
                <a:solidFill>
                  <a:srgbClr val="1A1A1A"/>
                </a:solidFill>
                <a:latin typeface="Noto Sans JP"/>
              </a:rPr>
              <a:t>「最新AI技術」のスタートアップ機動力・先端研究成果</a:t>
            </a:r>
          </a:p>
        </p:txBody>
      </p:sp>
      <p:sp>
        <p:nvSpPr>
          <p:cNvPr id="42" name="Rectangle 41"/>
          <p:cNvSpPr/>
          <p:nvPr/>
        </p:nvSpPr>
        <p:spPr>
          <a:xfrm>
            <a:off x="457200" y="497890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57200" y="4992624"/>
            <a:ext cx="2029419"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21208" y="5065776"/>
            <a:ext cx="1901403" cy="489204"/>
          </a:xfrm>
          <a:prstGeom prst="rect">
            <a:avLst/>
          </a:prstGeom>
          <a:noFill/>
        </p:spPr>
        <p:txBody>
          <a:bodyPr wrap="square" anchor="t">
            <a:spAutoFit/>
          </a:bodyPr>
          <a:lstStyle/>
          <a:p>
            <a:pPr algn="l"/>
            <a:r>
              <a:rPr b="1" sz="1200">
                <a:solidFill>
                  <a:srgbClr val="00529B"/>
                </a:solidFill>
                <a:latin typeface="Noto Sans JP"/>
              </a:rPr>
              <a:t>収益モデル</a:t>
            </a:r>
          </a:p>
        </p:txBody>
      </p:sp>
      <p:sp>
        <p:nvSpPr>
          <p:cNvPr id="45" name="Rectangle 44"/>
          <p:cNvSpPr/>
          <p:nvPr/>
        </p:nvSpPr>
        <p:spPr>
          <a:xfrm>
            <a:off x="2486619" y="4992624"/>
            <a:ext cx="4735311"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550627" y="5065776"/>
            <a:ext cx="4607295" cy="489204"/>
          </a:xfrm>
          <a:prstGeom prst="rect">
            <a:avLst/>
          </a:prstGeom>
          <a:noFill/>
        </p:spPr>
        <p:txBody>
          <a:bodyPr wrap="square" anchor="t">
            <a:spAutoFit/>
          </a:bodyPr>
          <a:lstStyle/>
          <a:p>
            <a:pPr algn="l"/>
            <a:r>
              <a:rPr b="0" sz="1200">
                <a:solidFill>
                  <a:srgbClr val="1A1A1A"/>
                </a:solidFill>
                <a:latin typeface="Noto Sans JP"/>
              </a:rPr>
              <a:t>パッケージ販売収益（初期）・SaaSサブスク利用料（継続）</a:t>
            </a:r>
          </a:p>
        </p:txBody>
      </p:sp>
      <p:sp>
        <p:nvSpPr>
          <p:cNvPr id="47" name="Rectangle 46"/>
          <p:cNvSpPr/>
          <p:nvPr/>
        </p:nvSpPr>
        <p:spPr>
          <a:xfrm>
            <a:off x="7221931" y="4992624"/>
            <a:ext cx="4509820"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85939" y="5065776"/>
            <a:ext cx="4381804" cy="489204"/>
          </a:xfrm>
          <a:prstGeom prst="rect">
            <a:avLst/>
          </a:prstGeom>
          <a:noFill/>
        </p:spPr>
        <p:txBody>
          <a:bodyPr wrap="square" anchor="t">
            <a:spAutoFit/>
          </a:bodyPr>
          <a:lstStyle/>
          <a:p>
            <a:pPr algn="l"/>
            <a:r>
              <a:rPr b="0" sz="1200">
                <a:solidFill>
                  <a:srgbClr val="1A1A1A"/>
                </a:solidFill>
                <a:latin typeface="Noto Sans JP"/>
              </a:rPr>
              <a:t>AIライセンスフィー（初期）・導入支援・精度向上サービス</a:t>
            </a:r>
          </a:p>
        </p:txBody>
      </p:sp>
      <p:sp>
        <p:nvSpPr>
          <p:cNvPr id="49" name="Rectangle 48"/>
          <p:cNvSpPr/>
          <p:nvPr/>
        </p:nvSpPr>
        <p:spPr>
          <a:xfrm>
            <a:off x="457200" y="561441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57200" y="5628132"/>
            <a:ext cx="2029419"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21208" y="5701284"/>
            <a:ext cx="1901403" cy="489204"/>
          </a:xfrm>
          <a:prstGeom prst="rect">
            <a:avLst/>
          </a:prstGeom>
          <a:noFill/>
        </p:spPr>
        <p:txBody>
          <a:bodyPr wrap="square" anchor="t">
            <a:spAutoFit/>
          </a:bodyPr>
          <a:lstStyle/>
          <a:p>
            <a:pPr algn="l"/>
            <a:r>
              <a:rPr b="1" sz="1200">
                <a:solidFill>
                  <a:srgbClr val="00529B"/>
                </a:solidFill>
                <a:latin typeface="Noto Sans JP"/>
              </a:rPr>
              <a:t>将来領域</a:t>
            </a:r>
          </a:p>
        </p:txBody>
      </p:sp>
      <p:sp>
        <p:nvSpPr>
          <p:cNvPr id="52" name="Rectangle 51"/>
          <p:cNvSpPr/>
          <p:nvPr/>
        </p:nvSpPr>
        <p:spPr>
          <a:xfrm>
            <a:off x="2486619" y="5628132"/>
            <a:ext cx="4735311"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550627" y="5701284"/>
            <a:ext cx="4607295" cy="489204"/>
          </a:xfrm>
          <a:prstGeom prst="rect">
            <a:avLst/>
          </a:prstGeom>
          <a:noFill/>
        </p:spPr>
        <p:txBody>
          <a:bodyPr wrap="square" anchor="t">
            <a:spAutoFit/>
          </a:bodyPr>
          <a:lstStyle/>
          <a:p>
            <a:pPr algn="l"/>
            <a:r>
              <a:rPr b="0" sz="1200">
                <a:solidFill>
                  <a:srgbClr val="1A1A1A"/>
                </a:solidFill>
                <a:latin typeface="Noto Sans JP"/>
              </a:rPr>
              <a:t>ガス・電力・下水道等への横展開営業・海外ガス会社連携</a:t>
            </a:r>
          </a:p>
        </p:txBody>
      </p:sp>
      <p:sp>
        <p:nvSpPr>
          <p:cNvPr id="54" name="Rectangle 53"/>
          <p:cNvSpPr/>
          <p:nvPr/>
        </p:nvSpPr>
        <p:spPr>
          <a:xfrm>
            <a:off x="7221931" y="5628132"/>
            <a:ext cx="4509820"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285939" y="5701284"/>
            <a:ext cx="4381804" cy="489204"/>
          </a:xfrm>
          <a:prstGeom prst="rect">
            <a:avLst/>
          </a:prstGeom>
          <a:noFill/>
        </p:spPr>
        <p:txBody>
          <a:bodyPr wrap="square" anchor="t">
            <a:spAutoFit/>
          </a:bodyPr>
          <a:lstStyle/>
          <a:p>
            <a:pPr algn="l"/>
            <a:r>
              <a:rPr b="0" sz="1200">
                <a:solidFill>
                  <a:srgbClr val="1A1A1A"/>
                </a:solidFill>
                <a:latin typeface="Noto Sans JP"/>
              </a:rPr>
              <a:t>水道以外のインフラAI応用・新規アルゴリズム開発・論文発表</a:t>
            </a:r>
          </a:p>
        </p:txBody>
      </p:sp>
      <p:sp>
        <p:nvSpPr>
          <p:cNvPr id="56" name="Rectangle 55"/>
          <p:cNvSpPr/>
          <p:nvPr/>
        </p:nvSpPr>
        <p:spPr>
          <a:xfrm>
            <a:off x="457200" y="624992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8714232" y="0"/>
            <a:ext cx="3474720" cy="6858000"/>
          </a:xfrm>
          <a:prstGeom prst="rect">
            <a:avLst/>
          </a:prstGeom>
        </p:spPr>
      </p:pic>
      <p:sp>
        <p:nvSpPr>
          <p:cNvPr id="3" name="Rectangle 2"/>
          <p:cNvSpPr/>
          <p:nvPr/>
        </p:nvSpPr>
        <p:spPr>
          <a:xfrm>
            <a:off x="8714232" y="0"/>
            <a:ext cx="45720" cy="68580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5330952" cy="320040"/>
          </a:xfrm>
          <a:prstGeom prst="rect">
            <a:avLst/>
          </a:prstGeom>
          <a:noFill/>
        </p:spPr>
        <p:txBody>
          <a:bodyPr wrap="square" anchor="ctr">
            <a:spAutoFit/>
          </a:bodyPr>
          <a:lstStyle/>
          <a:p>
            <a:pPr algn="l"/>
            <a:r>
              <a:rPr b="0" sz="1200">
                <a:solidFill>
                  <a:srgbClr val="8CB1D2"/>
                </a:solidFill>
                <a:latin typeface="Noto Sans"/>
              </a:rPr>
              <a:t>08  BENEFITS FOR TGES</a:t>
            </a:r>
          </a:p>
        </p:txBody>
      </p:sp>
      <p:sp>
        <p:nvSpPr>
          <p:cNvPr id="6" name="TextBox 5"/>
          <p:cNvSpPr txBox="1"/>
          <p:nvPr/>
        </p:nvSpPr>
        <p:spPr>
          <a:xfrm>
            <a:off x="457200" y="384048"/>
            <a:ext cx="5330952" cy="530352"/>
          </a:xfrm>
          <a:prstGeom prst="rect">
            <a:avLst/>
          </a:prstGeom>
          <a:noFill/>
        </p:spPr>
        <p:txBody>
          <a:bodyPr wrap="square" anchor="ctr">
            <a:spAutoFit/>
          </a:bodyPr>
          <a:lstStyle/>
          <a:p>
            <a:pPr algn="l"/>
            <a:r>
              <a:rPr b="1" sz="2600">
                <a:solidFill>
                  <a:srgbClr val="FFFFFF"/>
                </a:solidFill>
                <a:latin typeface="Noto Sans JP"/>
              </a:rPr>
              <a:t>東京ガスがAIVALIXと組むメリット</a:t>
            </a:r>
          </a:p>
        </p:txBody>
      </p:sp>
      <p:sp>
        <p:nvSpPr>
          <p:cNvPr id="7" name="Rectangle 6"/>
          <p:cNvSpPr/>
          <p:nvPr/>
        </p:nvSpPr>
        <p:spPr>
          <a:xfrm>
            <a:off x="0" y="123444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valix_logo_white_16x9.png"/>
          <p:cNvPicPr>
            <a:picLocks noChangeAspect="1"/>
          </p:cNvPicPr>
          <p:nvPr/>
        </p:nvPicPr>
        <p:blipFill>
          <a:blip r:embed="rId3"/>
          <a:stretch>
            <a:fillRect/>
          </a:stretch>
        </p:blipFill>
        <p:spPr>
          <a:xfrm>
            <a:off x="9656064" y="182880"/>
            <a:ext cx="1464775" cy="822960"/>
          </a:xfrm>
          <a:prstGeom prst="rect">
            <a:avLst/>
          </a:prstGeom>
        </p:spPr>
      </p:pic>
      <p:sp>
        <p:nvSpPr>
          <p:cNvPr id="9" name="TextBox 8"/>
          <p:cNvSpPr txBox="1"/>
          <p:nvPr/>
        </p:nvSpPr>
        <p:spPr>
          <a:xfrm>
            <a:off x="457200" y="1353312"/>
            <a:ext cx="7799832" cy="502920"/>
          </a:xfrm>
          <a:prstGeom prst="rect">
            <a:avLst/>
          </a:prstGeom>
          <a:noFill/>
        </p:spPr>
        <p:txBody>
          <a:bodyPr wrap="square" anchor="ctr">
            <a:spAutoFit/>
          </a:bodyPr>
          <a:lstStyle/>
          <a:p>
            <a:pPr algn="l"/>
            <a:r>
              <a:rPr b="1" sz="1400">
                <a:solidFill>
                  <a:srgbClr val="1A1A1A"/>
                </a:solidFill>
                <a:latin typeface="Noto Sans JP"/>
              </a:rPr>
              <a:t>GIS単体では価格競争に陥る。AI付加価値で差別化しつつ、既存顧客アップセル＋全国横展開＋出資リターンの三重の収益機会を獲得する。</a:t>
            </a:r>
          </a:p>
        </p:txBody>
      </p:sp>
      <p:sp>
        <p:nvSpPr>
          <p:cNvPr id="10" name="Rectangle 9"/>
          <p:cNvSpPr/>
          <p:nvPr/>
        </p:nvSpPr>
        <p:spPr>
          <a:xfrm>
            <a:off x="457200" y="1892808"/>
            <a:ext cx="77998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21208" y="2415844"/>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039112"/>
            <a:ext cx="7781544" cy="854049"/>
          </a:xfrm>
          <a:prstGeom prst="rect">
            <a:avLst/>
          </a:prstGeom>
          <a:noFill/>
        </p:spPr>
        <p:txBody>
          <a:bodyPr wrap="square" anchor="ctr">
            <a:spAutoFit/>
          </a:bodyPr>
          <a:lstStyle/>
          <a:p>
            <a:r>
              <a:rPr sz="1550">
                <a:solidFill>
                  <a:srgbClr val="1A1A1A"/>
                </a:solidFill>
                <a:latin typeface="Noto Sans JP"/>
              </a:rPr>
              <a:t>【差別化①　AI付加価値でGIS競争から脱却】GIS単体ではPASCO・NEC等との価格競争に陥る。INFRAIを搭載した「AI診断付きGIS」は市場唯一——高付加価値・高単価パッケージとして差別化可能</a:t>
            </a:r>
          </a:p>
        </p:txBody>
      </p:sp>
      <p:sp>
        <p:nvSpPr>
          <p:cNvPr id="13" name="Rectangle 12"/>
          <p:cNvSpPr/>
          <p:nvPr/>
        </p:nvSpPr>
        <p:spPr>
          <a:xfrm>
            <a:off x="457200" y="2879445"/>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1208" y="3269894"/>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2893161"/>
            <a:ext cx="7781544" cy="854049"/>
          </a:xfrm>
          <a:prstGeom prst="rect">
            <a:avLst/>
          </a:prstGeom>
          <a:noFill/>
        </p:spPr>
        <p:txBody>
          <a:bodyPr wrap="square" anchor="ctr">
            <a:spAutoFit/>
          </a:bodyPr>
          <a:lstStyle/>
          <a:p>
            <a:r>
              <a:rPr sz="1550">
                <a:solidFill>
                  <a:srgbClr val="1A1A1A"/>
                </a:solidFill>
                <a:latin typeface="Noto Sans JP"/>
              </a:rPr>
              <a:t>【差別化②　ドメイン知見の転用で開発効率最大化】ガス管路老朽化対策で蓄積したAI知見・劣化モデルを水道管路へ展開——ゼロから開発する競合に対し圧倒的な開発速度とコスト優位を実現</a:t>
            </a:r>
          </a:p>
        </p:txBody>
      </p:sp>
      <p:sp>
        <p:nvSpPr>
          <p:cNvPr id="16" name="Rectangle 15"/>
          <p:cNvSpPr/>
          <p:nvPr/>
        </p:nvSpPr>
        <p:spPr>
          <a:xfrm>
            <a:off x="457200" y="3733495"/>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21208" y="4123944"/>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47211"/>
            <a:ext cx="7781544" cy="854049"/>
          </a:xfrm>
          <a:prstGeom prst="rect">
            <a:avLst/>
          </a:prstGeom>
          <a:noFill/>
        </p:spPr>
        <p:txBody>
          <a:bodyPr wrap="square" anchor="ctr">
            <a:spAutoFit/>
          </a:bodyPr>
          <a:lstStyle/>
          <a:p>
            <a:r>
              <a:rPr sz="1550">
                <a:solidFill>
                  <a:srgbClr val="1A1A1A"/>
                </a:solidFill>
                <a:latin typeface="Noto Sans JP"/>
              </a:rPr>
              <a:t>【収益機会　既存顧客への即座のアップセル】TUMSY導入済みの大都市水道局に対し、AIオプションとして追加提案が可能——新規開拓コストなしで外販収益の上乗せが見込める</a:t>
            </a:r>
          </a:p>
        </p:txBody>
      </p:sp>
      <p:sp>
        <p:nvSpPr>
          <p:cNvPr id="19" name="Rectangle 18"/>
          <p:cNvSpPr/>
          <p:nvPr/>
        </p:nvSpPr>
        <p:spPr>
          <a:xfrm>
            <a:off x="457200" y="458754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1208" y="4977993"/>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4601260"/>
            <a:ext cx="7781544" cy="854049"/>
          </a:xfrm>
          <a:prstGeom prst="rect">
            <a:avLst/>
          </a:prstGeom>
          <a:noFill/>
        </p:spPr>
        <p:txBody>
          <a:bodyPr wrap="square" anchor="ctr">
            <a:spAutoFit/>
          </a:bodyPr>
          <a:lstStyle/>
          <a:p>
            <a:r>
              <a:rPr sz="1550">
                <a:solidFill>
                  <a:srgbClr val="1A1A1A"/>
                </a:solidFill>
                <a:latin typeface="Noto Sans JP"/>
              </a:rPr>
              <a:t>【横展開　全国1,400事業者への展開】PASCO経由で実証された地方都市展開モデルを、東京ガスの都市部顧客網と組み合わせることで全国をカバーする営業体制を構築可能</a:t>
            </a:r>
          </a:p>
        </p:txBody>
      </p:sp>
      <p:sp>
        <p:nvSpPr>
          <p:cNvPr id="22" name="Rectangle 21"/>
          <p:cNvSpPr/>
          <p:nvPr/>
        </p:nvSpPr>
        <p:spPr>
          <a:xfrm>
            <a:off x="457200" y="544159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1208" y="5832043"/>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5455310"/>
            <a:ext cx="7781544" cy="854049"/>
          </a:xfrm>
          <a:prstGeom prst="rect">
            <a:avLst/>
          </a:prstGeom>
          <a:noFill/>
        </p:spPr>
        <p:txBody>
          <a:bodyPr wrap="square" anchor="ctr">
            <a:spAutoFit/>
          </a:bodyPr>
          <a:lstStyle/>
          <a:p>
            <a:r>
              <a:rPr sz="1550">
                <a:solidFill>
                  <a:srgbClr val="1A1A1A"/>
                </a:solidFill>
                <a:latin typeface="Noto Sans JP"/>
              </a:rPr>
              <a:t>【出資リターン　協業と資本の両輪】AIVALIXへの出資によりエクイティの値上がり益を享受しつつ、共同開発のステアリング権と独占的先行展開権を確保——事業シナジーと財務リターンの同時獲得</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531352" cy="320040"/>
          </a:xfrm>
          <a:prstGeom prst="rect">
            <a:avLst/>
          </a:prstGeom>
          <a:noFill/>
        </p:spPr>
        <p:txBody>
          <a:bodyPr wrap="square" anchor="ctr">
            <a:spAutoFit/>
          </a:bodyPr>
          <a:lstStyle/>
          <a:p>
            <a:pPr algn="l"/>
            <a:r>
              <a:rPr b="0" sz="1200">
                <a:solidFill>
                  <a:srgbClr val="8CB1D2"/>
                </a:solidFill>
                <a:latin typeface="Noto Sans"/>
              </a:rPr>
              <a:t>09  VALUE FOR END CLIENTS</a:t>
            </a:r>
          </a:p>
        </p:txBody>
      </p:sp>
      <p:sp>
        <p:nvSpPr>
          <p:cNvPr id="4" name="TextBox 3"/>
          <p:cNvSpPr txBox="1"/>
          <p:nvPr/>
        </p:nvSpPr>
        <p:spPr>
          <a:xfrm>
            <a:off x="457200" y="384048"/>
            <a:ext cx="8531352" cy="530352"/>
          </a:xfrm>
          <a:prstGeom prst="rect">
            <a:avLst/>
          </a:prstGeom>
          <a:noFill/>
        </p:spPr>
        <p:txBody>
          <a:bodyPr wrap="square" anchor="ctr">
            <a:spAutoFit/>
          </a:bodyPr>
          <a:lstStyle/>
          <a:p>
            <a:pPr algn="l"/>
            <a:r>
              <a:rPr b="1" sz="2600">
                <a:solidFill>
                  <a:srgbClr val="FFFFFF"/>
                </a:solidFill>
                <a:latin typeface="Noto Sans JP"/>
              </a:rPr>
              <a:t>事業体（水道局）のメリット——外販時の訴求ポイント</a:t>
            </a:r>
          </a:p>
        </p:txBody>
      </p:sp>
      <p:sp>
        <p:nvSpPr>
          <p:cNvPr id="5" name="Rectangle 4"/>
          <p:cNvSpPr/>
          <p:nvPr/>
        </p:nvSpPr>
        <p:spPr>
          <a:xfrm>
            <a:off x="0" y="123444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TextBox 6"/>
          <p:cNvSpPr txBox="1"/>
          <p:nvPr/>
        </p:nvSpPr>
        <p:spPr>
          <a:xfrm>
            <a:off x="457200" y="1353312"/>
            <a:ext cx="11000232" cy="502920"/>
          </a:xfrm>
          <a:prstGeom prst="rect">
            <a:avLst/>
          </a:prstGeom>
          <a:noFill/>
        </p:spPr>
        <p:txBody>
          <a:bodyPr wrap="square" anchor="ctr">
            <a:spAutoFit/>
          </a:bodyPr>
          <a:lstStyle/>
          <a:p>
            <a:pPr algn="l"/>
            <a:r>
              <a:rPr b="1" sz="1600">
                <a:solidFill>
                  <a:srgbClr val="1A1A1A"/>
                </a:solidFill>
                <a:latin typeface="Noto Sans JP"/>
              </a:rPr>
              <a:t>水道局にとっての導入メリットが明確であることが外販成功の鍵。以下6項目が提案時の中核的訴求ポイントとなる。</a:t>
            </a:r>
          </a:p>
        </p:txBody>
      </p:sp>
      <p:sp>
        <p:nvSpPr>
          <p:cNvPr id="8" name="Rectangle 7"/>
          <p:cNvSpPr/>
          <p:nvPr/>
        </p:nvSpPr>
        <p:spPr>
          <a:xfrm>
            <a:off x="457200" y="1892808"/>
            <a:ext cx="110002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21208" y="2344674"/>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039112"/>
            <a:ext cx="10981944" cy="711708"/>
          </a:xfrm>
          <a:prstGeom prst="rect">
            <a:avLst/>
          </a:prstGeom>
          <a:noFill/>
        </p:spPr>
        <p:txBody>
          <a:bodyPr wrap="square" anchor="ctr">
            <a:spAutoFit/>
          </a:bodyPr>
          <a:lstStyle/>
          <a:p>
            <a:r>
              <a:rPr sz="1350">
                <a:solidFill>
                  <a:srgbClr val="1A1A1A"/>
                </a:solidFill>
                <a:latin typeface="Noto Sans JP"/>
              </a:rPr>
              <a:t>【導入容易性】管路台帳・GIS・事故履歴など既存データのみで即時分析開始——新規センサー設置不要・小規模自治体でも段階導入可能。TUMSY既存ユーザーはシステム移行なしでAI機能を追加</a:t>
            </a:r>
          </a:p>
        </p:txBody>
      </p:sp>
      <p:sp>
        <p:nvSpPr>
          <p:cNvPr id="11" name="Rectangle 10"/>
          <p:cNvSpPr/>
          <p:nvPr/>
        </p:nvSpPr>
        <p:spPr>
          <a:xfrm>
            <a:off x="457200" y="273710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21208" y="3056382"/>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50820"/>
            <a:ext cx="10981944" cy="711708"/>
          </a:xfrm>
          <a:prstGeom prst="rect">
            <a:avLst/>
          </a:prstGeom>
          <a:noFill/>
        </p:spPr>
        <p:txBody>
          <a:bodyPr wrap="square" anchor="ctr">
            <a:spAutoFit/>
          </a:bodyPr>
          <a:lstStyle/>
          <a:p>
            <a:r>
              <a:rPr sz="1350">
                <a:solidFill>
                  <a:srgbClr val="1A1A1A"/>
                </a:solidFill>
                <a:latin typeface="Noto Sans JP"/>
              </a:rPr>
              <a:t>【優先順位の定量化】配管1本単位で「故障確率×故障時影響度」に基づくリスクスコアを算出——属人的判断から脱却し、局内合意・財政部局・議会・住民への説明根拠を明確に提供</a:t>
            </a:r>
          </a:p>
        </p:txBody>
      </p:sp>
      <p:sp>
        <p:nvSpPr>
          <p:cNvPr id="14" name="Rectangle 13"/>
          <p:cNvSpPr/>
          <p:nvPr/>
        </p:nvSpPr>
        <p:spPr>
          <a:xfrm>
            <a:off x="457200" y="344881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21208" y="3768090"/>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3462528"/>
            <a:ext cx="10981944" cy="711708"/>
          </a:xfrm>
          <a:prstGeom prst="rect">
            <a:avLst/>
          </a:prstGeom>
          <a:noFill/>
        </p:spPr>
        <p:txBody>
          <a:bodyPr wrap="square" anchor="ctr">
            <a:spAutoFit/>
          </a:bodyPr>
          <a:lstStyle/>
          <a:p>
            <a:r>
              <a:rPr sz="1350">
                <a:solidFill>
                  <a:srgbClr val="1A1A1A"/>
                </a:solidFill>
                <a:latin typeface="Noto Sans JP"/>
              </a:rPr>
              <a:t>【人材不足への対応】熟練職員の暗黙知をAIがデータとロジックに形式知化——異動・退職後も判断水準を維持し、若手職員の育成・外部委託先の品質管理にも寄与</a:t>
            </a:r>
          </a:p>
        </p:txBody>
      </p:sp>
      <p:sp>
        <p:nvSpPr>
          <p:cNvPr id="17" name="Rectangle 16"/>
          <p:cNvSpPr/>
          <p:nvPr/>
        </p:nvSpPr>
        <p:spPr>
          <a:xfrm>
            <a:off x="457200" y="416052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21208" y="4479798"/>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174236"/>
            <a:ext cx="10981944" cy="711708"/>
          </a:xfrm>
          <a:prstGeom prst="rect">
            <a:avLst/>
          </a:prstGeom>
          <a:noFill/>
        </p:spPr>
        <p:txBody>
          <a:bodyPr wrap="square" anchor="ctr">
            <a:spAutoFit/>
          </a:bodyPr>
          <a:lstStyle/>
          <a:p>
            <a:r>
              <a:rPr sz="1350">
                <a:solidFill>
                  <a:srgbClr val="1A1A1A"/>
                </a:solidFill>
                <a:latin typeface="Noto Sans JP"/>
              </a:rPr>
              <a:t>【安全・レジリエンス強化】重大事故リスクの高い管路区間を平時から特定——突発事故・緊急工事を削減し、災害時の被害最小化・迅速復旧を実現。住民への説明責任も果たせる</a:t>
            </a:r>
          </a:p>
        </p:txBody>
      </p:sp>
      <p:sp>
        <p:nvSpPr>
          <p:cNvPr id="20" name="Rectangle 19"/>
          <p:cNvSpPr/>
          <p:nvPr/>
        </p:nvSpPr>
        <p:spPr>
          <a:xfrm>
            <a:off x="457200" y="487222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21208" y="5191506"/>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4885944"/>
            <a:ext cx="10981944" cy="711708"/>
          </a:xfrm>
          <a:prstGeom prst="rect">
            <a:avLst/>
          </a:prstGeom>
          <a:noFill/>
        </p:spPr>
        <p:txBody>
          <a:bodyPr wrap="square" anchor="ctr">
            <a:spAutoFit/>
          </a:bodyPr>
          <a:lstStyle/>
          <a:p>
            <a:r>
              <a:rPr sz="1350">
                <a:solidFill>
                  <a:srgbClr val="1A1A1A"/>
                </a:solidFill>
                <a:latin typeface="Noto Sans JP"/>
              </a:rPr>
              <a:t>【EBPM・制度対応】中長期更新計画・アセットマネジメント・交付金申請に定量根拠を提供——「なぜこの地区を先に工事するのか」を客観的に説明可能。広域化・PPP検討の共通判断基盤としても活用</a:t>
            </a:r>
          </a:p>
        </p:txBody>
      </p:sp>
      <p:sp>
        <p:nvSpPr>
          <p:cNvPr id="23" name="Rectangle 22"/>
          <p:cNvSpPr/>
          <p:nvPr/>
        </p:nvSpPr>
        <p:spPr>
          <a:xfrm>
            <a:off x="457200" y="558393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21208" y="5903214"/>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5597652"/>
            <a:ext cx="10981944" cy="711708"/>
          </a:xfrm>
          <a:prstGeom prst="rect">
            <a:avLst/>
          </a:prstGeom>
          <a:noFill/>
        </p:spPr>
        <p:txBody>
          <a:bodyPr wrap="square" anchor="ctr">
            <a:spAutoFit/>
          </a:bodyPr>
          <a:lstStyle/>
          <a:p>
            <a:r>
              <a:rPr sz="1350">
                <a:solidFill>
                  <a:srgbClr val="1A1A1A"/>
                </a:solidFill>
                <a:latin typeface="Noto Sans JP"/>
              </a:rPr>
              <a:t>【住民サービス向上】断水・濁水・道路陥没の未然防止、公平な工事優先順位、限られた予算の重点配分——日常の安心と非常時の安全を両立し、行政への信頼を向上</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531352" cy="320040"/>
          </a:xfrm>
          <a:prstGeom prst="rect">
            <a:avLst/>
          </a:prstGeom>
          <a:noFill/>
        </p:spPr>
        <p:txBody>
          <a:bodyPr wrap="square" anchor="ctr">
            <a:spAutoFit/>
          </a:bodyPr>
          <a:lstStyle/>
          <a:p>
            <a:pPr algn="l"/>
            <a:r>
              <a:rPr b="0" sz="1200">
                <a:solidFill>
                  <a:srgbClr val="8CB1D2"/>
                </a:solidFill>
                <a:latin typeface="Noto Sans"/>
              </a:rPr>
              <a:t>10  INVESTMENT &amp; ROADMAP</a:t>
            </a:r>
          </a:p>
        </p:txBody>
      </p:sp>
      <p:sp>
        <p:nvSpPr>
          <p:cNvPr id="4" name="TextBox 3"/>
          <p:cNvSpPr txBox="1"/>
          <p:nvPr/>
        </p:nvSpPr>
        <p:spPr>
          <a:xfrm>
            <a:off x="457200" y="384048"/>
            <a:ext cx="8531352" cy="530352"/>
          </a:xfrm>
          <a:prstGeom prst="rect">
            <a:avLst/>
          </a:prstGeom>
          <a:noFill/>
        </p:spPr>
        <p:txBody>
          <a:bodyPr wrap="square" anchor="ctr">
            <a:spAutoFit/>
          </a:bodyPr>
          <a:lstStyle/>
          <a:p>
            <a:pPr algn="l"/>
            <a:r>
              <a:rPr b="1" sz="2600">
                <a:solidFill>
                  <a:srgbClr val="FFFFFF"/>
                </a:solidFill>
                <a:latin typeface="Noto Sans JP"/>
              </a:rPr>
              <a:t>出資のメリットと今後のロードマップ</a:t>
            </a:r>
          </a:p>
        </p:txBody>
      </p:sp>
      <p:sp>
        <p:nvSpPr>
          <p:cNvPr id="5" name="Rectangle 4"/>
          <p:cNvSpPr/>
          <p:nvPr/>
        </p:nvSpPr>
        <p:spPr>
          <a:xfrm>
            <a:off x="0" y="123444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TextBox 6"/>
          <p:cNvSpPr txBox="1"/>
          <p:nvPr/>
        </p:nvSpPr>
        <p:spPr>
          <a:xfrm>
            <a:off x="457200" y="1353312"/>
            <a:ext cx="11000232" cy="502920"/>
          </a:xfrm>
          <a:prstGeom prst="rect">
            <a:avLst/>
          </a:prstGeom>
          <a:noFill/>
        </p:spPr>
        <p:txBody>
          <a:bodyPr wrap="square" anchor="ctr">
            <a:spAutoFit/>
          </a:bodyPr>
          <a:lstStyle/>
          <a:p>
            <a:pPr algn="l"/>
            <a:r>
              <a:rPr b="1" sz="1600">
                <a:solidFill>
                  <a:srgbClr val="1A1A1A"/>
                </a:solidFill>
                <a:latin typeface="Noto Sans JP"/>
              </a:rPr>
              <a:t>2026年Q2のMOU締結から段階的に協業を深化。出資により独占的展開権とエクイティリターンを同時に確保する。</a:t>
            </a:r>
          </a:p>
        </p:txBody>
      </p:sp>
      <p:sp>
        <p:nvSpPr>
          <p:cNvPr id="8" name="Rectangle 7"/>
          <p:cNvSpPr/>
          <p:nvPr/>
        </p:nvSpPr>
        <p:spPr>
          <a:xfrm>
            <a:off x="457200" y="1892808"/>
            <a:ext cx="110002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993392"/>
            <a:ext cx="1578437"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 y="1993392"/>
            <a:ext cx="1486997" cy="457200"/>
          </a:xfrm>
          <a:prstGeom prst="rect">
            <a:avLst/>
          </a:prstGeom>
          <a:noFill/>
        </p:spPr>
        <p:txBody>
          <a:bodyPr wrap="square" anchor="ctr">
            <a:spAutoFit/>
          </a:bodyPr>
          <a:lstStyle/>
          <a:p>
            <a:pPr algn="l"/>
            <a:r>
              <a:rPr b="1" sz="1200">
                <a:solidFill>
                  <a:srgbClr val="FFFFFF"/>
                </a:solidFill>
                <a:latin typeface="Noto Sans JP"/>
              </a:rPr>
              <a:t>フェーズ</a:t>
            </a:r>
          </a:p>
        </p:txBody>
      </p:sp>
      <p:sp>
        <p:nvSpPr>
          <p:cNvPr id="11" name="Rectangle 10"/>
          <p:cNvSpPr/>
          <p:nvPr/>
        </p:nvSpPr>
        <p:spPr>
          <a:xfrm>
            <a:off x="2035637" y="1993392"/>
            <a:ext cx="1127455"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99645" y="1993392"/>
            <a:ext cx="1036015" cy="457200"/>
          </a:xfrm>
          <a:prstGeom prst="rect">
            <a:avLst/>
          </a:prstGeom>
          <a:noFill/>
        </p:spPr>
        <p:txBody>
          <a:bodyPr wrap="square" anchor="ctr">
            <a:spAutoFit/>
          </a:bodyPr>
          <a:lstStyle/>
          <a:p>
            <a:pPr algn="l"/>
            <a:r>
              <a:rPr b="1" sz="1200">
                <a:solidFill>
                  <a:srgbClr val="FFFFFF"/>
                </a:solidFill>
                <a:latin typeface="Noto Sans JP"/>
              </a:rPr>
              <a:t>時期</a:t>
            </a:r>
          </a:p>
        </p:txBody>
      </p:sp>
      <p:sp>
        <p:nvSpPr>
          <p:cNvPr id="13" name="Rectangle 12"/>
          <p:cNvSpPr/>
          <p:nvPr/>
        </p:nvSpPr>
        <p:spPr>
          <a:xfrm>
            <a:off x="3163092" y="1993392"/>
            <a:ext cx="4509820"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27100" y="1993392"/>
            <a:ext cx="4418380" cy="457200"/>
          </a:xfrm>
          <a:prstGeom prst="rect">
            <a:avLst/>
          </a:prstGeom>
          <a:noFill/>
        </p:spPr>
        <p:txBody>
          <a:bodyPr wrap="square" anchor="ctr">
            <a:spAutoFit/>
          </a:bodyPr>
          <a:lstStyle/>
          <a:p>
            <a:pPr algn="l"/>
            <a:r>
              <a:rPr b="1" sz="1200">
                <a:solidFill>
                  <a:srgbClr val="FFFFFF"/>
                </a:solidFill>
                <a:latin typeface="Noto Sans JP"/>
              </a:rPr>
              <a:t>マイルストーン</a:t>
            </a:r>
          </a:p>
        </p:txBody>
      </p:sp>
      <p:sp>
        <p:nvSpPr>
          <p:cNvPr id="15" name="Rectangle 14"/>
          <p:cNvSpPr/>
          <p:nvPr/>
        </p:nvSpPr>
        <p:spPr>
          <a:xfrm>
            <a:off x="7672913" y="1993392"/>
            <a:ext cx="4058838"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36921" y="1993392"/>
            <a:ext cx="3967398" cy="457200"/>
          </a:xfrm>
          <a:prstGeom prst="rect">
            <a:avLst/>
          </a:prstGeom>
          <a:noFill/>
        </p:spPr>
        <p:txBody>
          <a:bodyPr wrap="square" anchor="ctr">
            <a:spAutoFit/>
          </a:bodyPr>
          <a:lstStyle/>
          <a:p>
            <a:pPr algn="l"/>
            <a:r>
              <a:rPr b="1" sz="1200">
                <a:solidFill>
                  <a:srgbClr val="FFFFFF"/>
                </a:solidFill>
                <a:latin typeface="Noto Sans JP"/>
              </a:rPr>
              <a:t>東京ガスへのリターン</a:t>
            </a:r>
          </a:p>
        </p:txBody>
      </p:sp>
      <p:sp>
        <p:nvSpPr>
          <p:cNvPr id="17" name="Rectangle 16"/>
          <p:cNvSpPr/>
          <p:nvPr/>
        </p:nvSpPr>
        <p:spPr>
          <a:xfrm>
            <a:off x="457200" y="2450592"/>
            <a:ext cx="1578437"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8" y="2523744"/>
            <a:ext cx="1450421" cy="806958"/>
          </a:xfrm>
          <a:prstGeom prst="rect">
            <a:avLst/>
          </a:prstGeom>
          <a:noFill/>
        </p:spPr>
        <p:txBody>
          <a:bodyPr wrap="square" anchor="t">
            <a:spAutoFit/>
          </a:bodyPr>
          <a:lstStyle/>
          <a:p>
            <a:pPr algn="l"/>
            <a:r>
              <a:rPr b="1" sz="1300">
                <a:solidFill>
                  <a:srgbClr val="00529B"/>
                </a:solidFill>
                <a:latin typeface="Noto Sans JP"/>
              </a:rPr>
              <a:t>Phase 1 協業合意</a:t>
            </a:r>
          </a:p>
        </p:txBody>
      </p:sp>
      <p:sp>
        <p:nvSpPr>
          <p:cNvPr id="19" name="Rectangle 18"/>
          <p:cNvSpPr/>
          <p:nvPr/>
        </p:nvSpPr>
        <p:spPr>
          <a:xfrm>
            <a:off x="2035637" y="2450592"/>
            <a:ext cx="1127455"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099645" y="2523744"/>
            <a:ext cx="999439" cy="806958"/>
          </a:xfrm>
          <a:prstGeom prst="rect">
            <a:avLst/>
          </a:prstGeom>
          <a:noFill/>
        </p:spPr>
        <p:txBody>
          <a:bodyPr wrap="square" anchor="t">
            <a:spAutoFit/>
          </a:bodyPr>
          <a:lstStyle/>
          <a:p>
            <a:pPr algn="l"/>
            <a:r>
              <a:rPr b="0" sz="1100">
                <a:solidFill>
                  <a:srgbClr val="1A1A1A"/>
                </a:solidFill>
                <a:latin typeface="Noto Sans JP"/>
              </a:rPr>
              <a:t>2026 Q2-Q3</a:t>
            </a:r>
          </a:p>
        </p:txBody>
      </p:sp>
      <p:sp>
        <p:nvSpPr>
          <p:cNvPr id="21" name="Rectangle 20"/>
          <p:cNvSpPr/>
          <p:nvPr/>
        </p:nvSpPr>
        <p:spPr>
          <a:xfrm>
            <a:off x="3163092" y="2450592"/>
            <a:ext cx="4509820"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27100" y="2523744"/>
            <a:ext cx="4381804" cy="806958"/>
          </a:xfrm>
          <a:prstGeom prst="rect">
            <a:avLst/>
          </a:prstGeom>
          <a:noFill/>
        </p:spPr>
        <p:txBody>
          <a:bodyPr wrap="square" anchor="t">
            <a:spAutoFit/>
          </a:bodyPr>
          <a:lstStyle/>
          <a:p>
            <a:pPr algn="l"/>
            <a:r>
              <a:rPr b="0" sz="1300">
                <a:solidFill>
                  <a:srgbClr val="1A1A1A"/>
                </a:solidFill>
                <a:latin typeface="Noto Sans JP"/>
              </a:rPr>
              <a:t>MOU締結・共同パッケージ設計・TUMSY×INFRAI連携PoC開始</a:t>
            </a:r>
          </a:p>
        </p:txBody>
      </p:sp>
      <p:sp>
        <p:nvSpPr>
          <p:cNvPr id="23" name="Rectangle 22"/>
          <p:cNvSpPr/>
          <p:nvPr/>
        </p:nvSpPr>
        <p:spPr>
          <a:xfrm>
            <a:off x="7672913" y="2450592"/>
            <a:ext cx="4058838"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36921" y="2523744"/>
            <a:ext cx="3930822" cy="806958"/>
          </a:xfrm>
          <a:prstGeom prst="rect">
            <a:avLst/>
          </a:prstGeom>
          <a:noFill/>
        </p:spPr>
        <p:txBody>
          <a:bodyPr wrap="square" anchor="t">
            <a:spAutoFit/>
          </a:bodyPr>
          <a:lstStyle/>
          <a:p>
            <a:pPr algn="l"/>
            <a:r>
              <a:rPr b="0" sz="1300">
                <a:solidFill>
                  <a:srgbClr val="1A1A1A"/>
                </a:solidFill>
                <a:latin typeface="Noto Sans JP"/>
              </a:rPr>
              <a:t>既存顧客への優先提案権・共同ブランド確立</a:t>
            </a:r>
          </a:p>
        </p:txBody>
      </p:sp>
      <p:sp>
        <p:nvSpPr>
          <p:cNvPr id="25" name="Rectangle 24"/>
          <p:cNvSpPr/>
          <p:nvPr/>
        </p:nvSpPr>
        <p:spPr>
          <a:xfrm>
            <a:off x="457200" y="339013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3403854"/>
            <a:ext cx="1578437"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1208" y="3477006"/>
            <a:ext cx="1450421" cy="806958"/>
          </a:xfrm>
          <a:prstGeom prst="rect">
            <a:avLst/>
          </a:prstGeom>
          <a:noFill/>
        </p:spPr>
        <p:txBody>
          <a:bodyPr wrap="square" anchor="t">
            <a:spAutoFit/>
          </a:bodyPr>
          <a:lstStyle/>
          <a:p>
            <a:pPr algn="l"/>
            <a:r>
              <a:rPr b="1" sz="1200">
                <a:solidFill>
                  <a:srgbClr val="00529B"/>
                </a:solidFill>
                <a:latin typeface="Noto Sans JP"/>
              </a:rPr>
              <a:t>Phase 2 出資・製品化</a:t>
            </a:r>
          </a:p>
        </p:txBody>
      </p:sp>
      <p:sp>
        <p:nvSpPr>
          <p:cNvPr id="28" name="Rectangle 27"/>
          <p:cNvSpPr/>
          <p:nvPr/>
        </p:nvSpPr>
        <p:spPr>
          <a:xfrm>
            <a:off x="2035637" y="3403854"/>
            <a:ext cx="1127455"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099645" y="3477006"/>
            <a:ext cx="999439" cy="806958"/>
          </a:xfrm>
          <a:prstGeom prst="rect">
            <a:avLst/>
          </a:prstGeom>
          <a:noFill/>
        </p:spPr>
        <p:txBody>
          <a:bodyPr wrap="square" anchor="t">
            <a:spAutoFit/>
          </a:bodyPr>
          <a:lstStyle/>
          <a:p>
            <a:pPr algn="l"/>
            <a:r>
              <a:rPr b="0" sz="1300">
                <a:solidFill>
                  <a:srgbClr val="1A1A1A"/>
                </a:solidFill>
                <a:latin typeface="Noto Sans JP"/>
              </a:rPr>
              <a:t>2026 Q4</a:t>
            </a:r>
          </a:p>
        </p:txBody>
      </p:sp>
      <p:sp>
        <p:nvSpPr>
          <p:cNvPr id="30" name="Rectangle 29"/>
          <p:cNvSpPr/>
          <p:nvPr/>
        </p:nvSpPr>
        <p:spPr>
          <a:xfrm>
            <a:off x="3163092" y="3403854"/>
            <a:ext cx="4509820"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27100" y="3477006"/>
            <a:ext cx="4381804" cy="806958"/>
          </a:xfrm>
          <a:prstGeom prst="rect">
            <a:avLst/>
          </a:prstGeom>
          <a:noFill/>
        </p:spPr>
        <p:txBody>
          <a:bodyPr wrap="square" anchor="t">
            <a:spAutoFit/>
          </a:bodyPr>
          <a:lstStyle/>
          <a:p>
            <a:pPr algn="l"/>
            <a:r>
              <a:rPr b="0" sz="1300">
                <a:solidFill>
                  <a:srgbClr val="1A1A1A"/>
                </a:solidFill>
                <a:latin typeface="Noto Sans JP"/>
              </a:rPr>
              <a:t>資本参加・TUMSY×INFRAI統合版リリース・第一号案件受注</a:t>
            </a:r>
          </a:p>
        </p:txBody>
      </p:sp>
      <p:sp>
        <p:nvSpPr>
          <p:cNvPr id="32" name="Rectangle 31"/>
          <p:cNvSpPr/>
          <p:nvPr/>
        </p:nvSpPr>
        <p:spPr>
          <a:xfrm>
            <a:off x="7672913" y="3403854"/>
            <a:ext cx="4058838"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36921" y="3477006"/>
            <a:ext cx="3930822" cy="806958"/>
          </a:xfrm>
          <a:prstGeom prst="rect">
            <a:avLst/>
          </a:prstGeom>
          <a:noFill/>
        </p:spPr>
        <p:txBody>
          <a:bodyPr wrap="square" anchor="t">
            <a:spAutoFit/>
          </a:bodyPr>
          <a:lstStyle/>
          <a:p>
            <a:pPr algn="l"/>
            <a:r>
              <a:rPr b="0" sz="1300">
                <a:solidFill>
                  <a:srgbClr val="1A1A1A"/>
                </a:solidFill>
                <a:latin typeface="Noto Sans JP"/>
              </a:rPr>
              <a:t>エクイティ取得・ライセンス収益開始</a:t>
            </a:r>
          </a:p>
        </p:txBody>
      </p:sp>
      <p:sp>
        <p:nvSpPr>
          <p:cNvPr id="34" name="Rectangle 33"/>
          <p:cNvSpPr/>
          <p:nvPr/>
        </p:nvSpPr>
        <p:spPr>
          <a:xfrm>
            <a:off x="457200" y="434340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57200" y="4357116"/>
            <a:ext cx="1578437"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1208" y="4430268"/>
            <a:ext cx="1450421" cy="806958"/>
          </a:xfrm>
          <a:prstGeom prst="rect">
            <a:avLst/>
          </a:prstGeom>
          <a:noFill/>
        </p:spPr>
        <p:txBody>
          <a:bodyPr wrap="square" anchor="t">
            <a:spAutoFit/>
          </a:bodyPr>
          <a:lstStyle/>
          <a:p>
            <a:pPr algn="l"/>
            <a:r>
              <a:rPr b="1" sz="1300">
                <a:solidFill>
                  <a:srgbClr val="00529B"/>
                </a:solidFill>
                <a:latin typeface="Noto Sans JP"/>
              </a:rPr>
              <a:t>Phase 3 外販加速</a:t>
            </a:r>
          </a:p>
        </p:txBody>
      </p:sp>
      <p:sp>
        <p:nvSpPr>
          <p:cNvPr id="37" name="Rectangle 36"/>
          <p:cNvSpPr/>
          <p:nvPr/>
        </p:nvSpPr>
        <p:spPr>
          <a:xfrm>
            <a:off x="2035637" y="4357116"/>
            <a:ext cx="1127455"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099645" y="4430268"/>
            <a:ext cx="999439" cy="806958"/>
          </a:xfrm>
          <a:prstGeom prst="rect">
            <a:avLst/>
          </a:prstGeom>
          <a:noFill/>
        </p:spPr>
        <p:txBody>
          <a:bodyPr wrap="square" anchor="t">
            <a:spAutoFit/>
          </a:bodyPr>
          <a:lstStyle/>
          <a:p>
            <a:pPr algn="l"/>
            <a:r>
              <a:rPr b="0" sz="1300">
                <a:solidFill>
                  <a:srgbClr val="1A1A1A"/>
                </a:solidFill>
                <a:latin typeface="Noto Sans JP"/>
              </a:rPr>
              <a:t>2027年</a:t>
            </a:r>
          </a:p>
        </p:txBody>
      </p:sp>
      <p:sp>
        <p:nvSpPr>
          <p:cNvPr id="39" name="Rectangle 38"/>
          <p:cNvSpPr/>
          <p:nvPr/>
        </p:nvSpPr>
        <p:spPr>
          <a:xfrm>
            <a:off x="3163092" y="4357116"/>
            <a:ext cx="4509820"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27100" y="4430268"/>
            <a:ext cx="4381804" cy="806958"/>
          </a:xfrm>
          <a:prstGeom prst="rect">
            <a:avLst/>
          </a:prstGeom>
          <a:noFill/>
        </p:spPr>
        <p:txBody>
          <a:bodyPr wrap="square" anchor="t">
            <a:spAutoFit/>
          </a:bodyPr>
          <a:lstStyle/>
          <a:p>
            <a:pPr algn="l"/>
            <a:r>
              <a:rPr b="0" sz="1300">
                <a:solidFill>
                  <a:srgbClr val="1A1A1A"/>
                </a:solidFill>
                <a:latin typeface="Noto Sans JP"/>
              </a:rPr>
              <a:t>都市水道局5〜10案件展開・差別化確立</a:t>
            </a:r>
          </a:p>
        </p:txBody>
      </p:sp>
      <p:sp>
        <p:nvSpPr>
          <p:cNvPr id="41" name="Rectangle 40"/>
          <p:cNvSpPr/>
          <p:nvPr/>
        </p:nvSpPr>
        <p:spPr>
          <a:xfrm>
            <a:off x="7672913" y="4357116"/>
            <a:ext cx="4058838"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36921" y="4430268"/>
            <a:ext cx="3930822" cy="806958"/>
          </a:xfrm>
          <a:prstGeom prst="rect">
            <a:avLst/>
          </a:prstGeom>
          <a:noFill/>
        </p:spPr>
        <p:txBody>
          <a:bodyPr wrap="square" anchor="t">
            <a:spAutoFit/>
          </a:bodyPr>
          <a:lstStyle/>
          <a:p>
            <a:pPr algn="l"/>
            <a:r>
              <a:rPr b="0" sz="1300">
                <a:solidFill>
                  <a:srgbClr val="1A1A1A"/>
                </a:solidFill>
                <a:latin typeface="Noto Sans JP"/>
              </a:rPr>
              <a:t>SaaS継続収益・業績連動リターン獲得</a:t>
            </a:r>
          </a:p>
        </p:txBody>
      </p:sp>
      <p:sp>
        <p:nvSpPr>
          <p:cNvPr id="43" name="Rectangle 42"/>
          <p:cNvSpPr/>
          <p:nvPr/>
        </p:nvSpPr>
        <p:spPr>
          <a:xfrm>
            <a:off x="457200" y="529666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57200" y="5310378"/>
            <a:ext cx="1578437"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21208" y="5383530"/>
            <a:ext cx="1450421" cy="806958"/>
          </a:xfrm>
          <a:prstGeom prst="rect">
            <a:avLst/>
          </a:prstGeom>
          <a:noFill/>
        </p:spPr>
        <p:txBody>
          <a:bodyPr wrap="square" anchor="t">
            <a:spAutoFit/>
          </a:bodyPr>
          <a:lstStyle/>
          <a:p>
            <a:pPr algn="l"/>
            <a:r>
              <a:rPr b="1" sz="1300">
                <a:solidFill>
                  <a:srgbClr val="00529B"/>
                </a:solidFill>
                <a:latin typeface="Noto Sans JP"/>
              </a:rPr>
              <a:t>Phase 4 横展開</a:t>
            </a:r>
          </a:p>
        </p:txBody>
      </p:sp>
      <p:sp>
        <p:nvSpPr>
          <p:cNvPr id="46" name="Rectangle 45"/>
          <p:cNvSpPr/>
          <p:nvPr/>
        </p:nvSpPr>
        <p:spPr>
          <a:xfrm>
            <a:off x="2035637" y="5310378"/>
            <a:ext cx="1127455"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099645" y="5383530"/>
            <a:ext cx="999439" cy="806958"/>
          </a:xfrm>
          <a:prstGeom prst="rect">
            <a:avLst/>
          </a:prstGeom>
          <a:noFill/>
        </p:spPr>
        <p:txBody>
          <a:bodyPr wrap="square" anchor="t">
            <a:spAutoFit/>
          </a:bodyPr>
          <a:lstStyle/>
          <a:p>
            <a:pPr algn="l"/>
            <a:r>
              <a:rPr b="0" sz="1300">
                <a:solidFill>
                  <a:srgbClr val="1A1A1A"/>
                </a:solidFill>
                <a:latin typeface="Noto Sans JP"/>
              </a:rPr>
              <a:t>2028年〜</a:t>
            </a:r>
          </a:p>
        </p:txBody>
      </p:sp>
      <p:sp>
        <p:nvSpPr>
          <p:cNvPr id="48" name="Rectangle 47"/>
          <p:cNvSpPr/>
          <p:nvPr/>
        </p:nvSpPr>
        <p:spPr>
          <a:xfrm>
            <a:off x="3163092" y="5310378"/>
            <a:ext cx="4509820"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227100" y="5383530"/>
            <a:ext cx="4381804" cy="806958"/>
          </a:xfrm>
          <a:prstGeom prst="rect">
            <a:avLst/>
          </a:prstGeom>
          <a:noFill/>
        </p:spPr>
        <p:txBody>
          <a:bodyPr wrap="square" anchor="t">
            <a:spAutoFit/>
          </a:bodyPr>
          <a:lstStyle/>
          <a:p>
            <a:pPr algn="l"/>
            <a:r>
              <a:rPr b="0" sz="1300">
                <a:solidFill>
                  <a:srgbClr val="1A1A1A"/>
                </a:solidFill>
                <a:latin typeface="Noto Sans JP"/>
              </a:rPr>
              <a:t>下水道・電力・ガス管路AI診断拡張・海外展開検討</a:t>
            </a:r>
          </a:p>
        </p:txBody>
      </p:sp>
      <p:sp>
        <p:nvSpPr>
          <p:cNvPr id="50" name="Rectangle 49"/>
          <p:cNvSpPr/>
          <p:nvPr/>
        </p:nvSpPr>
        <p:spPr>
          <a:xfrm>
            <a:off x="7672913" y="5310378"/>
            <a:ext cx="4058838"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736921" y="5383530"/>
            <a:ext cx="3930822" cy="806958"/>
          </a:xfrm>
          <a:prstGeom prst="rect">
            <a:avLst/>
          </a:prstGeom>
          <a:noFill/>
        </p:spPr>
        <p:txBody>
          <a:bodyPr wrap="square" anchor="t">
            <a:spAutoFit/>
          </a:bodyPr>
          <a:lstStyle/>
          <a:p>
            <a:pPr algn="l"/>
            <a:r>
              <a:rPr b="0" sz="1300">
                <a:solidFill>
                  <a:srgbClr val="1A1A1A"/>
                </a:solidFill>
                <a:latin typeface="Noto Sans JP"/>
              </a:rPr>
              <a:t>IPO/EXIT時のキャピタルゲイン獲得</a:t>
            </a:r>
          </a:p>
        </p:txBody>
      </p:sp>
      <p:sp>
        <p:nvSpPr>
          <p:cNvPr id="52" name="Rectangle 51"/>
          <p:cNvSpPr/>
          <p:nvPr/>
        </p:nvSpPr>
        <p:spPr>
          <a:xfrm>
            <a:off x="457200" y="624992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1371600"/>
            <a:ext cx="11274552" cy="1828800"/>
          </a:xfrm>
          <a:prstGeom prst="rect">
            <a:avLst/>
          </a:prstGeom>
          <a:noFill/>
        </p:spPr>
        <p:txBody>
          <a:bodyPr wrap="square" anchor="ctr">
            <a:spAutoFit/>
          </a:bodyPr>
          <a:lstStyle/>
          <a:p>
            <a:pPr algn="ctr"/>
            <a:r>
              <a:rPr b="1" sz="5200">
                <a:solidFill>
                  <a:srgbClr val="FFFFFF"/>
                </a:solidFill>
                <a:latin typeface="Noto Sans"/>
              </a:rPr>
              <a:t>Thank You</a:t>
            </a:r>
          </a:p>
        </p:txBody>
      </p:sp>
      <p:sp>
        <p:nvSpPr>
          <p:cNvPr id="3" name="Rectangle 2"/>
          <p:cNvSpPr/>
          <p:nvPr/>
        </p:nvSpPr>
        <p:spPr>
          <a:xfrm>
            <a:off x="4722876" y="3291840"/>
            <a:ext cx="2743200" cy="3657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657600"/>
            <a:ext cx="10360152" cy="1371600"/>
          </a:xfrm>
          <a:prstGeom prst="rect">
            <a:avLst/>
          </a:prstGeom>
          <a:noFill/>
        </p:spPr>
        <p:txBody>
          <a:bodyPr wrap="square" anchor="ctr">
            <a:spAutoFit/>
          </a:bodyPr>
          <a:lstStyle/>
          <a:p>
            <a:pPr algn="ctr"/>
            <a:r>
              <a:rPr b="0" sz="1400">
                <a:solidFill>
                  <a:srgbClr val="999999"/>
                </a:solidFill>
                <a:latin typeface="Noto Sans JP"/>
              </a:rPr>
              <a:t>AIVALIX株式会社
ご提案に関するご質問・ご相談はお気軽にお申し付けください
info@aivalix.com</a:t>
            </a:r>
          </a:p>
        </p:txBody>
      </p:sp>
      <p:pic>
        <p:nvPicPr>
          <p:cNvPr id="5" name="Picture 4" descr="aivalix_logo_white_16x9.png"/>
          <p:cNvPicPr>
            <a:picLocks noChangeAspect="1"/>
          </p:cNvPicPr>
          <p:nvPr/>
        </p:nvPicPr>
        <p:blipFill>
          <a:blip r:embed="rId2"/>
          <a:stretch>
            <a:fillRect/>
          </a:stretch>
        </p:blipFill>
        <p:spPr>
          <a:xfrm>
            <a:off x="3808476" y="5669280"/>
            <a:ext cx="813763" cy="457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