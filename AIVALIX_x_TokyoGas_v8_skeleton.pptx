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77724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4800">
                <a:solidFill>
                  <a:srgbClr val="FFFFFF"/>
                </a:solidFill>
                <a:latin typeface="Noto Sans JP"/>
              </a:rPr>
              <a:t>AIVALIX × 東京ガス
GIS基盤の高度化に向けて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0"/>
            <a:ext cx="7772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800">
                <a:solidFill>
                  <a:srgbClr val="999999"/>
                </a:solidFill>
                <a:latin typeface="Noto Sans JP"/>
              </a:rPr>
              <a:t>GIS（TUMSY）× AI（INFRAI）で「意思決定基盤」を共創する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999999"/>
                </a:solidFill>
                <a:latin typeface="Noto Sans"/>
              </a:rPr>
              <a:t>2026年4月　AIVALIX株式会社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4114800" cy="36576"/>
          </a:xfrm>
          <a:prstGeom prst="rect">
            <a:avLst/>
          </a:prstGeom>
          <a:solidFill>
            <a:srgbClr val="F69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valix_logo_white_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732387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531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F6989C"/>
                </a:solidFill>
                <a:latin typeface="Noto Sans"/>
              </a:rPr>
              <a:t>01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853135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GIS基盤の高度化に向けた課題認識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alix_logo_whit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45720"/>
            <a:ext cx="1464775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51560"/>
            <a:ext cx="112745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2000">
                <a:solidFill>
                  <a:srgbClr val="1A1A1A"/>
                </a:solidFill>
                <a:latin typeface="Noto Sans JP"/>
              </a:rPr>
              <a:t>GISは「データ管理・可視化」としては高度化しているが、「何をすべきか」を導く意思決定支援には十分に踏み込めていない。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4650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" y="2300630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11096"/>
            <a:ext cx="1098194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【GISの現状】GISはインフラ管理の中核基盤として、設備情報・維持管理履歴・空間データの蓄積および可視化を担い、日常業務の効率化・高度化に大きく貢献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77032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" y="3180283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790748"/>
            <a:ext cx="1098194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【定着領域】台帳管理・現場オペレーション・庁内共有といった領域では、既に不可欠なシステムとして定着している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6685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4059936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670401"/>
            <a:ext cx="1098194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【属人的判断の残存】設備更新・修繕の優先順位付け、投資配分の最適化、リスクの定量的評価・説明といった意思決定領域では、依然として属人的判断への依存が残存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36338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" y="4939588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550054"/>
            <a:ext cx="1098194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【構造的課題】GISは「データを管理・可視化する基盤」としては高度化しているものの、「何をすべきか」を導く意思決定支援には十分に踏み込めていない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15991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" y="5819241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429707"/>
            <a:ext cx="1098194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【本質的問い】GIS上の豊富なデータを、いかにして「意思決定」に昇華するか——これが次世代のインフラDXにおける中核テーマである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531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F6989C"/>
                </a:solidFill>
                <a:latin typeface="Noto Sans"/>
              </a:rPr>
              <a:t>02 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853135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PASCO（パスカル）× AIVALIX連携における構造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alix_logo_whit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45720"/>
            <a:ext cx="1464775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51560"/>
            <a:ext cx="112745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2000">
                <a:solidFill>
                  <a:srgbClr val="1A1A1A"/>
                </a:solidFill>
                <a:latin typeface="Noto Sans JP"/>
              </a:rPr>
              <a:t>本連携の本質は「データ基盤（GIS）」と「意思決定（AI）」の明確な役割分担による価値創出にある。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4650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19656"/>
            <a:ext cx="4114800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74152" y="1819656"/>
            <a:ext cx="45720" cy="453542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2300630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11096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【パスカルの位置づけ】PASCO提供のGISサービス「パスカル」は、全国約1,000自治体に導入され、水道台帳・設備情報・維持管理履歴を統合する業務基盤として機能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7032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" y="3180283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90748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【GIS単体の限界】更新・修繕の優先順位を定量的に判断すること、投資判断に対する合理的な根拠を提示すること、経営レベルの意思決定に直接貢献することには限界があった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6685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" y="4059936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670401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【AIVALIXのAI技術】配管単位での故障リスク（確率×影響度）の算出、更新・修繕優先順位の自動化、中長期投資計画の最適化およびシナリオ比較を実現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36338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4939588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550054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【昇華モデル】AIVALIXのAIを組み合わせることで、GIS上のデータを「意思決定」へと昇華するモデルを構築——可視化から意思決定へのパラダイムシフト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15991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8" y="5819241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29707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【連携の本質】本連携の本質は、「データ基盤（GIS）」と「意思決定（AI）」の明確な役割分担による価値創出にある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531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F6989C"/>
                </a:solidFill>
                <a:latin typeface="Noto Sans"/>
              </a:rPr>
              <a:t>03  APPLICABILITY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853135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TUMSYにおける高度化ポテンシャル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alix_logo_whit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45720"/>
            <a:ext cx="1464775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51560"/>
            <a:ext cx="112745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2000">
                <a:solidFill>
                  <a:srgbClr val="1A1A1A"/>
                </a:solidFill>
                <a:latin typeface="Noto Sans JP"/>
              </a:rPr>
              <a:t>TUMSYは「運用は高度化されているが、最適化・意思決定は未統合」——パスカル同型の高度化ポテンシャルを持つ。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4650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" y="2300630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11096"/>
            <a:ext cx="1098194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【TUMSYの位置づけ】東京ガス様が展開するGISサービス「TUMSY」は、都市インフラにおける設備データ・運用情報を統合し、保守・点検・運用を支える高度な基盤として機能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77032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" y="3180283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790748"/>
            <a:ext cx="1098194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【データポテンシャル①】高密度な都市インフラネットワークを保有し、首都圏という極めて複雑な運用環境に対応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6685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4059936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670401"/>
            <a:ext cx="1098194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【データポテンシャル②】圧力・流量・事故履歴などの運用データ、実際の保守・点検に基づくオペレーション情報を蓄積——極めて高いデータポテンシャルを有する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36338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" y="4939588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550054"/>
            <a:ext cx="1098194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【高度化余地】どの設備を優先的に更新すべきか、投資判断をどのように最適化するか、リスクをどのように定量的に評価・説明するか——さらなる高度化余地が存在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15991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" y="5819241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429707"/>
            <a:ext cx="1098194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【構造的示唆】パスカル同様に「運用は高度化されているが、最適化・意思決定は未統合」という構造——AIVALIXのAI技術との連携による昇華ポテンシャルが極めて大きい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531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F6989C"/>
                </a:solidFill>
                <a:latin typeface="Noto Sans"/>
              </a:rPr>
              <a:t>04  VALUE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853135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TUMSY × AIVALIXによる価値創出と外販モデル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alix_logo_whit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45720"/>
            <a:ext cx="1464775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51560"/>
            <a:ext cx="112745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700">
                <a:solidFill>
                  <a:srgbClr val="1A1A1A"/>
                </a:solidFill>
                <a:latin typeface="Noto Sans JP"/>
              </a:rPr>
              <a:t>TUMSYは単なる運用・管理ツールから「意思決定基盤」へ進化。さらに東京ガス様の大都市顧客基盤と組み合わせ、高付加価値DXソリューションの外販を実現する。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4650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" y="2227326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11096"/>
            <a:ext cx="1098194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【価値①　リスク可視化】インフラリスクの定量的可視化（故障確率×影響度）——属人判断から脱却し、合理的な優先順位付けを実現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3042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" y="2960370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644140"/>
            <a:ext cx="1098194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【価値②　計画最適化】更新・修繕計画の最適化および優先順位付け——限られた予算下での投資効率を最大化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63468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3693414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377184"/>
            <a:ext cx="1098194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【価値③　説明責任強化】投資判断の高度化および説明可能性の向上——社内意思決定、議会・株主・規制当局への説明根拠を定量的に提供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96512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" y="4426458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10228"/>
            <a:ext cx="1098194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【価値④　EBPM実現】データに基づく経営判断（EBPM）の実現により、TUMSYは単なる運用・管理ツールから「意思決定基盤」としての機能を獲得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29556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" y="5159502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843272"/>
            <a:ext cx="1098194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【外販①　高付加価値DX】東京ガス様の大都市圏顧客基盤と組み合わせ、都市インフラ領域における高付加価値DXソリューションとして外販可能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62600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8" y="5892546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576316"/>
            <a:ext cx="1098194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【外販②　横展開】ガス領域に留まらず水道・プラント等のマルチインフラ領域へ横展開——新たな収益モデルの構築が実現する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45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  <a:latin typeface="Noto Sans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2876" y="3291840"/>
            <a:ext cx="2743200" cy="3657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0" sz="1400">
                <a:solidFill>
                  <a:srgbClr val="999999"/>
                </a:solidFill>
                <a:latin typeface="Noto Sans JP"/>
              </a:rPr>
              <a:t>AIVALIX株式会社
ご提案に関するご質問・ご相談はお気軽にお申し付けください
info@aivalix.com</a:t>
            </a:r>
          </a:p>
        </p:txBody>
      </p:sp>
      <p:pic>
        <p:nvPicPr>
          <p:cNvPr id="5" name="Picture 4" descr="aivalix_logo_whit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5669280"/>
            <a:ext cx="813763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