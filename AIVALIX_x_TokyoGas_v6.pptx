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548"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sz="4800" b="1">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sz="1800" b="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sz="1300" b="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8CB1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01  EXECUTIVE SUMMARY</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dirty="0" err="1">
                <a:solidFill>
                  <a:srgbClr val="FFFFFF"/>
                </a:solidFill>
                <a:latin typeface="Noto Sans JP"/>
              </a:rPr>
              <a:t>エグゼクティブサマリ</a:t>
            </a:r>
            <a:r>
              <a:rPr sz="2600" b="1" dirty="0">
                <a:solidFill>
                  <a:srgbClr val="FFFFFF"/>
                </a:solidFill>
                <a:latin typeface="Noto Sans JP"/>
              </a:rPr>
              <a:t>ー</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Rectangle 6"/>
          <p:cNvSpPr/>
          <p:nvPr/>
        </p:nvSpPr>
        <p:spPr>
          <a:xfrm>
            <a:off x="521208" y="176936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37160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539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266547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26771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501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3561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3163824"/>
            <a:ext cx="10981944" cy="896112"/>
          </a:xfrm>
          <a:prstGeom prst="rect">
            <a:avLst/>
          </a:prstGeom>
          <a:noFill/>
        </p:spPr>
        <p:txBody>
          <a:bodyPr wrap="square" anchor="ctr">
            <a:spAutoFit/>
          </a:bodyPr>
          <a:lstStyle/>
          <a:p>
            <a:r>
              <a:rPr sz="1550" dirty="0">
                <a:solidFill>
                  <a:srgbClr val="1A1A1A"/>
                </a:solidFill>
                <a:latin typeface="Noto Sans JP"/>
              </a:rPr>
              <a:t>【</a:t>
            </a:r>
            <a:r>
              <a:rPr sz="1550" dirty="0" err="1">
                <a:solidFill>
                  <a:srgbClr val="1A1A1A"/>
                </a:solidFill>
                <a:latin typeface="Noto Sans JP"/>
              </a:rPr>
              <a:t>協業の構造】東京ガスGIS（TUMSY）をフロントエンド、INFRAIをAIバックエンドとして統合</a:t>
            </a:r>
            <a:r>
              <a:rPr sz="1550" dirty="0">
                <a:solidFill>
                  <a:srgbClr val="1A1A1A"/>
                </a:solidFill>
                <a:latin typeface="Noto Sans JP"/>
              </a:rPr>
              <a:t>——「</a:t>
            </a:r>
            <a:r>
              <a:rPr sz="1550" dirty="0" err="1">
                <a:solidFill>
                  <a:srgbClr val="1A1A1A"/>
                </a:solidFill>
                <a:latin typeface="Noto Sans JP"/>
              </a:rPr>
              <a:t>AI診断付きGIS」という市場唯一のパッケージを共同構築</a:t>
            </a:r>
            <a:endParaRPr sz="1550" dirty="0">
              <a:solidFill>
                <a:srgbClr val="1A1A1A"/>
              </a:solidFill>
              <a:latin typeface="Noto Sans JP"/>
            </a:endParaRPr>
          </a:p>
        </p:txBody>
      </p:sp>
      <p:sp>
        <p:nvSpPr>
          <p:cNvPr id="15" name="Rectangle 14"/>
          <p:cNvSpPr/>
          <p:nvPr/>
        </p:nvSpPr>
        <p:spPr>
          <a:xfrm>
            <a:off x="457200" y="4046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208" y="445770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405993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423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21208" y="535381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95604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9217152" y="1600200"/>
            <a:ext cx="2406607" cy="4749882"/>
          </a:xfrm>
          <a:prstGeom prst="rect">
            <a:avLst/>
          </a:prstGeom>
        </p:spPr>
      </p:pic>
      <p:sp>
        <p:nvSpPr>
          <p:cNvPr id="3" name="Rectangle 2"/>
          <p:cNvSpPr/>
          <p:nvPr/>
        </p:nvSpPr>
        <p:spPr>
          <a:xfrm>
            <a:off x="8714232" y="0"/>
            <a:ext cx="45720" cy="68580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sz="1200" b="0">
                <a:solidFill>
                  <a:srgbClr val="8CB1D2"/>
                </a:solidFill>
                <a:latin typeface="Noto Sans"/>
              </a:rPr>
              <a:t>02  MARKET OPPORTUNITY</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sz="2600" b="1">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sz="1300" b="1">
                <a:solidFill>
                  <a:srgbClr val="1A1A1A"/>
                </a:solidFill>
                <a:latin typeface="Noto Sans JP"/>
              </a:rPr>
              <a:t>国策により全1,400事業者のDX導入が確定——GIS×AIの統合パッケージを先行投入すれば、数千億円市場で先行者優位を獲得できる。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4158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26989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1239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7799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3204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03  SOLUTION</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93392"/>
            <a:ext cx="101470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993392"/>
            <a:ext cx="923269" cy="457200"/>
          </a:xfrm>
          <a:prstGeom prst="rect">
            <a:avLst/>
          </a:prstGeom>
          <a:noFill/>
        </p:spPr>
        <p:txBody>
          <a:bodyPr wrap="square" anchor="ctr">
            <a:spAutoFit/>
          </a:bodyPr>
          <a:lstStyle/>
          <a:p>
            <a:pPr algn="l"/>
            <a:r>
              <a:rPr sz="1200" b="1">
                <a:solidFill>
                  <a:srgbClr val="FFFFFF"/>
                </a:solidFill>
                <a:latin typeface="Noto Sans JP"/>
              </a:rPr>
              <a:t>ステップ</a:t>
            </a:r>
          </a:p>
        </p:txBody>
      </p:sp>
      <p:sp>
        <p:nvSpPr>
          <p:cNvPr id="11" name="Rectangle 10"/>
          <p:cNvSpPr/>
          <p:nvPr/>
        </p:nvSpPr>
        <p:spPr>
          <a:xfrm>
            <a:off x="1471909" y="1993392"/>
            <a:ext cx="3156874"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35917" y="1993392"/>
            <a:ext cx="3065434" cy="457200"/>
          </a:xfrm>
          <a:prstGeom prst="rect">
            <a:avLst/>
          </a:prstGeom>
          <a:noFill/>
        </p:spPr>
        <p:txBody>
          <a:bodyPr wrap="square" anchor="ctr">
            <a:spAutoFit/>
          </a:bodyPr>
          <a:lstStyle/>
          <a:p>
            <a:pPr algn="l"/>
            <a:r>
              <a:rPr sz="1200" b="1">
                <a:solidFill>
                  <a:srgbClr val="FFFFFF"/>
                </a:solidFill>
                <a:latin typeface="Noto Sans JP"/>
              </a:rPr>
              <a:t>プロセス</a:t>
            </a:r>
          </a:p>
        </p:txBody>
      </p:sp>
      <p:sp>
        <p:nvSpPr>
          <p:cNvPr id="13" name="Rectangle 12"/>
          <p:cNvSpPr/>
          <p:nvPr/>
        </p:nvSpPr>
        <p:spPr>
          <a:xfrm>
            <a:off x="4628784" y="1993392"/>
            <a:ext cx="3720602"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2792" y="1993392"/>
            <a:ext cx="3629162" cy="457200"/>
          </a:xfrm>
          <a:prstGeom prst="rect">
            <a:avLst/>
          </a:prstGeom>
          <a:noFill/>
        </p:spPr>
        <p:txBody>
          <a:bodyPr wrap="square" anchor="ctr">
            <a:spAutoFit/>
          </a:bodyPr>
          <a:lstStyle/>
          <a:p>
            <a:pPr algn="l"/>
            <a:r>
              <a:rPr sz="1200" b="1">
                <a:solidFill>
                  <a:srgbClr val="FFFFFF"/>
                </a:solidFill>
                <a:latin typeface="Noto Sans JP"/>
              </a:rPr>
              <a:t>AIVALIXの提供価値</a:t>
            </a:r>
          </a:p>
        </p:txBody>
      </p:sp>
      <p:sp>
        <p:nvSpPr>
          <p:cNvPr id="15" name="Rectangle 14"/>
          <p:cNvSpPr/>
          <p:nvPr/>
        </p:nvSpPr>
        <p:spPr>
          <a:xfrm>
            <a:off x="8349386" y="1993392"/>
            <a:ext cx="338236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3394" y="1993392"/>
            <a:ext cx="3290925" cy="457200"/>
          </a:xfrm>
          <a:prstGeom prst="rect">
            <a:avLst/>
          </a:prstGeom>
          <a:noFill/>
        </p:spPr>
        <p:txBody>
          <a:bodyPr wrap="square" anchor="ctr">
            <a:spAutoFit/>
          </a:bodyPr>
          <a:lstStyle/>
          <a:p>
            <a:pPr algn="l"/>
            <a:r>
              <a:rPr sz="1200" b="1">
                <a:solidFill>
                  <a:srgbClr val="FFFFFF"/>
                </a:solidFill>
                <a:latin typeface="Noto Sans JP"/>
              </a:rPr>
              <a:t>東京ガスの貢献</a:t>
            </a:r>
          </a:p>
        </p:txBody>
      </p:sp>
      <p:sp>
        <p:nvSpPr>
          <p:cNvPr id="17" name="Rectangle 16"/>
          <p:cNvSpPr/>
          <p:nvPr/>
        </p:nvSpPr>
        <p:spPr>
          <a:xfrm>
            <a:off x="457200" y="2450592"/>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 y="2523744"/>
            <a:ext cx="886693" cy="806958"/>
          </a:xfrm>
          <a:prstGeom prst="rect">
            <a:avLst/>
          </a:prstGeom>
          <a:noFill/>
        </p:spPr>
        <p:txBody>
          <a:bodyPr wrap="square" anchor="t">
            <a:spAutoFit/>
          </a:bodyPr>
          <a:lstStyle/>
          <a:p>
            <a:pPr algn="l"/>
            <a:r>
              <a:rPr sz="1300" b="1">
                <a:solidFill>
                  <a:srgbClr val="00529B"/>
                </a:solidFill>
                <a:latin typeface="Noto Sans JP"/>
              </a:rPr>
              <a:t>A データ整備</a:t>
            </a:r>
          </a:p>
        </p:txBody>
      </p:sp>
      <p:sp>
        <p:nvSpPr>
          <p:cNvPr id="19" name="Rectangle 18"/>
          <p:cNvSpPr/>
          <p:nvPr/>
        </p:nvSpPr>
        <p:spPr>
          <a:xfrm>
            <a:off x="1471909" y="2450592"/>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35917" y="2523744"/>
            <a:ext cx="3028858" cy="806958"/>
          </a:xfrm>
          <a:prstGeom prst="rect">
            <a:avLst/>
          </a:prstGeom>
          <a:noFill/>
        </p:spPr>
        <p:txBody>
          <a:bodyPr wrap="square" anchor="t">
            <a:spAutoFit/>
          </a:bodyPr>
          <a:lstStyle/>
          <a:p>
            <a:pPr algn="l"/>
            <a:r>
              <a:rPr sz="1300" b="0">
                <a:solidFill>
                  <a:srgbClr val="1A1A1A"/>
                </a:solidFill>
                <a:latin typeface="Noto Sans JP"/>
              </a:rPr>
              <a:t>管路台帳・GIS・事故履歴データのデジタル化と標準化</a:t>
            </a:r>
          </a:p>
        </p:txBody>
      </p:sp>
      <p:sp>
        <p:nvSpPr>
          <p:cNvPr id="21" name="Rectangle 20"/>
          <p:cNvSpPr/>
          <p:nvPr/>
        </p:nvSpPr>
        <p:spPr>
          <a:xfrm>
            <a:off x="4628784" y="2450592"/>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92792" y="2523744"/>
            <a:ext cx="3592586" cy="806958"/>
          </a:xfrm>
          <a:prstGeom prst="rect">
            <a:avLst/>
          </a:prstGeom>
          <a:noFill/>
        </p:spPr>
        <p:txBody>
          <a:bodyPr wrap="square" anchor="t">
            <a:spAutoFit/>
          </a:bodyPr>
          <a:lstStyle/>
          <a:p>
            <a:pPr algn="l"/>
            <a:r>
              <a:rPr sz="1300" b="0">
                <a:solidFill>
                  <a:srgbClr val="1A1A1A"/>
                </a:solidFill>
                <a:latin typeface="Noto Sans JP"/>
              </a:rPr>
              <a:t>学習データ設計・AI用フォーマット整備・データ品質評価</a:t>
            </a:r>
          </a:p>
        </p:txBody>
      </p:sp>
      <p:sp>
        <p:nvSpPr>
          <p:cNvPr id="23" name="Rectangle 22"/>
          <p:cNvSpPr/>
          <p:nvPr/>
        </p:nvSpPr>
        <p:spPr>
          <a:xfrm>
            <a:off x="8349386" y="2450592"/>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3394" y="2523744"/>
            <a:ext cx="3254349" cy="806958"/>
          </a:xfrm>
          <a:prstGeom prst="rect">
            <a:avLst/>
          </a:prstGeom>
          <a:noFill/>
        </p:spPr>
        <p:txBody>
          <a:bodyPr wrap="square" anchor="t">
            <a:spAutoFit/>
          </a:bodyPr>
          <a:lstStyle/>
          <a:p>
            <a:pPr algn="l"/>
            <a:r>
              <a:rPr sz="1300" b="0">
                <a:solidFill>
                  <a:srgbClr val="1A1A1A"/>
                </a:solidFill>
                <a:latin typeface="Noto Sans JP"/>
              </a:rPr>
              <a:t>TUMSYデータ連携・顧客既存GISデータの橋渡し</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403854"/>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3477006"/>
            <a:ext cx="886693" cy="806958"/>
          </a:xfrm>
          <a:prstGeom prst="rect">
            <a:avLst/>
          </a:prstGeom>
          <a:noFill/>
        </p:spPr>
        <p:txBody>
          <a:bodyPr wrap="square" anchor="t">
            <a:spAutoFit/>
          </a:bodyPr>
          <a:lstStyle/>
          <a:p>
            <a:pPr algn="l"/>
            <a:r>
              <a:rPr sz="1300" b="1">
                <a:solidFill>
                  <a:srgbClr val="00529B"/>
                </a:solidFill>
                <a:latin typeface="Noto Sans JP"/>
              </a:rPr>
              <a:t>B AI分析</a:t>
            </a:r>
          </a:p>
        </p:txBody>
      </p:sp>
      <p:sp>
        <p:nvSpPr>
          <p:cNvPr id="28" name="Rectangle 27"/>
          <p:cNvSpPr/>
          <p:nvPr/>
        </p:nvSpPr>
        <p:spPr>
          <a:xfrm>
            <a:off x="1471909" y="3403854"/>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35917" y="3477006"/>
            <a:ext cx="3028858" cy="806958"/>
          </a:xfrm>
          <a:prstGeom prst="rect">
            <a:avLst/>
          </a:prstGeom>
          <a:noFill/>
        </p:spPr>
        <p:txBody>
          <a:bodyPr wrap="square" anchor="t">
            <a:spAutoFit/>
          </a:bodyPr>
          <a:lstStyle/>
          <a:p>
            <a:pPr algn="l"/>
            <a:r>
              <a:rPr sz="1300" b="0">
                <a:solidFill>
                  <a:srgbClr val="1A1A1A"/>
                </a:solidFill>
                <a:latin typeface="Noto Sans JP"/>
              </a:rPr>
              <a:t>管1本単位の故障確率×影響度によるリスクスコアリング</a:t>
            </a:r>
          </a:p>
        </p:txBody>
      </p:sp>
      <p:sp>
        <p:nvSpPr>
          <p:cNvPr id="30" name="Rectangle 29"/>
          <p:cNvSpPr/>
          <p:nvPr/>
        </p:nvSpPr>
        <p:spPr>
          <a:xfrm>
            <a:off x="4628784" y="3403854"/>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92792" y="3477006"/>
            <a:ext cx="3592586" cy="806958"/>
          </a:xfrm>
          <a:prstGeom prst="rect">
            <a:avLst/>
          </a:prstGeom>
          <a:noFill/>
        </p:spPr>
        <p:txBody>
          <a:bodyPr wrap="square" anchor="t">
            <a:spAutoFit/>
          </a:bodyPr>
          <a:lstStyle/>
          <a:p>
            <a:pPr algn="l"/>
            <a:r>
              <a:rPr sz="1300" b="0">
                <a:solidFill>
                  <a:srgbClr val="1A1A1A"/>
                </a:solidFill>
                <a:latin typeface="Noto Sans JP"/>
              </a:rPr>
              <a:t>INFRAI基盤モデルによる少データ高精度予測・衛星データ統合</a:t>
            </a:r>
          </a:p>
        </p:txBody>
      </p:sp>
      <p:sp>
        <p:nvSpPr>
          <p:cNvPr id="32" name="Rectangle 31"/>
          <p:cNvSpPr/>
          <p:nvPr/>
        </p:nvSpPr>
        <p:spPr>
          <a:xfrm>
            <a:off x="8349386" y="3403854"/>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3394" y="3477006"/>
            <a:ext cx="3254349" cy="806958"/>
          </a:xfrm>
          <a:prstGeom prst="rect">
            <a:avLst/>
          </a:prstGeom>
          <a:noFill/>
        </p:spPr>
        <p:txBody>
          <a:bodyPr wrap="square" anchor="t">
            <a:spAutoFit/>
          </a:bodyPr>
          <a:lstStyle/>
          <a:p>
            <a:pPr algn="l"/>
            <a:r>
              <a:rPr sz="1300" b="0">
                <a:solidFill>
                  <a:srgbClr val="1A1A1A"/>
                </a:solidFill>
                <a:latin typeface="Noto Sans JP"/>
              </a:rPr>
              <a:t>ガス管AI知見の水道管リスクモデルへの応用</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357116"/>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430268"/>
            <a:ext cx="886693" cy="806958"/>
          </a:xfrm>
          <a:prstGeom prst="rect">
            <a:avLst/>
          </a:prstGeom>
          <a:noFill/>
        </p:spPr>
        <p:txBody>
          <a:bodyPr wrap="square" anchor="t">
            <a:spAutoFit/>
          </a:bodyPr>
          <a:lstStyle/>
          <a:p>
            <a:pPr algn="l"/>
            <a:r>
              <a:rPr sz="1300" b="1">
                <a:solidFill>
                  <a:srgbClr val="00529B"/>
                </a:solidFill>
                <a:latin typeface="Noto Sans JP"/>
              </a:rPr>
              <a:t>C 可視化</a:t>
            </a:r>
          </a:p>
        </p:txBody>
      </p:sp>
      <p:sp>
        <p:nvSpPr>
          <p:cNvPr id="37" name="Rectangle 36"/>
          <p:cNvSpPr/>
          <p:nvPr/>
        </p:nvSpPr>
        <p:spPr>
          <a:xfrm>
            <a:off x="1471909" y="4357116"/>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535917" y="4430268"/>
            <a:ext cx="3028858" cy="806958"/>
          </a:xfrm>
          <a:prstGeom prst="rect">
            <a:avLst/>
          </a:prstGeom>
          <a:noFill/>
        </p:spPr>
        <p:txBody>
          <a:bodyPr wrap="square" anchor="t">
            <a:spAutoFit/>
          </a:bodyPr>
          <a:lstStyle/>
          <a:p>
            <a:pPr algn="l"/>
            <a:r>
              <a:rPr sz="1300" b="0">
                <a:solidFill>
                  <a:srgbClr val="1A1A1A"/>
                </a:solidFill>
                <a:latin typeface="Noto Sans JP"/>
              </a:rPr>
              <a:t>リスクマップ・優先順位表をGIS上にレイヤー表示</a:t>
            </a:r>
          </a:p>
        </p:txBody>
      </p:sp>
      <p:sp>
        <p:nvSpPr>
          <p:cNvPr id="39" name="Rectangle 38"/>
          <p:cNvSpPr/>
          <p:nvPr/>
        </p:nvSpPr>
        <p:spPr>
          <a:xfrm>
            <a:off x="4628784" y="4357116"/>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92792" y="4430268"/>
            <a:ext cx="3592586" cy="806958"/>
          </a:xfrm>
          <a:prstGeom prst="rect">
            <a:avLst/>
          </a:prstGeom>
          <a:noFill/>
        </p:spPr>
        <p:txBody>
          <a:bodyPr wrap="square" anchor="t">
            <a:spAutoFit/>
          </a:bodyPr>
          <a:lstStyle/>
          <a:p>
            <a:pPr algn="l"/>
            <a:r>
              <a:rPr sz="1300" b="0">
                <a:solidFill>
                  <a:srgbClr val="1A1A1A"/>
                </a:solidFill>
                <a:latin typeface="Noto Sans JP"/>
              </a:rPr>
              <a:t>AI予測結果のGISレイヤーへのシームレス統合出力</a:t>
            </a:r>
          </a:p>
        </p:txBody>
      </p:sp>
      <p:sp>
        <p:nvSpPr>
          <p:cNvPr id="41" name="Rectangle 40"/>
          <p:cNvSpPr/>
          <p:nvPr/>
        </p:nvSpPr>
        <p:spPr>
          <a:xfrm>
            <a:off x="8349386" y="4357116"/>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3394" y="4430268"/>
            <a:ext cx="3254349" cy="806958"/>
          </a:xfrm>
          <a:prstGeom prst="rect">
            <a:avLst/>
          </a:prstGeom>
          <a:noFill/>
        </p:spPr>
        <p:txBody>
          <a:bodyPr wrap="square" anchor="t">
            <a:spAutoFit/>
          </a:bodyPr>
          <a:lstStyle/>
          <a:p>
            <a:pPr algn="l"/>
            <a:r>
              <a:rPr sz="1300" b="0">
                <a:solidFill>
                  <a:srgbClr val="1A1A1A"/>
                </a:solidFill>
                <a:latin typeface="Noto Sans JP"/>
              </a:rPr>
              <a:t>TUMSYダッシュボード上でのリアルタイム表示・UI</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5310378"/>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 y="5383530"/>
            <a:ext cx="886693" cy="806958"/>
          </a:xfrm>
          <a:prstGeom prst="rect">
            <a:avLst/>
          </a:prstGeom>
          <a:noFill/>
        </p:spPr>
        <p:txBody>
          <a:bodyPr wrap="square" anchor="t">
            <a:spAutoFit/>
          </a:bodyPr>
          <a:lstStyle/>
          <a:p>
            <a:pPr algn="l"/>
            <a:r>
              <a:rPr sz="1300" b="1">
                <a:solidFill>
                  <a:srgbClr val="00529B"/>
                </a:solidFill>
                <a:latin typeface="Noto Sans JP"/>
              </a:rPr>
              <a:t>D 意思決定</a:t>
            </a:r>
          </a:p>
        </p:txBody>
      </p:sp>
      <p:sp>
        <p:nvSpPr>
          <p:cNvPr id="46" name="Rectangle 45"/>
          <p:cNvSpPr/>
          <p:nvPr/>
        </p:nvSpPr>
        <p:spPr>
          <a:xfrm>
            <a:off x="1471909" y="5310378"/>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535917" y="5383530"/>
            <a:ext cx="3028858" cy="806958"/>
          </a:xfrm>
          <a:prstGeom prst="rect">
            <a:avLst/>
          </a:prstGeom>
          <a:noFill/>
        </p:spPr>
        <p:txBody>
          <a:bodyPr wrap="square" anchor="t">
            <a:spAutoFit/>
          </a:bodyPr>
          <a:lstStyle/>
          <a:p>
            <a:pPr algn="l"/>
            <a:r>
              <a:rPr sz="1200" b="0">
                <a:solidFill>
                  <a:srgbClr val="1A1A1A"/>
                </a:solidFill>
                <a:latin typeface="Noto Sans JP"/>
              </a:rPr>
              <a:t>EBPM更新計画・交付金申請根拠・議会説明資料の自動生成</a:t>
            </a:r>
          </a:p>
        </p:txBody>
      </p:sp>
      <p:sp>
        <p:nvSpPr>
          <p:cNvPr id="48" name="Rectangle 47"/>
          <p:cNvSpPr/>
          <p:nvPr/>
        </p:nvSpPr>
        <p:spPr>
          <a:xfrm>
            <a:off x="4628784" y="5310378"/>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92792" y="5383530"/>
            <a:ext cx="3592586" cy="806958"/>
          </a:xfrm>
          <a:prstGeom prst="rect">
            <a:avLst/>
          </a:prstGeom>
          <a:noFill/>
        </p:spPr>
        <p:txBody>
          <a:bodyPr wrap="square" anchor="t">
            <a:spAutoFit/>
          </a:bodyPr>
          <a:lstStyle/>
          <a:p>
            <a:pPr algn="l"/>
            <a:r>
              <a:rPr sz="1300" b="0">
                <a:solidFill>
                  <a:srgbClr val="1A1A1A"/>
                </a:solidFill>
                <a:latin typeface="Noto Sans JP"/>
              </a:rPr>
              <a:t>定量エビデンスレポート自動生成・投資最適化提案</a:t>
            </a:r>
          </a:p>
        </p:txBody>
      </p:sp>
      <p:sp>
        <p:nvSpPr>
          <p:cNvPr id="50" name="Rectangle 49"/>
          <p:cNvSpPr/>
          <p:nvPr/>
        </p:nvSpPr>
        <p:spPr>
          <a:xfrm>
            <a:off x="8349386" y="5310378"/>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3394" y="5383530"/>
            <a:ext cx="3254349" cy="806958"/>
          </a:xfrm>
          <a:prstGeom prst="rect">
            <a:avLst/>
          </a:prstGeom>
          <a:noFill/>
        </p:spPr>
        <p:txBody>
          <a:bodyPr wrap="square" anchor="t">
            <a:spAutoFit/>
          </a:bodyPr>
          <a:lstStyle/>
          <a:p>
            <a:pPr algn="l"/>
            <a:r>
              <a:rPr sz="1300" b="0">
                <a:solidFill>
                  <a:srgbClr val="1A1A1A"/>
                </a:solidFill>
                <a:latin typeface="Noto Sans JP"/>
              </a:rPr>
              <a:t>水道局との信頼関係を活かした提案営業・契約推進</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04  TRACK RECORD</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sz="1600" b="1">
                <a:solidFill>
                  <a:srgbClr val="FFFFFF"/>
                </a:solidFill>
                <a:latin typeface="Noto Sans JP"/>
              </a:rPr>
              <a:t>導入実績</a:t>
            </a:r>
          </a:p>
        </p:txBody>
      </p:sp>
      <p:sp>
        <p:nvSpPr>
          <p:cNvPr id="11" name="Rectangle 10"/>
          <p:cNvSpPr/>
          <p:nvPr/>
        </p:nvSpPr>
        <p:spPr>
          <a:xfrm>
            <a:off x="548640"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sz="1300" b="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sz="1300" b="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sz="1300" b="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4516" y="2039112"/>
            <a:ext cx="5225796" cy="502920"/>
          </a:xfrm>
          <a:prstGeom prst="rect">
            <a:avLst/>
          </a:prstGeom>
          <a:noFill/>
        </p:spPr>
        <p:txBody>
          <a:bodyPr wrap="square" anchor="ctr">
            <a:spAutoFit/>
          </a:bodyPr>
          <a:lstStyle/>
          <a:p>
            <a:pPr algn="ctr"/>
            <a:r>
              <a:rPr sz="1600" b="1">
                <a:solidFill>
                  <a:srgbClr val="FFFFFF"/>
                </a:solidFill>
                <a:latin typeface="Noto Sans JP"/>
              </a:rPr>
              <a:t>PASCOからの評価</a:t>
            </a:r>
          </a:p>
        </p:txBody>
      </p:sp>
      <p:sp>
        <p:nvSpPr>
          <p:cNvPr id="19" name="Rectangle 18"/>
          <p:cNvSpPr/>
          <p:nvPr/>
        </p:nvSpPr>
        <p:spPr>
          <a:xfrm>
            <a:off x="6414516"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7396" y="2633472"/>
            <a:ext cx="5042916" cy="548640"/>
          </a:xfrm>
          <a:prstGeom prst="rect">
            <a:avLst/>
          </a:prstGeom>
          <a:noFill/>
        </p:spPr>
        <p:txBody>
          <a:bodyPr wrap="square" anchor="ctr">
            <a:spAutoFit/>
          </a:bodyPr>
          <a:lstStyle/>
          <a:p>
            <a:pPr algn="l"/>
            <a:r>
              <a:rPr sz="1300" b="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97396" y="3227832"/>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7396" y="3822192"/>
            <a:ext cx="5042916" cy="548640"/>
          </a:xfrm>
          <a:prstGeom prst="rect">
            <a:avLst/>
          </a:prstGeom>
          <a:noFill/>
        </p:spPr>
        <p:txBody>
          <a:bodyPr wrap="square" anchor="ctr">
            <a:spAutoFit/>
          </a:bodyPr>
          <a:lstStyle/>
          <a:p>
            <a:pPr algn="l"/>
            <a:r>
              <a:rPr sz="1300" b="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9217152" y="1517290"/>
            <a:ext cx="2585814" cy="5103580"/>
          </a:xfrm>
          <a:prstGeom prst="rect">
            <a:avLst/>
          </a:prstGeom>
        </p:spPr>
      </p:pic>
      <p:sp>
        <p:nvSpPr>
          <p:cNvPr id="3" name="Rectangle 2"/>
          <p:cNvSpPr/>
          <p:nvPr/>
        </p:nvSpPr>
        <p:spPr>
          <a:xfrm>
            <a:off x="8714232" y="0"/>
            <a:ext cx="45720" cy="68580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sz="1200" b="0">
                <a:solidFill>
                  <a:srgbClr val="8CB1D2"/>
                </a:solidFill>
                <a:latin typeface="Noto Sans"/>
              </a:rPr>
              <a:t>05  PARTNER</a:t>
            </a:r>
          </a:p>
        </p:txBody>
      </p:sp>
      <p:sp>
        <p:nvSpPr>
          <p:cNvPr id="6" name="TextBox 5"/>
          <p:cNvSpPr txBox="1"/>
          <p:nvPr/>
        </p:nvSpPr>
        <p:spPr>
          <a:xfrm>
            <a:off x="457200" y="403003"/>
            <a:ext cx="6802754" cy="492443"/>
          </a:xfrm>
          <a:prstGeom prst="rect">
            <a:avLst/>
          </a:prstGeom>
          <a:noFill/>
        </p:spPr>
        <p:txBody>
          <a:bodyPr wrap="square" anchor="ctr">
            <a:spAutoFit/>
          </a:bodyPr>
          <a:lstStyle/>
          <a:p>
            <a:pPr algn="l"/>
            <a:r>
              <a:rPr sz="2600" b="1" dirty="0" err="1">
                <a:solidFill>
                  <a:srgbClr val="FFFFFF"/>
                </a:solidFill>
                <a:latin typeface="Noto Sans JP"/>
              </a:rPr>
              <a:t>東京ガスGIS事業（TUMSY）の概要</a:t>
            </a:r>
            <a:endParaRPr sz="2600" b="1" dirty="0">
              <a:solidFill>
                <a:srgbClr val="FFFFFF"/>
              </a:solidFill>
              <a:latin typeface="Noto Sans JP"/>
            </a:endParaRPr>
          </a:p>
        </p:txBody>
      </p:sp>
      <p:sp>
        <p:nvSpPr>
          <p:cNvPr id="7" name="Rectangle 6"/>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sz="1300" b="1">
                <a:solidFill>
                  <a:srgbClr val="1A1A1A"/>
                </a:solidFill>
                <a:latin typeface="Noto Sans JP"/>
              </a:rPr>
              <a:t>TGESはGIS専業のPASCOとは異なり「インフラオーナー側の視点」を持つ。この対等な対話力がINFRAI外販の最大の差別化要因となる。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4158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26989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1239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7799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3204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06  JOINT PACKAGE</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共同パッケージ——TUMSY × INFRAI統合ソリューション</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sz="1600" b="1">
                <a:solidFill>
                  <a:srgbClr val="FFFFFF"/>
                </a:solidFill>
                <a:latin typeface="Noto Sans JP"/>
              </a:rPr>
              <a:t>TUMSY（東京ガス提供）</a:t>
            </a:r>
          </a:p>
        </p:txBody>
      </p:sp>
      <p:sp>
        <p:nvSpPr>
          <p:cNvPr id="11" name="Rectangle 10"/>
          <p:cNvSpPr/>
          <p:nvPr/>
        </p:nvSpPr>
        <p:spPr>
          <a:xfrm>
            <a:off x="548640"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sz="1300" b="0">
                <a:solidFill>
                  <a:srgbClr val="1A1A1A"/>
                </a:solidFill>
                <a:latin typeface="Noto Sans JP"/>
              </a:rPr>
              <a:t>管路台帳GIS基盤——水道・ガス・下水道対応のマルチインフラ管理</a:t>
            </a:r>
          </a:p>
        </p:txBody>
      </p:sp>
      <p:sp>
        <p:nvSpPr>
          <p:cNvPr id="13" name="Rectangle 12"/>
          <p:cNvSpPr/>
          <p:nvPr/>
        </p:nvSpPr>
        <p:spPr>
          <a:xfrm>
            <a:off x="548640"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sz="1300" b="0">
                <a:solidFill>
                  <a:srgbClr val="1A1A1A"/>
                </a:solidFill>
                <a:latin typeface="Noto Sans JP"/>
              </a:rPr>
              <a:t>施設情報・維持管理データの一元管理と更新追跡機能</a:t>
            </a:r>
          </a:p>
        </p:txBody>
      </p:sp>
      <p:sp>
        <p:nvSpPr>
          <p:cNvPr id="15" name="Rectangle 14"/>
          <p:cNvSpPr/>
          <p:nvPr/>
        </p:nvSpPr>
        <p:spPr>
          <a:xfrm>
            <a:off x="548640"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sz="1300" b="0">
                <a:solidFill>
                  <a:srgbClr val="1A1A1A"/>
                </a:solidFill>
                <a:latin typeface="Noto Sans JP"/>
              </a:rPr>
              <a:t>モバイルGISによる現場情報管理・窓口対応支援</a:t>
            </a:r>
          </a:p>
        </p:txBody>
      </p:sp>
      <p:sp>
        <p:nvSpPr>
          <p:cNvPr id="17" name="Rectangle 16"/>
          <p:cNvSpPr/>
          <p:nvPr/>
        </p:nvSpPr>
        <p:spPr>
          <a:xfrm>
            <a:off x="548640" y="461772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416552"/>
            <a:ext cx="5042916" cy="548640"/>
          </a:xfrm>
          <a:prstGeom prst="rect">
            <a:avLst/>
          </a:prstGeom>
          <a:noFill/>
        </p:spPr>
        <p:txBody>
          <a:bodyPr wrap="square" anchor="ctr">
            <a:spAutoFit/>
          </a:bodyPr>
          <a:lstStyle/>
          <a:p>
            <a:pPr algn="l"/>
            <a:r>
              <a:rPr sz="1300" b="0">
                <a:solidFill>
                  <a:srgbClr val="1A1A1A"/>
                </a:solidFill>
                <a:latin typeface="Noto Sans JP"/>
              </a:rPr>
              <a:t>公開型GIS（住民向け情報公開・災害時断水情報等）</a:t>
            </a:r>
          </a:p>
        </p:txBody>
      </p:sp>
      <p:sp>
        <p:nvSpPr>
          <p:cNvPr id="19" name="Rectangle 18"/>
          <p:cNvSpPr/>
          <p:nvPr/>
        </p:nvSpPr>
        <p:spPr>
          <a:xfrm>
            <a:off x="548640" y="521208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010912"/>
            <a:ext cx="5042916" cy="548640"/>
          </a:xfrm>
          <a:prstGeom prst="rect">
            <a:avLst/>
          </a:prstGeom>
          <a:noFill/>
        </p:spPr>
        <p:txBody>
          <a:bodyPr wrap="square" anchor="ctr">
            <a:spAutoFit/>
          </a:bodyPr>
          <a:lstStyle/>
          <a:p>
            <a:pPr algn="l"/>
            <a:r>
              <a:rPr sz="1300" b="0">
                <a:solidFill>
                  <a:srgbClr val="1A1A1A"/>
                </a:solidFill>
                <a:latin typeface="Noto Sans JP"/>
              </a:rPr>
              <a:t>CADデータ出力・断水影響検索・縦断図作成等の専門機能</a:t>
            </a:r>
          </a:p>
        </p:txBody>
      </p:sp>
      <p:sp>
        <p:nvSpPr>
          <p:cNvPr id="21" name="Rectangle 20"/>
          <p:cNvSpPr/>
          <p:nvPr/>
        </p:nvSpPr>
        <p:spPr>
          <a:xfrm>
            <a:off x="548640" y="58064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605272"/>
            <a:ext cx="5042916" cy="548640"/>
          </a:xfrm>
          <a:prstGeom prst="rect">
            <a:avLst/>
          </a:prstGeom>
          <a:noFill/>
        </p:spPr>
        <p:txBody>
          <a:bodyPr wrap="square" anchor="ctr">
            <a:spAutoFit/>
          </a:bodyPr>
          <a:lstStyle/>
          <a:p>
            <a:pPr algn="l"/>
            <a:r>
              <a:rPr sz="1300" b="0">
                <a:solidFill>
                  <a:srgbClr val="1A1A1A"/>
                </a:solidFill>
                <a:latin typeface="Noto Sans JP"/>
              </a:rPr>
              <a:t>既存TUMSY顧客水道局とのシームレスな移行・連携支援</a:t>
            </a:r>
          </a:p>
        </p:txBody>
      </p:sp>
      <p:sp>
        <p:nvSpPr>
          <p:cNvPr id="23" name="Rectangle 22"/>
          <p:cNvSpPr/>
          <p:nvPr/>
        </p:nvSpPr>
        <p:spPr>
          <a:xfrm>
            <a:off x="6323076" y="2039112"/>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4516" y="2039112"/>
            <a:ext cx="5225796" cy="502920"/>
          </a:xfrm>
          <a:prstGeom prst="rect">
            <a:avLst/>
          </a:prstGeom>
          <a:noFill/>
        </p:spPr>
        <p:txBody>
          <a:bodyPr wrap="square" anchor="ctr">
            <a:spAutoFit/>
          </a:bodyPr>
          <a:lstStyle/>
          <a:p>
            <a:pPr algn="ctr"/>
            <a:r>
              <a:rPr sz="1600" b="1">
                <a:solidFill>
                  <a:srgbClr val="FFFFFF"/>
                </a:solidFill>
                <a:latin typeface="Noto Sans JP"/>
              </a:rPr>
              <a:t>INFRAI（AIVALIX提供）</a:t>
            </a:r>
          </a:p>
        </p:txBody>
      </p:sp>
      <p:sp>
        <p:nvSpPr>
          <p:cNvPr id="25" name="Rectangle 24"/>
          <p:cNvSpPr/>
          <p:nvPr/>
        </p:nvSpPr>
        <p:spPr>
          <a:xfrm>
            <a:off x="6414516" y="28346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97396" y="2633472"/>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管1本単位のミクロ故障予測AI——故障確率×影響度のリスクスコア算出</a:t>
            </a:r>
          </a:p>
        </p:txBody>
      </p:sp>
      <p:sp>
        <p:nvSpPr>
          <p:cNvPr id="27" name="Rectangle 26"/>
          <p:cNvSpPr/>
          <p:nvPr/>
        </p:nvSpPr>
        <p:spPr>
          <a:xfrm>
            <a:off x="6414516" y="342900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7396" y="3227832"/>
            <a:ext cx="5042916" cy="548640"/>
          </a:xfrm>
          <a:prstGeom prst="rect">
            <a:avLst/>
          </a:prstGeom>
          <a:noFill/>
        </p:spPr>
        <p:txBody>
          <a:bodyPr wrap="square" anchor="ctr">
            <a:spAutoFit/>
          </a:bodyPr>
          <a:lstStyle/>
          <a:p>
            <a:pPr algn="l"/>
            <a:r>
              <a:rPr sz="1300" b="0">
                <a:solidFill>
                  <a:srgbClr val="1A1A1A"/>
                </a:solidFill>
                <a:latin typeface="Noto Sans JP"/>
              </a:rPr>
              <a:t>基盤モデル（Foundation Model）——少ないデータでも即時導入可能な汎用AI</a:t>
            </a:r>
          </a:p>
        </p:txBody>
      </p:sp>
      <p:sp>
        <p:nvSpPr>
          <p:cNvPr id="29" name="Rectangle 28"/>
          <p:cNvSpPr/>
          <p:nvPr/>
        </p:nvSpPr>
        <p:spPr>
          <a:xfrm>
            <a:off x="6414516" y="402336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7396" y="3822192"/>
            <a:ext cx="5042916" cy="548640"/>
          </a:xfrm>
          <a:prstGeom prst="rect">
            <a:avLst/>
          </a:prstGeom>
          <a:noFill/>
        </p:spPr>
        <p:txBody>
          <a:bodyPr wrap="square" anchor="ctr">
            <a:spAutoFit/>
          </a:bodyPr>
          <a:lstStyle/>
          <a:p>
            <a:pPr algn="l"/>
            <a:r>
              <a:rPr sz="1300" b="0">
                <a:solidFill>
                  <a:srgbClr val="1A1A1A"/>
                </a:solidFill>
                <a:latin typeface="Noto Sans JP"/>
              </a:rPr>
              <a:t>衛星SAR・MMS等の宇宙・高精度センサデータ統合機能</a:t>
            </a:r>
          </a:p>
        </p:txBody>
      </p:sp>
      <p:sp>
        <p:nvSpPr>
          <p:cNvPr id="31" name="Rectangle 30"/>
          <p:cNvSpPr/>
          <p:nvPr/>
        </p:nvSpPr>
        <p:spPr>
          <a:xfrm>
            <a:off x="6414516" y="461772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7396" y="4416552"/>
            <a:ext cx="5042916" cy="548640"/>
          </a:xfrm>
          <a:prstGeom prst="rect">
            <a:avLst/>
          </a:prstGeom>
          <a:noFill/>
        </p:spPr>
        <p:txBody>
          <a:bodyPr wrap="square" anchor="ctr">
            <a:spAutoFit/>
          </a:bodyPr>
          <a:lstStyle/>
          <a:p>
            <a:pPr algn="l"/>
            <a:r>
              <a:rPr sz="1300" b="0">
                <a:solidFill>
                  <a:srgbClr val="1A1A1A"/>
                </a:solidFill>
                <a:latin typeface="Noto Sans JP"/>
              </a:rPr>
              <a:t>EBPM（根拠に基づく政策立案）レポート自動生成——議会・交付金向け</a:t>
            </a:r>
          </a:p>
        </p:txBody>
      </p:sp>
      <p:sp>
        <p:nvSpPr>
          <p:cNvPr id="33" name="Rectangle 32"/>
          <p:cNvSpPr/>
          <p:nvPr/>
        </p:nvSpPr>
        <p:spPr>
          <a:xfrm>
            <a:off x="6414516" y="521208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97396" y="5010912"/>
            <a:ext cx="5042916" cy="548640"/>
          </a:xfrm>
          <a:prstGeom prst="rect">
            <a:avLst/>
          </a:prstGeom>
          <a:noFill/>
        </p:spPr>
        <p:txBody>
          <a:bodyPr wrap="square" anchor="ctr">
            <a:spAutoFit/>
          </a:bodyPr>
          <a:lstStyle/>
          <a:p>
            <a:pPr algn="l"/>
            <a:r>
              <a:rPr sz="1300" b="0">
                <a:solidFill>
                  <a:srgbClr val="1A1A1A"/>
                </a:solidFill>
                <a:latin typeface="Noto Sans JP"/>
              </a:rPr>
              <a:t>更新計画最適化エンジン——限られた予算下での投資効率最大化</a:t>
            </a:r>
          </a:p>
        </p:txBody>
      </p:sp>
      <p:sp>
        <p:nvSpPr>
          <p:cNvPr id="35" name="Rectangle 34"/>
          <p:cNvSpPr/>
          <p:nvPr/>
        </p:nvSpPr>
        <p:spPr>
          <a:xfrm>
            <a:off x="6414516" y="5806440"/>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97396" y="5605272"/>
            <a:ext cx="5042916" cy="548640"/>
          </a:xfrm>
          <a:prstGeom prst="rect">
            <a:avLst/>
          </a:prstGeom>
          <a:noFill/>
        </p:spPr>
        <p:txBody>
          <a:bodyPr wrap="square" anchor="ctr">
            <a:spAutoFit/>
          </a:bodyPr>
          <a:lstStyle/>
          <a:p>
            <a:pPr algn="l"/>
            <a:r>
              <a:rPr sz="1300" b="0">
                <a:solidFill>
                  <a:srgbClr val="1A1A1A"/>
                </a:solidFill>
                <a:latin typeface="Noto Sans JP"/>
              </a:rPr>
              <a:t>AI属性管理——GISレイヤーへのシームレス統合、リアルタイム更新</a:t>
            </a:r>
          </a:p>
        </p:txBody>
      </p:sp>
      <p:sp>
        <p:nvSpPr>
          <p:cNvPr id="37" name="Rectangle 36"/>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07  ROLES &amp; RESPONSIBILITIES</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93392"/>
            <a:ext cx="202941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993392"/>
            <a:ext cx="1937979" cy="457200"/>
          </a:xfrm>
          <a:prstGeom prst="rect">
            <a:avLst/>
          </a:prstGeom>
          <a:noFill/>
        </p:spPr>
        <p:txBody>
          <a:bodyPr wrap="square" anchor="ctr">
            <a:spAutoFit/>
          </a:bodyPr>
          <a:lstStyle/>
          <a:p>
            <a:pPr algn="l"/>
            <a:r>
              <a:rPr sz="1200" b="1">
                <a:solidFill>
                  <a:srgbClr val="FFFFFF"/>
                </a:solidFill>
                <a:latin typeface="Noto Sans JP"/>
              </a:rPr>
              <a:t>領域</a:t>
            </a:r>
          </a:p>
        </p:txBody>
      </p:sp>
      <p:sp>
        <p:nvSpPr>
          <p:cNvPr id="11" name="Rectangle 10"/>
          <p:cNvSpPr/>
          <p:nvPr/>
        </p:nvSpPr>
        <p:spPr>
          <a:xfrm>
            <a:off x="2486619" y="1993392"/>
            <a:ext cx="4735311"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50627" y="1993392"/>
            <a:ext cx="4643871" cy="457200"/>
          </a:xfrm>
          <a:prstGeom prst="rect">
            <a:avLst/>
          </a:prstGeom>
          <a:noFill/>
        </p:spPr>
        <p:txBody>
          <a:bodyPr wrap="square" anchor="ctr">
            <a:spAutoFit/>
          </a:bodyPr>
          <a:lstStyle/>
          <a:p>
            <a:pPr algn="l"/>
            <a:r>
              <a:rPr sz="1200" b="1">
                <a:solidFill>
                  <a:srgbClr val="FFFFFF"/>
                </a:solidFill>
                <a:latin typeface="Noto Sans JP"/>
              </a:rPr>
              <a:t>東京ガス（TGES）</a:t>
            </a:r>
          </a:p>
        </p:txBody>
      </p:sp>
      <p:sp>
        <p:nvSpPr>
          <p:cNvPr id="13" name="Rectangle 12"/>
          <p:cNvSpPr/>
          <p:nvPr/>
        </p:nvSpPr>
        <p:spPr>
          <a:xfrm>
            <a:off x="7221931" y="1993392"/>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85939" y="1993392"/>
            <a:ext cx="4418380" cy="457200"/>
          </a:xfrm>
          <a:prstGeom prst="rect">
            <a:avLst/>
          </a:prstGeom>
          <a:noFill/>
        </p:spPr>
        <p:txBody>
          <a:bodyPr wrap="square" anchor="ctr">
            <a:spAutoFit/>
          </a:bodyPr>
          <a:lstStyle/>
          <a:p>
            <a:pPr algn="l"/>
            <a:r>
              <a:rPr sz="1200" b="1">
                <a:solidFill>
                  <a:srgbClr val="FFFFFF"/>
                </a:solidFill>
                <a:latin typeface="Noto Sans JP"/>
              </a:rPr>
              <a:t>AIVALIX</a:t>
            </a:r>
          </a:p>
        </p:txBody>
      </p:sp>
      <p:sp>
        <p:nvSpPr>
          <p:cNvPr id="15" name="Rectangle 14"/>
          <p:cNvSpPr/>
          <p:nvPr/>
        </p:nvSpPr>
        <p:spPr>
          <a:xfrm>
            <a:off x="457200" y="2450592"/>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523744"/>
            <a:ext cx="1901403" cy="489204"/>
          </a:xfrm>
          <a:prstGeom prst="rect">
            <a:avLst/>
          </a:prstGeom>
          <a:noFill/>
        </p:spPr>
        <p:txBody>
          <a:bodyPr wrap="square" anchor="t">
            <a:spAutoFit/>
          </a:bodyPr>
          <a:lstStyle/>
          <a:p>
            <a:pPr algn="l"/>
            <a:r>
              <a:rPr sz="1200" b="1">
                <a:solidFill>
                  <a:srgbClr val="00529B"/>
                </a:solidFill>
                <a:latin typeface="Noto Sans JP"/>
              </a:rPr>
              <a:t>プロダクト開発</a:t>
            </a:r>
          </a:p>
        </p:txBody>
      </p:sp>
      <p:sp>
        <p:nvSpPr>
          <p:cNvPr id="17" name="Rectangle 16"/>
          <p:cNvSpPr/>
          <p:nvPr/>
        </p:nvSpPr>
        <p:spPr>
          <a:xfrm>
            <a:off x="2486619" y="2450592"/>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50627" y="2523744"/>
            <a:ext cx="4607295" cy="489204"/>
          </a:xfrm>
          <a:prstGeom prst="rect">
            <a:avLst/>
          </a:prstGeom>
          <a:noFill/>
        </p:spPr>
        <p:txBody>
          <a:bodyPr wrap="square" anchor="t">
            <a:spAutoFit/>
          </a:bodyPr>
          <a:lstStyle/>
          <a:p>
            <a:pPr algn="l"/>
            <a:r>
              <a:rPr sz="1200" b="0">
                <a:solidFill>
                  <a:srgbClr val="1A1A1A"/>
                </a:solidFill>
                <a:latin typeface="Noto Sans JP"/>
              </a:rPr>
              <a:t>GISプラットフォーム（TUMSY）の機能拡張・API整備・品質保証</a:t>
            </a:r>
          </a:p>
        </p:txBody>
      </p:sp>
      <p:sp>
        <p:nvSpPr>
          <p:cNvPr id="19" name="Rectangle 18"/>
          <p:cNvSpPr/>
          <p:nvPr/>
        </p:nvSpPr>
        <p:spPr>
          <a:xfrm>
            <a:off x="7221931" y="2450592"/>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85939" y="2523744"/>
            <a:ext cx="4381804" cy="489204"/>
          </a:xfrm>
          <a:prstGeom prst="rect">
            <a:avLst/>
          </a:prstGeom>
          <a:noFill/>
        </p:spPr>
        <p:txBody>
          <a:bodyPr wrap="square" anchor="t">
            <a:spAutoFit/>
          </a:bodyPr>
          <a:lstStyle/>
          <a:p>
            <a:pPr algn="l"/>
            <a:r>
              <a:rPr sz="1200" b="0">
                <a:solidFill>
                  <a:srgbClr val="1A1A1A"/>
                </a:solidFill>
                <a:latin typeface="Noto Sans JP"/>
              </a:rPr>
              <a:t>INFRAIエンジン開発・AI精度向上・新規AI機能の研究開発</a:t>
            </a:r>
          </a:p>
        </p:txBody>
      </p:sp>
      <p:sp>
        <p:nvSpPr>
          <p:cNvPr id="21" name="Rectangle 20"/>
          <p:cNvSpPr/>
          <p:nvPr/>
        </p:nvSpPr>
        <p:spPr>
          <a:xfrm>
            <a:off x="457200" y="30723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086100"/>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1208" y="3159252"/>
            <a:ext cx="1901403" cy="489204"/>
          </a:xfrm>
          <a:prstGeom prst="rect">
            <a:avLst/>
          </a:prstGeom>
          <a:noFill/>
        </p:spPr>
        <p:txBody>
          <a:bodyPr wrap="square" anchor="t">
            <a:spAutoFit/>
          </a:bodyPr>
          <a:lstStyle/>
          <a:p>
            <a:pPr algn="l"/>
            <a:r>
              <a:rPr sz="1200" b="1">
                <a:solidFill>
                  <a:srgbClr val="00529B"/>
                </a:solidFill>
                <a:latin typeface="Noto Sans JP"/>
              </a:rPr>
              <a:t>営業・受注</a:t>
            </a:r>
          </a:p>
        </p:txBody>
      </p:sp>
      <p:sp>
        <p:nvSpPr>
          <p:cNvPr id="24" name="Rectangle 23"/>
          <p:cNvSpPr/>
          <p:nvPr/>
        </p:nvSpPr>
        <p:spPr>
          <a:xfrm>
            <a:off x="2486619" y="3086100"/>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50627" y="3159252"/>
            <a:ext cx="4607295" cy="489204"/>
          </a:xfrm>
          <a:prstGeom prst="rect">
            <a:avLst/>
          </a:prstGeom>
          <a:noFill/>
        </p:spPr>
        <p:txBody>
          <a:bodyPr wrap="square" anchor="t">
            <a:spAutoFit/>
          </a:bodyPr>
          <a:lstStyle/>
          <a:p>
            <a:pPr algn="l"/>
            <a:r>
              <a:rPr sz="1200" b="0">
                <a:solidFill>
                  <a:srgbClr val="1A1A1A"/>
                </a:solidFill>
                <a:latin typeface="Noto Sans JP"/>
              </a:rPr>
              <a:t>水道局・インフラ事業体への直接営業・入札対応・契約管理</a:t>
            </a:r>
          </a:p>
        </p:txBody>
      </p:sp>
      <p:sp>
        <p:nvSpPr>
          <p:cNvPr id="26" name="Rectangle 25"/>
          <p:cNvSpPr/>
          <p:nvPr/>
        </p:nvSpPr>
        <p:spPr>
          <a:xfrm>
            <a:off x="7221931" y="3086100"/>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85939" y="3159252"/>
            <a:ext cx="4381804" cy="489204"/>
          </a:xfrm>
          <a:prstGeom prst="rect">
            <a:avLst/>
          </a:prstGeom>
          <a:noFill/>
        </p:spPr>
        <p:txBody>
          <a:bodyPr wrap="square" anchor="t">
            <a:spAutoFit/>
          </a:bodyPr>
          <a:lstStyle/>
          <a:p>
            <a:pPr algn="l"/>
            <a:r>
              <a:rPr sz="1200" b="0">
                <a:solidFill>
                  <a:srgbClr val="1A1A1A"/>
                </a:solidFill>
                <a:latin typeface="Noto Sans JP"/>
              </a:rPr>
              <a:t>技術提案・PoC実施支援・導入時のAI実装サポート</a:t>
            </a:r>
          </a:p>
        </p:txBody>
      </p:sp>
      <p:sp>
        <p:nvSpPr>
          <p:cNvPr id="28" name="Rectangle 27"/>
          <p:cNvSpPr/>
          <p:nvPr/>
        </p:nvSpPr>
        <p:spPr>
          <a:xfrm>
            <a:off x="457200" y="37078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721608"/>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 y="3794760"/>
            <a:ext cx="1901403" cy="489204"/>
          </a:xfrm>
          <a:prstGeom prst="rect">
            <a:avLst/>
          </a:prstGeom>
          <a:noFill/>
        </p:spPr>
        <p:txBody>
          <a:bodyPr wrap="square" anchor="t">
            <a:spAutoFit/>
          </a:bodyPr>
          <a:lstStyle/>
          <a:p>
            <a:pPr algn="l"/>
            <a:r>
              <a:rPr sz="1200" b="1">
                <a:solidFill>
                  <a:srgbClr val="00529B"/>
                </a:solidFill>
                <a:latin typeface="Noto Sans JP"/>
              </a:rPr>
              <a:t>データ管理</a:t>
            </a:r>
          </a:p>
        </p:txBody>
      </p:sp>
      <p:sp>
        <p:nvSpPr>
          <p:cNvPr id="31" name="Rectangle 30"/>
          <p:cNvSpPr/>
          <p:nvPr/>
        </p:nvSpPr>
        <p:spPr>
          <a:xfrm>
            <a:off x="2486619" y="3721608"/>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50627" y="3794760"/>
            <a:ext cx="4607295" cy="489204"/>
          </a:xfrm>
          <a:prstGeom prst="rect">
            <a:avLst/>
          </a:prstGeom>
          <a:noFill/>
        </p:spPr>
        <p:txBody>
          <a:bodyPr wrap="square" anchor="t">
            <a:spAutoFit/>
          </a:bodyPr>
          <a:lstStyle/>
          <a:p>
            <a:pPr algn="l"/>
            <a:r>
              <a:rPr sz="1200" b="0">
                <a:solidFill>
                  <a:srgbClr val="1A1A1A"/>
                </a:solidFill>
                <a:latin typeface="Noto Sans JP"/>
              </a:rPr>
              <a:t>顧客GISデータ管理・TUMSY既存連携の橋渡し・データ移行</a:t>
            </a:r>
          </a:p>
        </p:txBody>
      </p:sp>
      <p:sp>
        <p:nvSpPr>
          <p:cNvPr id="33" name="Rectangle 32"/>
          <p:cNvSpPr/>
          <p:nvPr/>
        </p:nvSpPr>
        <p:spPr>
          <a:xfrm>
            <a:off x="7221931" y="3721608"/>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85939" y="3794760"/>
            <a:ext cx="4381804" cy="489204"/>
          </a:xfrm>
          <a:prstGeom prst="rect">
            <a:avLst/>
          </a:prstGeom>
          <a:noFill/>
        </p:spPr>
        <p:txBody>
          <a:bodyPr wrap="square" anchor="t">
            <a:spAutoFit/>
          </a:bodyPr>
          <a:lstStyle/>
          <a:p>
            <a:pPr algn="l"/>
            <a:r>
              <a:rPr sz="1200" b="0">
                <a:solidFill>
                  <a:srgbClr val="1A1A1A"/>
                </a:solidFill>
                <a:latin typeface="Noto Sans JP"/>
              </a:rPr>
              <a:t>AIモデル構築・学習データ設計・データ品質評価と改善</a:t>
            </a:r>
          </a:p>
        </p:txBody>
      </p:sp>
      <p:sp>
        <p:nvSpPr>
          <p:cNvPr id="35" name="Rectangle 34"/>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 y="4357116"/>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1208" y="4430268"/>
            <a:ext cx="1901403" cy="489204"/>
          </a:xfrm>
          <a:prstGeom prst="rect">
            <a:avLst/>
          </a:prstGeom>
          <a:noFill/>
        </p:spPr>
        <p:txBody>
          <a:bodyPr wrap="square" anchor="t">
            <a:spAutoFit/>
          </a:bodyPr>
          <a:lstStyle/>
          <a:p>
            <a:pPr algn="l"/>
            <a:r>
              <a:rPr sz="1200" b="1">
                <a:solidFill>
                  <a:srgbClr val="00529B"/>
                </a:solidFill>
                <a:latin typeface="Noto Sans JP"/>
              </a:rPr>
              <a:t>ブランド・信頼</a:t>
            </a:r>
          </a:p>
        </p:txBody>
      </p:sp>
      <p:sp>
        <p:nvSpPr>
          <p:cNvPr id="38" name="Rectangle 37"/>
          <p:cNvSpPr/>
          <p:nvPr/>
        </p:nvSpPr>
        <p:spPr>
          <a:xfrm>
            <a:off x="2486619" y="4357116"/>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50627" y="4430268"/>
            <a:ext cx="4607295" cy="489204"/>
          </a:xfrm>
          <a:prstGeom prst="rect">
            <a:avLst/>
          </a:prstGeom>
          <a:noFill/>
        </p:spPr>
        <p:txBody>
          <a:bodyPr wrap="square" anchor="t">
            <a:spAutoFit/>
          </a:bodyPr>
          <a:lstStyle/>
          <a:p>
            <a:pPr algn="l"/>
            <a:r>
              <a:rPr sz="1200" b="0">
                <a:solidFill>
                  <a:srgbClr val="1A1A1A"/>
                </a:solidFill>
                <a:latin typeface="Noto Sans JP"/>
              </a:rPr>
              <a:t>「東京ガスグループ」のインフラオーナー信頼性・公共調達実績</a:t>
            </a:r>
          </a:p>
        </p:txBody>
      </p:sp>
      <p:sp>
        <p:nvSpPr>
          <p:cNvPr id="40" name="Rectangle 39"/>
          <p:cNvSpPr/>
          <p:nvPr/>
        </p:nvSpPr>
        <p:spPr>
          <a:xfrm>
            <a:off x="7221931" y="4357116"/>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85939" y="4430268"/>
            <a:ext cx="4381804" cy="489204"/>
          </a:xfrm>
          <a:prstGeom prst="rect">
            <a:avLst/>
          </a:prstGeom>
          <a:noFill/>
        </p:spPr>
        <p:txBody>
          <a:bodyPr wrap="square" anchor="t">
            <a:spAutoFit/>
          </a:bodyPr>
          <a:lstStyle/>
          <a:p>
            <a:pPr algn="l"/>
            <a:r>
              <a:rPr sz="1200" b="0">
                <a:solidFill>
                  <a:srgbClr val="1A1A1A"/>
                </a:solidFill>
                <a:latin typeface="Noto Sans JP"/>
              </a:rPr>
              <a:t>「最新AI技術」のスタートアップ機動力・先端研究成果</a:t>
            </a:r>
          </a:p>
        </p:txBody>
      </p:sp>
      <p:sp>
        <p:nvSpPr>
          <p:cNvPr id="42" name="Rectangle 41"/>
          <p:cNvSpPr/>
          <p:nvPr/>
        </p:nvSpPr>
        <p:spPr>
          <a:xfrm>
            <a:off x="457200" y="49789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 y="4992624"/>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1208" y="5065776"/>
            <a:ext cx="1901403" cy="489204"/>
          </a:xfrm>
          <a:prstGeom prst="rect">
            <a:avLst/>
          </a:prstGeom>
          <a:noFill/>
        </p:spPr>
        <p:txBody>
          <a:bodyPr wrap="square" anchor="t">
            <a:spAutoFit/>
          </a:bodyPr>
          <a:lstStyle/>
          <a:p>
            <a:pPr algn="l"/>
            <a:r>
              <a:rPr sz="1200" b="1">
                <a:solidFill>
                  <a:srgbClr val="00529B"/>
                </a:solidFill>
                <a:latin typeface="Noto Sans JP"/>
              </a:rPr>
              <a:t>収益モデル</a:t>
            </a:r>
          </a:p>
        </p:txBody>
      </p:sp>
      <p:sp>
        <p:nvSpPr>
          <p:cNvPr id="45" name="Rectangle 44"/>
          <p:cNvSpPr/>
          <p:nvPr/>
        </p:nvSpPr>
        <p:spPr>
          <a:xfrm>
            <a:off x="2486619" y="4992624"/>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550627" y="5065776"/>
            <a:ext cx="4607295" cy="489204"/>
          </a:xfrm>
          <a:prstGeom prst="rect">
            <a:avLst/>
          </a:prstGeom>
          <a:noFill/>
        </p:spPr>
        <p:txBody>
          <a:bodyPr wrap="square" anchor="t">
            <a:spAutoFit/>
          </a:bodyPr>
          <a:lstStyle/>
          <a:p>
            <a:pPr algn="l"/>
            <a:r>
              <a:rPr sz="1200" b="0">
                <a:solidFill>
                  <a:srgbClr val="1A1A1A"/>
                </a:solidFill>
                <a:latin typeface="Noto Sans JP"/>
              </a:rPr>
              <a:t>パッケージ販売収益（初期）・SaaSサブスク利用料（継続）</a:t>
            </a:r>
          </a:p>
        </p:txBody>
      </p:sp>
      <p:sp>
        <p:nvSpPr>
          <p:cNvPr id="47" name="Rectangle 46"/>
          <p:cNvSpPr/>
          <p:nvPr/>
        </p:nvSpPr>
        <p:spPr>
          <a:xfrm>
            <a:off x="7221931" y="4992624"/>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85939" y="5065776"/>
            <a:ext cx="4381804" cy="489204"/>
          </a:xfrm>
          <a:prstGeom prst="rect">
            <a:avLst/>
          </a:prstGeom>
          <a:noFill/>
        </p:spPr>
        <p:txBody>
          <a:bodyPr wrap="square" anchor="t">
            <a:spAutoFit/>
          </a:bodyPr>
          <a:lstStyle/>
          <a:p>
            <a:pPr algn="l"/>
            <a:r>
              <a:rPr sz="1200" b="0">
                <a:solidFill>
                  <a:srgbClr val="1A1A1A"/>
                </a:solidFill>
                <a:latin typeface="Noto Sans JP"/>
              </a:rPr>
              <a:t>AIライセンスフィー（初期）・導入支援・精度向上サービス</a:t>
            </a:r>
          </a:p>
        </p:txBody>
      </p:sp>
      <p:sp>
        <p:nvSpPr>
          <p:cNvPr id="49" name="Rectangle 48"/>
          <p:cNvSpPr/>
          <p:nvPr/>
        </p:nvSpPr>
        <p:spPr>
          <a:xfrm>
            <a:off x="457200" y="56144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200" y="5628132"/>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1208" y="5701284"/>
            <a:ext cx="1901403" cy="489204"/>
          </a:xfrm>
          <a:prstGeom prst="rect">
            <a:avLst/>
          </a:prstGeom>
          <a:noFill/>
        </p:spPr>
        <p:txBody>
          <a:bodyPr wrap="square" anchor="t">
            <a:spAutoFit/>
          </a:bodyPr>
          <a:lstStyle/>
          <a:p>
            <a:pPr algn="l"/>
            <a:r>
              <a:rPr sz="1200" b="1">
                <a:solidFill>
                  <a:srgbClr val="00529B"/>
                </a:solidFill>
                <a:latin typeface="Noto Sans JP"/>
              </a:rPr>
              <a:t>将来領域</a:t>
            </a:r>
          </a:p>
        </p:txBody>
      </p:sp>
      <p:sp>
        <p:nvSpPr>
          <p:cNvPr id="52" name="Rectangle 51"/>
          <p:cNvSpPr/>
          <p:nvPr/>
        </p:nvSpPr>
        <p:spPr>
          <a:xfrm>
            <a:off x="2486619" y="5628132"/>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50627" y="5701284"/>
            <a:ext cx="4607295" cy="489204"/>
          </a:xfrm>
          <a:prstGeom prst="rect">
            <a:avLst/>
          </a:prstGeom>
          <a:noFill/>
        </p:spPr>
        <p:txBody>
          <a:bodyPr wrap="square" anchor="t">
            <a:spAutoFit/>
          </a:bodyPr>
          <a:lstStyle/>
          <a:p>
            <a:pPr algn="l"/>
            <a:r>
              <a:rPr sz="1200" b="0">
                <a:solidFill>
                  <a:srgbClr val="1A1A1A"/>
                </a:solidFill>
                <a:latin typeface="Noto Sans JP"/>
              </a:rPr>
              <a:t>ガス・電力・下水道等への横展開営業・海外ガス会社連携</a:t>
            </a:r>
          </a:p>
        </p:txBody>
      </p:sp>
      <p:sp>
        <p:nvSpPr>
          <p:cNvPr id="54" name="Rectangle 53"/>
          <p:cNvSpPr/>
          <p:nvPr/>
        </p:nvSpPr>
        <p:spPr>
          <a:xfrm>
            <a:off x="7221931" y="5628132"/>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285939" y="5701284"/>
            <a:ext cx="4381804" cy="489204"/>
          </a:xfrm>
          <a:prstGeom prst="rect">
            <a:avLst/>
          </a:prstGeom>
          <a:noFill/>
        </p:spPr>
        <p:txBody>
          <a:bodyPr wrap="square" anchor="t">
            <a:spAutoFit/>
          </a:bodyPr>
          <a:lstStyle/>
          <a:p>
            <a:pPr algn="l"/>
            <a:r>
              <a:rPr sz="1200" b="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9217152" y="1378201"/>
            <a:ext cx="2687117" cy="5303520"/>
          </a:xfrm>
          <a:prstGeom prst="rect">
            <a:avLst/>
          </a:prstGeom>
        </p:spPr>
      </p:pic>
      <p:sp>
        <p:nvSpPr>
          <p:cNvPr id="3" name="Rectangle 2"/>
          <p:cNvSpPr/>
          <p:nvPr/>
        </p:nvSpPr>
        <p:spPr>
          <a:xfrm>
            <a:off x="8714232" y="0"/>
            <a:ext cx="45720" cy="68580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5330952" cy="320040"/>
          </a:xfrm>
          <a:prstGeom prst="rect">
            <a:avLst/>
          </a:prstGeom>
          <a:noFill/>
        </p:spPr>
        <p:txBody>
          <a:bodyPr wrap="square" anchor="ctr">
            <a:spAutoFit/>
          </a:bodyPr>
          <a:lstStyle/>
          <a:p>
            <a:pPr algn="l"/>
            <a:r>
              <a:rPr sz="1200" b="0">
                <a:solidFill>
                  <a:srgbClr val="8CB1D2"/>
                </a:solidFill>
                <a:latin typeface="Noto Sans"/>
              </a:rPr>
              <a:t>08  BENEFITS FOR TGES</a:t>
            </a:r>
          </a:p>
        </p:txBody>
      </p:sp>
      <p:sp>
        <p:nvSpPr>
          <p:cNvPr id="6" name="TextBox 5"/>
          <p:cNvSpPr txBox="1"/>
          <p:nvPr/>
        </p:nvSpPr>
        <p:spPr>
          <a:xfrm>
            <a:off x="457200" y="384048"/>
            <a:ext cx="5330952" cy="530352"/>
          </a:xfrm>
          <a:prstGeom prst="rect">
            <a:avLst/>
          </a:prstGeom>
          <a:noFill/>
        </p:spPr>
        <p:txBody>
          <a:bodyPr wrap="square" anchor="ctr">
            <a:spAutoFit/>
          </a:bodyPr>
          <a:lstStyle/>
          <a:p>
            <a:pPr algn="l"/>
            <a:r>
              <a:rPr sz="2600" b="1">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sz="1400" b="1">
                <a:solidFill>
                  <a:srgbClr val="1A1A1A"/>
                </a:solidFill>
                <a:latin typeface="Noto Sans JP"/>
              </a:rPr>
              <a:t>GIS単体では価格競争に陥る。AI付加価値で差別化しつつ、既存顧客アップセル＋全国横展開＋出資リターンの三重の収益機会を獲得する。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4158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26989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12394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7799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3204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09  VALUE FOR END CLIENTS</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事業体（水道局）のメリット——外販時の訴求ポイント</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234467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039112"/>
            <a:ext cx="10981944" cy="711708"/>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7371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305638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750820"/>
            <a:ext cx="10981944" cy="711708"/>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4488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1208" y="376809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462528"/>
            <a:ext cx="10981944" cy="711708"/>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1605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447979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174236"/>
            <a:ext cx="10981944" cy="711708"/>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7222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519150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885944"/>
            <a:ext cx="10981944" cy="711708"/>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839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21208" y="590321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5597652"/>
            <a:ext cx="10981944" cy="711708"/>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531352" cy="320040"/>
          </a:xfrm>
          <a:prstGeom prst="rect">
            <a:avLst/>
          </a:prstGeom>
          <a:noFill/>
        </p:spPr>
        <p:txBody>
          <a:bodyPr wrap="square" anchor="ctr">
            <a:spAutoFit/>
          </a:bodyPr>
          <a:lstStyle/>
          <a:p>
            <a:pPr algn="l"/>
            <a:r>
              <a:rPr sz="1200" b="0">
                <a:solidFill>
                  <a:srgbClr val="8CB1D2"/>
                </a:solidFill>
                <a:latin typeface="Noto Sans"/>
              </a:rPr>
              <a:t>10  INVESTMENT &amp; ROADMAP</a:t>
            </a:r>
          </a:p>
        </p:txBody>
      </p:sp>
      <p:sp>
        <p:nvSpPr>
          <p:cNvPr id="4" name="TextBox 3"/>
          <p:cNvSpPr txBox="1"/>
          <p:nvPr/>
        </p:nvSpPr>
        <p:spPr>
          <a:xfrm>
            <a:off x="457200" y="384048"/>
            <a:ext cx="8531352" cy="530352"/>
          </a:xfrm>
          <a:prstGeom prst="rect">
            <a:avLst/>
          </a:prstGeom>
          <a:noFill/>
        </p:spPr>
        <p:txBody>
          <a:bodyPr wrap="square" anchor="ctr">
            <a:spAutoFit/>
          </a:bodyPr>
          <a:lstStyle/>
          <a:p>
            <a:pPr algn="l"/>
            <a:r>
              <a:rPr sz="2600" b="1">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sz="1600" b="1">
                <a:solidFill>
                  <a:srgbClr val="1A1A1A"/>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93392"/>
            <a:ext cx="1578437"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993392"/>
            <a:ext cx="1486997" cy="457200"/>
          </a:xfrm>
          <a:prstGeom prst="rect">
            <a:avLst/>
          </a:prstGeom>
          <a:noFill/>
        </p:spPr>
        <p:txBody>
          <a:bodyPr wrap="square" anchor="ctr">
            <a:spAutoFit/>
          </a:bodyPr>
          <a:lstStyle/>
          <a:p>
            <a:pPr algn="l"/>
            <a:r>
              <a:rPr sz="1200" b="1">
                <a:solidFill>
                  <a:srgbClr val="FFFFFF"/>
                </a:solidFill>
                <a:latin typeface="Noto Sans JP"/>
              </a:rPr>
              <a:t>フェーズ</a:t>
            </a:r>
          </a:p>
        </p:txBody>
      </p:sp>
      <p:sp>
        <p:nvSpPr>
          <p:cNvPr id="11" name="Rectangle 10"/>
          <p:cNvSpPr/>
          <p:nvPr/>
        </p:nvSpPr>
        <p:spPr>
          <a:xfrm>
            <a:off x="2035637" y="1993392"/>
            <a:ext cx="112745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99645" y="1993392"/>
            <a:ext cx="1036015" cy="457200"/>
          </a:xfrm>
          <a:prstGeom prst="rect">
            <a:avLst/>
          </a:prstGeom>
          <a:noFill/>
        </p:spPr>
        <p:txBody>
          <a:bodyPr wrap="square" anchor="ctr">
            <a:spAutoFit/>
          </a:bodyPr>
          <a:lstStyle/>
          <a:p>
            <a:pPr algn="l"/>
            <a:r>
              <a:rPr sz="1200" b="1">
                <a:solidFill>
                  <a:srgbClr val="FFFFFF"/>
                </a:solidFill>
                <a:latin typeface="Noto Sans JP"/>
              </a:rPr>
              <a:t>時期</a:t>
            </a:r>
          </a:p>
        </p:txBody>
      </p:sp>
      <p:sp>
        <p:nvSpPr>
          <p:cNvPr id="13" name="Rectangle 12"/>
          <p:cNvSpPr/>
          <p:nvPr/>
        </p:nvSpPr>
        <p:spPr>
          <a:xfrm>
            <a:off x="3163092" y="1993392"/>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27100" y="1993392"/>
            <a:ext cx="4418380" cy="457200"/>
          </a:xfrm>
          <a:prstGeom prst="rect">
            <a:avLst/>
          </a:prstGeom>
          <a:noFill/>
        </p:spPr>
        <p:txBody>
          <a:bodyPr wrap="square" anchor="ctr">
            <a:spAutoFit/>
          </a:bodyPr>
          <a:lstStyle/>
          <a:p>
            <a:pPr algn="l"/>
            <a:r>
              <a:rPr sz="1200" b="1">
                <a:solidFill>
                  <a:srgbClr val="FFFFFF"/>
                </a:solidFill>
                <a:latin typeface="Noto Sans JP"/>
              </a:rPr>
              <a:t>マイルストーン</a:t>
            </a:r>
          </a:p>
        </p:txBody>
      </p:sp>
      <p:sp>
        <p:nvSpPr>
          <p:cNvPr id="15" name="Rectangle 14"/>
          <p:cNvSpPr/>
          <p:nvPr/>
        </p:nvSpPr>
        <p:spPr>
          <a:xfrm>
            <a:off x="7672913" y="1993392"/>
            <a:ext cx="4058838"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36921" y="1993392"/>
            <a:ext cx="3967398" cy="457200"/>
          </a:xfrm>
          <a:prstGeom prst="rect">
            <a:avLst/>
          </a:prstGeom>
          <a:noFill/>
        </p:spPr>
        <p:txBody>
          <a:bodyPr wrap="square" anchor="ctr">
            <a:spAutoFit/>
          </a:bodyPr>
          <a:lstStyle/>
          <a:p>
            <a:pPr algn="l"/>
            <a:r>
              <a:rPr sz="1200" b="1">
                <a:solidFill>
                  <a:srgbClr val="FFFFFF"/>
                </a:solidFill>
                <a:latin typeface="Noto Sans JP"/>
              </a:rPr>
              <a:t>東京ガスへのリターン</a:t>
            </a:r>
          </a:p>
        </p:txBody>
      </p:sp>
      <p:sp>
        <p:nvSpPr>
          <p:cNvPr id="17" name="Rectangle 16"/>
          <p:cNvSpPr/>
          <p:nvPr/>
        </p:nvSpPr>
        <p:spPr>
          <a:xfrm>
            <a:off x="457200" y="2450592"/>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 y="2523744"/>
            <a:ext cx="1450421" cy="806958"/>
          </a:xfrm>
          <a:prstGeom prst="rect">
            <a:avLst/>
          </a:prstGeom>
          <a:noFill/>
        </p:spPr>
        <p:txBody>
          <a:bodyPr wrap="square" anchor="t">
            <a:spAutoFit/>
          </a:bodyPr>
          <a:lstStyle/>
          <a:p>
            <a:pPr algn="l"/>
            <a:r>
              <a:rPr sz="1300" b="1">
                <a:solidFill>
                  <a:srgbClr val="00529B"/>
                </a:solidFill>
                <a:latin typeface="Noto Sans JP"/>
              </a:rPr>
              <a:t>Phase 1 協業合意</a:t>
            </a:r>
          </a:p>
        </p:txBody>
      </p:sp>
      <p:sp>
        <p:nvSpPr>
          <p:cNvPr id="19" name="Rectangle 18"/>
          <p:cNvSpPr/>
          <p:nvPr/>
        </p:nvSpPr>
        <p:spPr>
          <a:xfrm>
            <a:off x="2035637" y="2450592"/>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99645" y="2523744"/>
            <a:ext cx="999439" cy="806958"/>
          </a:xfrm>
          <a:prstGeom prst="rect">
            <a:avLst/>
          </a:prstGeom>
          <a:noFill/>
        </p:spPr>
        <p:txBody>
          <a:bodyPr wrap="square" anchor="t">
            <a:spAutoFit/>
          </a:bodyPr>
          <a:lstStyle/>
          <a:p>
            <a:pPr algn="l"/>
            <a:r>
              <a:rPr sz="1100" b="0">
                <a:solidFill>
                  <a:srgbClr val="1A1A1A"/>
                </a:solidFill>
                <a:latin typeface="Noto Sans JP"/>
              </a:rPr>
              <a:t>2026 Q2-Q3</a:t>
            </a:r>
          </a:p>
        </p:txBody>
      </p:sp>
      <p:sp>
        <p:nvSpPr>
          <p:cNvPr id="21" name="Rectangle 20"/>
          <p:cNvSpPr/>
          <p:nvPr/>
        </p:nvSpPr>
        <p:spPr>
          <a:xfrm>
            <a:off x="3163092" y="2450592"/>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27100" y="2523744"/>
            <a:ext cx="4381804" cy="806958"/>
          </a:xfrm>
          <a:prstGeom prst="rect">
            <a:avLst/>
          </a:prstGeom>
          <a:noFill/>
        </p:spPr>
        <p:txBody>
          <a:bodyPr wrap="square" anchor="t">
            <a:spAutoFit/>
          </a:bodyPr>
          <a:lstStyle/>
          <a:p>
            <a:pPr algn="l"/>
            <a:r>
              <a:rPr sz="1300" b="0">
                <a:solidFill>
                  <a:srgbClr val="1A1A1A"/>
                </a:solidFill>
                <a:latin typeface="Noto Sans JP"/>
              </a:rPr>
              <a:t>MOU締結・共同パッケージ設計・TUMSY×INFRAI連携PoC開始</a:t>
            </a:r>
          </a:p>
        </p:txBody>
      </p:sp>
      <p:sp>
        <p:nvSpPr>
          <p:cNvPr id="23" name="Rectangle 22"/>
          <p:cNvSpPr/>
          <p:nvPr/>
        </p:nvSpPr>
        <p:spPr>
          <a:xfrm>
            <a:off x="7672913" y="2450592"/>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36921" y="2523744"/>
            <a:ext cx="3930822" cy="806958"/>
          </a:xfrm>
          <a:prstGeom prst="rect">
            <a:avLst/>
          </a:prstGeom>
          <a:noFill/>
        </p:spPr>
        <p:txBody>
          <a:bodyPr wrap="square" anchor="t">
            <a:spAutoFit/>
          </a:bodyPr>
          <a:lstStyle/>
          <a:p>
            <a:pPr algn="l"/>
            <a:r>
              <a:rPr sz="1300" b="0">
                <a:solidFill>
                  <a:srgbClr val="1A1A1A"/>
                </a:solidFill>
                <a:latin typeface="Noto Sans JP"/>
              </a:rPr>
              <a:t>既存顧客への優先提案権・共同ブランド確立</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403854"/>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3477006"/>
            <a:ext cx="1450421" cy="806958"/>
          </a:xfrm>
          <a:prstGeom prst="rect">
            <a:avLst/>
          </a:prstGeom>
          <a:noFill/>
        </p:spPr>
        <p:txBody>
          <a:bodyPr wrap="square" anchor="t">
            <a:spAutoFit/>
          </a:bodyPr>
          <a:lstStyle/>
          <a:p>
            <a:pPr algn="l"/>
            <a:r>
              <a:rPr sz="1200" b="1">
                <a:solidFill>
                  <a:srgbClr val="00529B"/>
                </a:solidFill>
                <a:latin typeface="Noto Sans JP"/>
              </a:rPr>
              <a:t>Phase 2 出資・製品化</a:t>
            </a:r>
          </a:p>
        </p:txBody>
      </p:sp>
      <p:sp>
        <p:nvSpPr>
          <p:cNvPr id="28" name="Rectangle 27"/>
          <p:cNvSpPr/>
          <p:nvPr/>
        </p:nvSpPr>
        <p:spPr>
          <a:xfrm>
            <a:off x="2035637" y="3403854"/>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99645" y="3477006"/>
            <a:ext cx="999439" cy="806958"/>
          </a:xfrm>
          <a:prstGeom prst="rect">
            <a:avLst/>
          </a:prstGeom>
          <a:noFill/>
        </p:spPr>
        <p:txBody>
          <a:bodyPr wrap="square" anchor="t">
            <a:spAutoFit/>
          </a:bodyPr>
          <a:lstStyle/>
          <a:p>
            <a:pPr algn="l"/>
            <a:r>
              <a:rPr sz="1300" b="0">
                <a:solidFill>
                  <a:srgbClr val="1A1A1A"/>
                </a:solidFill>
                <a:latin typeface="Noto Sans JP"/>
              </a:rPr>
              <a:t>2026 Q4</a:t>
            </a:r>
          </a:p>
        </p:txBody>
      </p:sp>
      <p:sp>
        <p:nvSpPr>
          <p:cNvPr id="30" name="Rectangle 29"/>
          <p:cNvSpPr/>
          <p:nvPr/>
        </p:nvSpPr>
        <p:spPr>
          <a:xfrm>
            <a:off x="3163092" y="3403854"/>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27100" y="3477006"/>
            <a:ext cx="4381804" cy="806958"/>
          </a:xfrm>
          <a:prstGeom prst="rect">
            <a:avLst/>
          </a:prstGeom>
          <a:noFill/>
        </p:spPr>
        <p:txBody>
          <a:bodyPr wrap="square" anchor="t">
            <a:spAutoFit/>
          </a:bodyPr>
          <a:lstStyle/>
          <a:p>
            <a:pPr algn="l"/>
            <a:r>
              <a:rPr sz="1300" b="0">
                <a:solidFill>
                  <a:srgbClr val="1A1A1A"/>
                </a:solidFill>
                <a:latin typeface="Noto Sans JP"/>
              </a:rPr>
              <a:t>資本参加・TUMSY×INFRAI統合版リリース・第一号案件受注</a:t>
            </a:r>
          </a:p>
        </p:txBody>
      </p:sp>
      <p:sp>
        <p:nvSpPr>
          <p:cNvPr id="32" name="Rectangle 31"/>
          <p:cNvSpPr/>
          <p:nvPr/>
        </p:nvSpPr>
        <p:spPr>
          <a:xfrm>
            <a:off x="7672913" y="3403854"/>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36921" y="3477006"/>
            <a:ext cx="3930822" cy="806958"/>
          </a:xfrm>
          <a:prstGeom prst="rect">
            <a:avLst/>
          </a:prstGeom>
          <a:noFill/>
        </p:spPr>
        <p:txBody>
          <a:bodyPr wrap="square" anchor="t">
            <a:spAutoFit/>
          </a:bodyPr>
          <a:lstStyle/>
          <a:p>
            <a:pPr algn="l"/>
            <a:r>
              <a:rPr sz="1300" b="0">
                <a:solidFill>
                  <a:srgbClr val="1A1A1A"/>
                </a:solidFill>
                <a:latin typeface="Noto Sans JP"/>
              </a:rPr>
              <a:t>エクイティ取得・ライセンス収益開始</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357116"/>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430268"/>
            <a:ext cx="1450421" cy="806958"/>
          </a:xfrm>
          <a:prstGeom prst="rect">
            <a:avLst/>
          </a:prstGeom>
          <a:noFill/>
        </p:spPr>
        <p:txBody>
          <a:bodyPr wrap="square" anchor="t">
            <a:spAutoFit/>
          </a:bodyPr>
          <a:lstStyle/>
          <a:p>
            <a:pPr algn="l"/>
            <a:r>
              <a:rPr sz="1300" b="1">
                <a:solidFill>
                  <a:srgbClr val="00529B"/>
                </a:solidFill>
                <a:latin typeface="Noto Sans JP"/>
              </a:rPr>
              <a:t>Phase 3 外販加速</a:t>
            </a:r>
          </a:p>
        </p:txBody>
      </p:sp>
      <p:sp>
        <p:nvSpPr>
          <p:cNvPr id="37" name="Rectangle 36"/>
          <p:cNvSpPr/>
          <p:nvPr/>
        </p:nvSpPr>
        <p:spPr>
          <a:xfrm>
            <a:off x="2035637" y="4357116"/>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99645" y="4430268"/>
            <a:ext cx="999439" cy="806958"/>
          </a:xfrm>
          <a:prstGeom prst="rect">
            <a:avLst/>
          </a:prstGeom>
          <a:noFill/>
        </p:spPr>
        <p:txBody>
          <a:bodyPr wrap="square" anchor="t">
            <a:spAutoFit/>
          </a:bodyPr>
          <a:lstStyle/>
          <a:p>
            <a:pPr algn="l"/>
            <a:r>
              <a:rPr sz="1300" b="0">
                <a:solidFill>
                  <a:srgbClr val="1A1A1A"/>
                </a:solidFill>
                <a:latin typeface="Noto Sans JP"/>
              </a:rPr>
              <a:t>2027年</a:t>
            </a:r>
          </a:p>
        </p:txBody>
      </p:sp>
      <p:sp>
        <p:nvSpPr>
          <p:cNvPr id="39" name="Rectangle 38"/>
          <p:cNvSpPr/>
          <p:nvPr/>
        </p:nvSpPr>
        <p:spPr>
          <a:xfrm>
            <a:off x="3163092" y="4357116"/>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27100" y="4430268"/>
            <a:ext cx="4381804" cy="806958"/>
          </a:xfrm>
          <a:prstGeom prst="rect">
            <a:avLst/>
          </a:prstGeom>
          <a:noFill/>
        </p:spPr>
        <p:txBody>
          <a:bodyPr wrap="square" anchor="t">
            <a:spAutoFit/>
          </a:bodyPr>
          <a:lstStyle/>
          <a:p>
            <a:pPr algn="l"/>
            <a:r>
              <a:rPr sz="1300" b="0">
                <a:solidFill>
                  <a:srgbClr val="1A1A1A"/>
                </a:solidFill>
                <a:latin typeface="Noto Sans JP"/>
              </a:rPr>
              <a:t>都市水道局5〜10案件展開・差別化確立</a:t>
            </a:r>
          </a:p>
        </p:txBody>
      </p:sp>
      <p:sp>
        <p:nvSpPr>
          <p:cNvPr id="41" name="Rectangle 40"/>
          <p:cNvSpPr/>
          <p:nvPr/>
        </p:nvSpPr>
        <p:spPr>
          <a:xfrm>
            <a:off x="7672913" y="4357116"/>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36921" y="4430268"/>
            <a:ext cx="3930822" cy="806958"/>
          </a:xfrm>
          <a:prstGeom prst="rect">
            <a:avLst/>
          </a:prstGeom>
          <a:noFill/>
        </p:spPr>
        <p:txBody>
          <a:bodyPr wrap="square" anchor="t">
            <a:spAutoFit/>
          </a:bodyPr>
          <a:lstStyle/>
          <a:p>
            <a:pPr algn="l"/>
            <a:r>
              <a:rPr sz="1300" b="0">
                <a:solidFill>
                  <a:srgbClr val="1A1A1A"/>
                </a:solidFill>
                <a:latin typeface="Noto Sans JP"/>
              </a:rPr>
              <a:t>SaaS継続収益・業績連動リターン獲得</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5310378"/>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 y="5383530"/>
            <a:ext cx="1450421" cy="806958"/>
          </a:xfrm>
          <a:prstGeom prst="rect">
            <a:avLst/>
          </a:prstGeom>
          <a:noFill/>
        </p:spPr>
        <p:txBody>
          <a:bodyPr wrap="square" anchor="t">
            <a:spAutoFit/>
          </a:bodyPr>
          <a:lstStyle/>
          <a:p>
            <a:pPr algn="l"/>
            <a:r>
              <a:rPr sz="1300" b="1">
                <a:solidFill>
                  <a:srgbClr val="00529B"/>
                </a:solidFill>
                <a:latin typeface="Noto Sans JP"/>
              </a:rPr>
              <a:t>Phase 4 横展開</a:t>
            </a:r>
          </a:p>
        </p:txBody>
      </p:sp>
      <p:sp>
        <p:nvSpPr>
          <p:cNvPr id="46" name="Rectangle 45"/>
          <p:cNvSpPr/>
          <p:nvPr/>
        </p:nvSpPr>
        <p:spPr>
          <a:xfrm>
            <a:off x="2035637" y="5310378"/>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099645" y="5383530"/>
            <a:ext cx="999439" cy="806958"/>
          </a:xfrm>
          <a:prstGeom prst="rect">
            <a:avLst/>
          </a:prstGeom>
          <a:noFill/>
        </p:spPr>
        <p:txBody>
          <a:bodyPr wrap="square" anchor="t">
            <a:spAutoFit/>
          </a:bodyPr>
          <a:lstStyle/>
          <a:p>
            <a:pPr algn="l"/>
            <a:r>
              <a:rPr sz="1300" b="0">
                <a:solidFill>
                  <a:srgbClr val="1A1A1A"/>
                </a:solidFill>
                <a:latin typeface="Noto Sans JP"/>
              </a:rPr>
              <a:t>2028年〜</a:t>
            </a:r>
          </a:p>
        </p:txBody>
      </p:sp>
      <p:sp>
        <p:nvSpPr>
          <p:cNvPr id="48" name="Rectangle 47"/>
          <p:cNvSpPr/>
          <p:nvPr/>
        </p:nvSpPr>
        <p:spPr>
          <a:xfrm>
            <a:off x="3163092" y="5310378"/>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27100" y="5383530"/>
            <a:ext cx="4381804" cy="806958"/>
          </a:xfrm>
          <a:prstGeom prst="rect">
            <a:avLst/>
          </a:prstGeom>
          <a:noFill/>
        </p:spPr>
        <p:txBody>
          <a:bodyPr wrap="square" anchor="t">
            <a:spAutoFit/>
          </a:bodyPr>
          <a:lstStyle/>
          <a:p>
            <a:pPr algn="l"/>
            <a:r>
              <a:rPr sz="1300" b="0">
                <a:solidFill>
                  <a:srgbClr val="1A1A1A"/>
                </a:solidFill>
                <a:latin typeface="Noto Sans JP"/>
              </a:rPr>
              <a:t>下水道・電力・ガス管路AI診断拡張・海外展開検討</a:t>
            </a:r>
          </a:p>
        </p:txBody>
      </p:sp>
      <p:sp>
        <p:nvSpPr>
          <p:cNvPr id="50" name="Rectangle 49"/>
          <p:cNvSpPr/>
          <p:nvPr/>
        </p:nvSpPr>
        <p:spPr>
          <a:xfrm>
            <a:off x="7672913" y="5310378"/>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736921" y="5383530"/>
            <a:ext cx="3930822" cy="806958"/>
          </a:xfrm>
          <a:prstGeom prst="rect">
            <a:avLst/>
          </a:prstGeom>
          <a:noFill/>
        </p:spPr>
        <p:txBody>
          <a:bodyPr wrap="square" anchor="t">
            <a:spAutoFit/>
          </a:bodyPr>
          <a:lstStyle/>
          <a:p>
            <a:pPr algn="l"/>
            <a:r>
              <a:rPr sz="1300" b="0">
                <a:solidFill>
                  <a:srgbClr val="1A1A1A"/>
                </a:solidFill>
                <a:latin typeface="Noto Sans JP"/>
              </a:rPr>
              <a:t>IPO/EXIT時のキャピタルゲイン獲得</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sz="5200" b="1">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sz="1400" b="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1049</Words>
  <Application>Microsoft Office PowerPoint</Application>
  <PresentationFormat>ユーザー設定</PresentationFormat>
  <Paragraphs>143</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Noto Sans JP</vt:lpstr>
      <vt:lpstr>Arial</vt:lpstr>
      <vt:lpstr>Calibri</vt:lpstr>
      <vt:lpstr>Noto Sans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MASATOSHI MATSUI</cp:lastModifiedBy>
  <cp:revision>3</cp:revision>
  <dcterms:created xsi:type="dcterms:W3CDTF">2013-01-27T09:14:16Z</dcterms:created>
  <dcterms:modified xsi:type="dcterms:W3CDTF">2026-04-16T14:40:50Z</dcterms:modified>
  <cp:category/>
</cp:coreProperties>
</file>