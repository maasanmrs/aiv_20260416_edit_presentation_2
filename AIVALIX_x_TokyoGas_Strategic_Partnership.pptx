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77724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4800">
                <a:solidFill>
                  <a:srgbClr val="FFFFFF"/>
                </a:solidFill>
                <a:latin typeface="Noto Sans JP"/>
              </a:rPr>
              <a:t>AIVALIX × 東京ガス
戦略的協業のご提案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800">
                <a:solidFill>
                  <a:srgbClr val="999999"/>
                </a:solidFill>
                <a:latin typeface="Noto Sans JP"/>
              </a:rPr>
              <a:t>インフラAI × GISの融合で、水道DX外販の新たな収益軸を共に創る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999999"/>
                </a:solidFill>
                <a:latin typeface="Noto Sans"/>
              </a:rPr>
              <a:t>2026年4月　AIVALIX株式会社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4114800" cy="3657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VALIXロゴ白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411480" cy="411480"/>
          </a:xfrm>
          <a:prstGeom prst="rect">
            <a:avLst/>
          </a:prstGeom>
        </p:spPr>
      </p:pic>
      <p:pic>
        <p:nvPicPr>
          <p:cNvPr id="9" name="Picture 8" descr="tge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74320"/>
            <a:ext cx="1645920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01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エグゼクティブサマリー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" y="1787652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【市場機会】全国1,400水道事業者のDX化が国の政策目標（令和9年までに100%）——確定した大型市場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22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683764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【実証済み】PASCOとの協業でINFRAI（AI管路診断）を岡崎市・姫路市等に導入し、成果を実証済み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839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579876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【協業構造】東京ガスGIS（TUMSY）× INFRAI = 都市型水道向け統合パッケージとして全国展開可能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450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475988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【東ガス優位】ガス管路管理の知見・GIS顧客基盤・都市インフラ信頼性——PASCOを超える拡販力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606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5372100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74336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【出資の意義】早期資本参加でソリューション共同開発権・独占的先行展開・事業上昇余地を確保</a:t>
            </a:r>
          </a:p>
        </p:txBody>
      </p:sp>
      <p:pic>
        <p:nvPicPr>
          <p:cNvPr id="20" name="Picture 1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21" name="Picture 2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02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GIS×AIの融合とINFRAI——4ステップの価値提供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014709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389888"/>
            <a:ext cx="92326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ステップ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1909" y="1389888"/>
            <a:ext cx="3156874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5917" y="1389888"/>
            <a:ext cx="306543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8784" y="1389888"/>
            <a:ext cx="3720602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792" y="1389888"/>
            <a:ext cx="362916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AIVALIXの役割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9386" y="1389888"/>
            <a:ext cx="3382365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3394" y="1389888"/>
            <a:ext cx="329092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東京ガスの貢献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01470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084832"/>
            <a:ext cx="886693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A データ整備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71909" y="2011680"/>
            <a:ext cx="315687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5917" y="2084832"/>
            <a:ext cx="3028858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管路台帳・GIS・事故履歴のデジタル化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8784" y="2011680"/>
            <a:ext cx="372060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2792" y="2084832"/>
            <a:ext cx="3592586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必要データリスト提供・AI学習フォーマット整備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49386" y="2011680"/>
            <a:ext cx="338236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3394" y="2084832"/>
            <a:ext cx="325434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TUMSYデータ・顧客既存データ連携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580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101470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044952"/>
            <a:ext cx="886693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B AI分析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71909" y="2971800"/>
            <a:ext cx="3156874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5917" y="3044952"/>
            <a:ext cx="3028858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管1本単位の故障確率×影響度スコアリング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8784" y="2971800"/>
            <a:ext cx="3720602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2792" y="3044952"/>
            <a:ext cx="3592586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INFRAI基盤モデル——少データでも高精度予測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9386" y="2971800"/>
            <a:ext cx="338236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3394" y="3044952"/>
            <a:ext cx="325434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ガス管AI知見を水道管モデルへ転用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182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101470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005072"/>
            <a:ext cx="886693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C 可視化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71909" y="3931920"/>
            <a:ext cx="315687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35917" y="4005072"/>
            <a:ext cx="3028858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リスクマップ・優先順位一覧をGISに表示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28784" y="3931920"/>
            <a:ext cx="372060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2792" y="4005072"/>
            <a:ext cx="3592586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AI予測をGISレイヤーへシームレス統合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49386" y="3931920"/>
            <a:ext cx="338236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3394" y="4005072"/>
            <a:ext cx="325434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TUMSYダッシュボード提供・UI整備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7832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92040"/>
            <a:ext cx="1014709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4965192"/>
            <a:ext cx="886693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D 意思決定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71909" y="4892040"/>
            <a:ext cx="3156874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5917" y="4965192"/>
            <a:ext cx="3028858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EBPMによる更新計画・交付金・議会説明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28784" y="4892040"/>
            <a:ext cx="3720602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2792" y="4965192"/>
            <a:ext cx="3592586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定量根拠レポート自動生成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49386" y="4892040"/>
            <a:ext cx="338236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3394" y="4965192"/>
            <a:ext cx="325434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水道局との関係構築・提案営業・契約推進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83844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51" name="Picture 5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03 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PASCO協業での実績——信頼性の証明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" y="1787652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【協業実績】PASCOのGISクラウド（PasCAL for LGWAN）× AIVALIXのINFRAIで水道管路AI診断パッケージを共同構築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22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683764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【岡崎市（愛知県）】既存GISデータを活用し管路リスク評価を実施——更新優先順位の可視化・議会説明資料に活用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839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579876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【姫路市他】複数都市への横展開実績——「少データ高精度」基盤モデルにより短期間での導入が可能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450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475988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【福井県事例】上水道管理DXの将来像として、GIS×AI×公開型GISの全体アーキテクチャを構築・提示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606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5372100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74336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【PASCO評価】「既存データのみで導入可能・段階導入しやすい」——小規模自治体から大都市まで適用可能なスケーラビリティを確認</a:t>
            </a:r>
          </a:p>
        </p:txBody>
      </p:sp>
      <p:pic>
        <p:nvPicPr>
          <p:cNvPr id="20" name="Picture 1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21" name="Picture 2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04 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東京ガスGIS事業（TUMSY）の概要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" y="1787652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【TGESとは】東京ガスエンジニアリングソリューションズ株式会社——東京ガスグループのインフラ技術・GIS事業の中核会社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22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683764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【TUMSYとは】東京ガスが開発した公共インフラ向けGISプラットフォーム——水道・ガス・電力等の管路台帳管理を外販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839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579876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【顧客基盤】東京・横浜・名古屋・大阪等の主要大都市水道局を含むインフラ事業体への導入実績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450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475988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【強み①】ガス管路の保安管理・AI活用の蓄積——インフラ老朽化対策のドメイン知見がINFRAIと高い親和性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606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5372100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74336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【強み②】公共事業体との信頼関係・調達ルート——PASCOにはない「インフラオーナー」としての信頼性で提案力が高い</a:t>
            </a:r>
          </a:p>
        </p:txBody>
      </p:sp>
      <p:pic>
        <p:nvPicPr>
          <p:cNvPr id="20" name="Picture 1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21" name="Picture 2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05 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共同パッケージ概要——TUMSY × INFRAI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08676" cy="54864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2257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Noto Sans JP"/>
              </a:rPr>
              <a:t>TUMSY（東京ガス提供）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0428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管路台帳GIS基盤（水道・ガス対応）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9864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施設情報・維持管理データ管理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00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モバイルGIS / 現場情報管理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8736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公開型GIS（住民向け情報公開）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8172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CADデータ出力・断水検索・縦断図作成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7608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既存顧客水道局との連携・移行支援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3076" y="1417320"/>
            <a:ext cx="5408676" cy="54864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4516" y="1417320"/>
            <a:ext cx="52257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  <a:latin typeface="Noto Sans JP"/>
              </a:rPr>
              <a:t>INFRAI（AIVALIX提供）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4516" y="230428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7396" y="210312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管1本単位のミクロ故障予測AI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4516" y="289864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7396" y="269748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故障確率×影響度によるリスクスコアリング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4516" y="349300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7396" y="329184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基盤モデル——少データでも即時導入可能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4516" y="408736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7396" y="388620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衛星・MMS等の宇宙・センサデータ統合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4516" y="468172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7396" y="448056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EBPMレポート自動生成（更新計画・議会説明）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4516" y="5276088"/>
            <a:ext cx="82296" cy="8229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7396" y="5074920"/>
            <a:ext cx="50429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300">
                <a:solidFill>
                  <a:srgbClr val="1A1A1A"/>
                </a:solidFill>
                <a:latin typeface="Noto Sans JP"/>
              </a:rPr>
              <a:t>AI属性管理——GISレイヤーへのシームレス統合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8756" y="1417320"/>
            <a:ext cx="18288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36" name="Picture 35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06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役割分担——東京ガスとAIVALIXの強みを活かす分業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2254910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389888"/>
            <a:ext cx="216347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領域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2110" y="1389888"/>
            <a:ext cx="4509820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6118" y="1389888"/>
            <a:ext cx="44183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東京ガス（TGES）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1931" y="1389888"/>
            <a:ext cx="4509820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5939" y="1389888"/>
            <a:ext cx="44183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AIVALIX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25491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084832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プロダクト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2110" y="2011680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6118" y="2084832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GISプラットフォーム（TUMSY）の提供・保守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1931" y="2011680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5939" y="2084832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INFRAIエンジン開発・AI精度向上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93492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07208"/>
            <a:ext cx="225491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2880360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営業・提案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2110" y="2807208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6118" y="2880360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水道局・インフラ事業体への直接営業・入札対応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1931" y="2807208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5939" y="2880360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技術提案・PoC支援・AI実装サポート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890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602736"/>
            <a:ext cx="225491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3675888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データ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3602736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6118" y="3675888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顧客GISデータ管理・既存連携の整備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1931" y="3602736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5939" y="3675888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AIモデル構築・学習データ設計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8454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398264"/>
            <a:ext cx="225491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4471416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ブランド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2110" y="4398264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76118" y="4471416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インフラオーナーとしての信頼性・公共調達実績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1931" y="4398264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5939" y="4471416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最新AI技術・スタートアップの機動力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8007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193792"/>
            <a:ext cx="225491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5266944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収益配分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12110" y="5193792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6118" y="5266944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パッケージ販売収益・SaaS利用料の主体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1931" y="5193792"/>
            <a:ext cx="450982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5939" y="5266944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AIライセンス料・導入支援フィーの受領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756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989320"/>
            <a:ext cx="225491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" y="6062472"/>
            <a:ext cx="212689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将来展開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12110" y="5989320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76118" y="6062472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ガス・電力・下水道領域への横展開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1931" y="5989320"/>
            <a:ext cx="4509820" cy="7955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85939" y="6062472"/>
            <a:ext cx="438180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水道以外のインフラAIへの応用展開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771132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55" name="Picture 54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07 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東京ガスがAIVALIXと組むメリット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" y="1787652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【差別化①　AI付加価値】GIS単体の競合（PASCO・日本電気等）との差別化——「AI診断付きGIS」で価格競争から脱却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22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683764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【差別化②　ドメイン優位】ガス管路AI知見をそのまま水道へ展開——開発コスト最小化・早期市場参入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839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579876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【収益機会　外販拡大】既存TUMSY顧客（大都市水道局）へ即座のアップセル——新規開拓なしで収益増が可能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450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475988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【横展開　全国1,400事業者】PASCOが示した地方都市展開モデルを、東京ガスの都市部顧客網でさらに加速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606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5372100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74336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【出資リターン】AIVALIXの成長に伴うエクイティ価値上昇——ソリューション展開と資本両面でのリターン獲得</a:t>
            </a:r>
          </a:p>
        </p:txBody>
      </p:sp>
      <p:pic>
        <p:nvPicPr>
          <p:cNvPr id="20" name="Picture 1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21" name="Picture 2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08  VALUE FOR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事業体（水道局）が得られるメリット——外販時の訴求ポイント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" y="1787652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【導入容易性】管路台帳・GIS・事故履歴など既存データのみで即時分析開始——新規センサー不要・段階導入可能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22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2683764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【優先順位の明確化】配管単位で「故障確率×影響度」によるリスクスコアを算出——局内合意・議会・交付金申請に活用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8396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3579876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【人材不足対応】熟練者の暗黙知をAIがロジック化——異動・退職後も水準を維持・若手育成を支援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4508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4475988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【安全・レジリエンス】重大事故リスク区間を平時から特定——緊急工事削減・災害復旧の迅速化・住民への説明責任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60620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" y="5372100"/>
            <a:ext cx="100584" cy="100584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74336"/>
            <a:ext cx="10981944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>
                <a:solidFill>
                  <a:srgbClr val="1A1A1A"/>
                </a:solidFill>
                <a:latin typeface="Noto Sans JP"/>
              </a:rPr>
              <a:t>【EBPM実践】中長期更新計画・アセットマネジメント・PPP検討に定量根拠——「なぜこの工事か」を客観説明可能</a:t>
            </a:r>
          </a:p>
        </p:txBody>
      </p:sp>
      <p:pic>
        <p:nvPicPr>
          <p:cNvPr id="20" name="Picture 1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21" name="Picture 2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sz="1200">
                <a:solidFill>
                  <a:srgbClr val="004090"/>
                </a:solidFill>
                <a:latin typeface="Noto Sans"/>
              </a:rPr>
              <a:t>09 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7455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sz="2600">
                <a:solidFill>
                  <a:srgbClr val="FFFFFF"/>
                </a:solidFill>
                <a:latin typeface="Noto Sans JP"/>
              </a:rPr>
              <a:t>出資のメリットと今後のロードマップ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578437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389888"/>
            <a:ext cx="1486997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フェーズ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5637" y="1389888"/>
            <a:ext cx="1127455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9645" y="1389888"/>
            <a:ext cx="103601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時期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3092" y="1389888"/>
            <a:ext cx="4509820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100" y="1389888"/>
            <a:ext cx="44183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マイルストーン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72913" y="1389888"/>
            <a:ext cx="4058838" cy="621792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6921" y="1389888"/>
            <a:ext cx="396739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  <a:latin typeface="Noto Sans JP"/>
              </a:rPr>
              <a:t>東京ガスへのリターン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578437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084832"/>
            <a:ext cx="1450421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Phase 1 協業合意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5637" y="2011680"/>
            <a:ext cx="112745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9645" y="2084832"/>
            <a:ext cx="99943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100">
                <a:solidFill>
                  <a:srgbClr val="1A1A1A"/>
                </a:solidFill>
                <a:latin typeface="Noto Sans JP"/>
              </a:rPr>
              <a:t>2026 Q2-Q3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3092" y="2011680"/>
            <a:ext cx="45098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7100" y="2084832"/>
            <a:ext cx="4381804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MOU締結・共同パッケージ設計・TUMSY×INFRAI連携PoC開始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2913" y="2011680"/>
            <a:ext cx="405883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6921" y="2084832"/>
            <a:ext cx="3930822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既存顧客への優先提案権・共同ブランド確立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5808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1578437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044952"/>
            <a:ext cx="1450421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Phase 2 出資・製品化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5637" y="2971800"/>
            <a:ext cx="112745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9645" y="3044952"/>
            <a:ext cx="99943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2026 Q4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3092" y="2971800"/>
            <a:ext cx="450982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7100" y="3044952"/>
            <a:ext cx="4381804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資本参加・TUMSY×INFRAI統合版リリース・第一号案件受注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2913" y="2971800"/>
            <a:ext cx="4058838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36921" y="3044952"/>
            <a:ext cx="3930822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エクイティ取得・ライセンス収益開始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1820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1578437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005072"/>
            <a:ext cx="1450421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Phase 3 外販加速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5637" y="3931920"/>
            <a:ext cx="112745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99645" y="4005072"/>
            <a:ext cx="99943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2027年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3092" y="3931920"/>
            <a:ext cx="45098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100" y="4005072"/>
            <a:ext cx="4381804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都市水道局5〜10案件展開・差別化確立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72913" y="3931920"/>
            <a:ext cx="405883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6921" y="4005072"/>
            <a:ext cx="3930822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SaaS継続収益・業績連動リターン獲得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7832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92040"/>
            <a:ext cx="1578437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4965192"/>
            <a:ext cx="1450421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sz="1200">
                <a:solidFill>
                  <a:srgbClr val="004090"/>
                </a:solidFill>
                <a:latin typeface="Noto Sans JP"/>
              </a:rPr>
              <a:t>Phase 4 横展開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35637" y="4892040"/>
            <a:ext cx="1127455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99645" y="4965192"/>
            <a:ext cx="99943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2028年〜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3092" y="4892040"/>
            <a:ext cx="450982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27100" y="4965192"/>
            <a:ext cx="4381804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下水道・電力・ガス管路AI診断拡張・海外展開検討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72913" y="4892040"/>
            <a:ext cx="4058838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36921" y="4965192"/>
            <a:ext cx="3930822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200">
                <a:solidFill>
                  <a:srgbClr val="1A1A1A"/>
                </a:solidFill>
                <a:latin typeface="Noto Sans JP"/>
              </a:rPr>
              <a:t>IPO/EXIT時のキャピタルゲイン獲得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838444"/>
            <a:ext cx="1127455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327648"/>
            <a:ext cx="256032" cy="256032"/>
          </a:xfrm>
          <a:prstGeom prst="rect">
            <a:avLst/>
          </a:prstGeom>
        </p:spPr>
      </p:pic>
      <p:pic>
        <p:nvPicPr>
          <p:cNvPr id="51" name="Picture 50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327648"/>
            <a:ext cx="1097280" cy="240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45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  <a:latin typeface="Noto San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2876" y="3291840"/>
            <a:ext cx="2743200" cy="36576"/>
          </a:xfrm>
          <a:prstGeom prst="rect">
            <a:avLst/>
          </a:prstGeom>
          <a:solidFill>
            <a:srgbClr val="004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sz="1400">
                <a:solidFill>
                  <a:srgbClr val="999999"/>
                </a:solidFill>
                <a:latin typeface="Noto Sans JP"/>
              </a:rPr>
              <a:t>AIVALIX株式会社
ご提案に関するご質問・ご相談はお気軽にお申し付けください</a:t>
            </a:r>
          </a:p>
        </p:txBody>
      </p:sp>
      <p:pic>
        <p:nvPicPr>
          <p:cNvPr id="5" name="Picture 4" descr="AIVALIXロゴ白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5669280"/>
            <a:ext cx="457200" cy="457200"/>
          </a:xfrm>
          <a:prstGeom prst="rect">
            <a:avLst/>
          </a:prstGeom>
        </p:spPr>
      </p:pic>
      <p:pic>
        <p:nvPicPr>
          <p:cNvPr id="6" name="Picture 5" descr="tge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5669280"/>
            <a:ext cx="182880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